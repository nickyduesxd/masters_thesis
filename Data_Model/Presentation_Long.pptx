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5"/>
  </p:notesMasterIdLst>
  <p:sldIdLst>
    <p:sldId id="320" r:id="rId2"/>
    <p:sldId id="652" r:id="rId3"/>
    <p:sldId id="774" r:id="rId4"/>
    <p:sldId id="775" r:id="rId5"/>
    <p:sldId id="776" r:id="rId6"/>
    <p:sldId id="777" r:id="rId7"/>
    <p:sldId id="731" r:id="rId8"/>
    <p:sldId id="736" r:id="rId9"/>
    <p:sldId id="737" r:id="rId10"/>
    <p:sldId id="738" r:id="rId11"/>
    <p:sldId id="739" r:id="rId12"/>
    <p:sldId id="735" r:id="rId13"/>
    <p:sldId id="740" r:id="rId14"/>
    <p:sldId id="723" r:id="rId15"/>
    <p:sldId id="732" r:id="rId16"/>
    <p:sldId id="729" r:id="rId17"/>
    <p:sldId id="743" r:id="rId18"/>
    <p:sldId id="741" r:id="rId19"/>
    <p:sldId id="742" r:id="rId20"/>
    <p:sldId id="744" r:id="rId21"/>
    <p:sldId id="745" r:id="rId22"/>
    <p:sldId id="746" r:id="rId23"/>
    <p:sldId id="747" r:id="rId24"/>
    <p:sldId id="748" r:id="rId25"/>
    <p:sldId id="749" r:id="rId26"/>
    <p:sldId id="750" r:id="rId27"/>
    <p:sldId id="751" r:id="rId28"/>
    <p:sldId id="752" r:id="rId29"/>
    <p:sldId id="753" r:id="rId30"/>
    <p:sldId id="754" r:id="rId31"/>
    <p:sldId id="755" r:id="rId32"/>
    <p:sldId id="756" r:id="rId33"/>
    <p:sldId id="733" r:id="rId34"/>
    <p:sldId id="764" r:id="rId35"/>
    <p:sldId id="765" r:id="rId36"/>
    <p:sldId id="757" r:id="rId37"/>
    <p:sldId id="758" r:id="rId38"/>
    <p:sldId id="759" r:id="rId39"/>
    <p:sldId id="760" r:id="rId40"/>
    <p:sldId id="761" r:id="rId41"/>
    <p:sldId id="762" r:id="rId42"/>
    <p:sldId id="763" r:id="rId43"/>
    <p:sldId id="766" r:id="rId44"/>
    <p:sldId id="767" r:id="rId45"/>
    <p:sldId id="768" r:id="rId46"/>
    <p:sldId id="769" r:id="rId47"/>
    <p:sldId id="734" r:id="rId48"/>
    <p:sldId id="770" r:id="rId49"/>
    <p:sldId id="771" r:id="rId50"/>
    <p:sldId id="772" r:id="rId51"/>
    <p:sldId id="773" r:id="rId52"/>
    <p:sldId id="273" r:id="rId53"/>
    <p:sldId id="274" r:id="rId5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D95555"/>
    <a:srgbClr val="D18F8F"/>
    <a:srgbClr val="4E97E0"/>
    <a:srgbClr val="002D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0EEDE6-E850-420D-8A5E-3FB5322761FF}" v="1" dt="2025-09-18T17:41:03.698"/>
  </p1510:revLst>
</p1510:revInfo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702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E94090-7C35-594A-8B17-FDFDAD40938A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4ED0D2-16ED-5547-8DC8-59573C5E7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0803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Tip: </a:t>
            </a:r>
            <a:r>
              <a:rPr lang="en-US"/>
              <a:t>If you want to update this template with your division or center logo, navigate to View &gt; Slide Master and edit the template from there.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4ED0D2-16ED-5547-8DC8-59573C5E7DB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4596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4ED0D2-16ED-5547-8DC8-59573C5E7DB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1541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Tip: </a:t>
            </a:r>
            <a:r>
              <a:rPr lang="en-US"/>
              <a:t>There’s no need to include WWW or HTTPS in front of your URL.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4ED0D2-16ED-5547-8DC8-59573C5E7DB0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0219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A017400-3825-46C6-4D34-8D7F9DDE337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2D72">
                  <a:shade val="30000"/>
                  <a:satMod val="115000"/>
                </a:srgbClr>
              </a:gs>
              <a:gs pos="50000">
                <a:srgbClr val="002D72">
                  <a:shade val="67500"/>
                  <a:satMod val="115000"/>
                </a:srgbClr>
              </a:gs>
              <a:gs pos="100000">
                <a:srgbClr val="002D72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755132-02B7-F237-8FA1-F867CF88FB2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76649" y="3692901"/>
            <a:ext cx="5519351" cy="784095"/>
          </a:xfrm>
        </p:spPr>
        <p:txBody>
          <a:bodyPr anchor="ctr">
            <a:normAutofit/>
          </a:bodyPr>
          <a:lstStyle>
            <a:lvl1pPr marL="0" indent="0" algn="l">
              <a:lnSpc>
                <a:spcPts val="2480"/>
              </a:lnSpc>
              <a:spcBef>
                <a:spcPts val="1000"/>
              </a:spcBef>
              <a:spcAft>
                <a:spcPts val="0"/>
              </a:spcAft>
              <a:buNone/>
              <a:defRPr sz="2400" b="1">
                <a:solidFill>
                  <a:srgbClr val="4E97E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Add Subtitle</a:t>
            </a:r>
          </a:p>
        </p:txBody>
      </p:sp>
      <p:pic>
        <p:nvPicPr>
          <p:cNvPr id="12" name="Picture 11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5E5E73B6-2798-2A91-EEE6-2BB4284BE96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97" y="5095306"/>
            <a:ext cx="4293230" cy="178427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E77B635-698D-CEB4-EA5A-566854E400B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6262" y="4476751"/>
            <a:ext cx="5519738" cy="451510"/>
          </a:xfrm>
        </p:spPr>
        <p:txBody>
          <a:bodyPr anchor="ctr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Department Name and/or Date</a:t>
            </a:r>
          </a:p>
        </p:txBody>
      </p:sp>
      <p:pic>
        <p:nvPicPr>
          <p:cNvPr id="6" name="Picture 5" descr="A logo of a book and a globe&#10;&#10;AI-generated content may be incorrect.">
            <a:extLst>
              <a:ext uri="{FF2B5EF4-FFF2-40B4-BE49-F238E27FC236}">
                <a16:creationId xmlns:a16="http://schemas.microsoft.com/office/drawing/2014/main" id="{E021BB48-4E61-35BD-BAA2-EFCC8513D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20000"/>
          </a:blip>
          <a:srcRect l="2482" t="8062" r="24988" b="7189"/>
          <a:stretch/>
        </p:blipFill>
        <p:spPr>
          <a:xfrm>
            <a:off x="6668565" y="0"/>
            <a:ext cx="5519738" cy="687957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1072A52-005D-6E24-DED0-CBD32E5A71F9}"/>
              </a:ext>
            </a:extLst>
          </p:cNvPr>
          <p:cNvSpPr/>
          <p:nvPr userDrawn="1"/>
        </p:nvSpPr>
        <p:spPr>
          <a:xfrm>
            <a:off x="0" y="2123768"/>
            <a:ext cx="12192000" cy="1418829"/>
          </a:xfrm>
          <a:prstGeom prst="rect">
            <a:avLst/>
          </a:prstGeom>
          <a:solidFill>
            <a:srgbClr val="4E97E0">
              <a:alpha val="7451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BC76EE-BBDD-9DAC-BD3C-14DC174D2E8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76649" y="2212258"/>
            <a:ext cx="9231027" cy="1273341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l">
              <a:defRPr sz="40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/>
              <a:t>Click to Edit Master title of the Presentation</a:t>
            </a:r>
          </a:p>
        </p:txBody>
      </p:sp>
    </p:spTree>
    <p:extLst>
      <p:ext uri="{BB962C8B-B14F-4D97-AF65-F5344CB8AC3E}">
        <p14:creationId xmlns:p14="http://schemas.microsoft.com/office/powerpoint/2010/main" val="1149155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CC74154-920A-7908-96E4-FCAB9EB0583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06223" y="2104373"/>
            <a:ext cx="6909127" cy="177869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algn="l"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here to add title for section break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DACA531E-D6C1-E9A7-B39A-A410B89BA0D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706223" y="4108537"/>
            <a:ext cx="6909128" cy="967275"/>
          </a:xfrm>
        </p:spPr>
        <p:txBody>
          <a:bodyPr lIns="0" tIns="0" rIns="0" bIns="0">
            <a:normAutofit/>
          </a:bodyPr>
          <a:lstStyle>
            <a:lvl1pPr marL="0" indent="0" algn="l">
              <a:buNone/>
              <a:defRPr sz="2400" b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B25B380-0B57-4162-9BED-4DF840156EA3}"/>
              </a:ext>
            </a:extLst>
          </p:cNvPr>
          <p:cNvCxnSpPr/>
          <p:nvPr userDrawn="1"/>
        </p:nvCxnSpPr>
        <p:spPr>
          <a:xfrm>
            <a:off x="529817" y="1937657"/>
            <a:ext cx="11085533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0CBFCBDA-8C1A-ECAC-E989-0D8F8E7E4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6332E-97D2-CC49-9E46-E6E0DDE407E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58ECB7B-306C-6137-62C5-DFCDB0C904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010526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384359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223F7C4-9605-1C92-C986-C090692E25F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2D72">
                  <a:shade val="30000"/>
                  <a:satMod val="115000"/>
                </a:srgbClr>
              </a:gs>
              <a:gs pos="50000">
                <a:srgbClr val="002D72">
                  <a:shade val="67500"/>
                  <a:satMod val="115000"/>
                </a:srgbClr>
              </a:gs>
              <a:gs pos="100000">
                <a:srgbClr val="002D72">
                  <a:shade val="100000"/>
                  <a:satMod val="115000"/>
                </a:srgbClr>
              </a:gs>
            </a:gsLst>
            <a:lin ang="108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logo of a book and a globe&#10;&#10;AI-generated content may be incorrect.">
            <a:extLst>
              <a:ext uri="{FF2B5EF4-FFF2-40B4-BE49-F238E27FC236}">
                <a16:creationId xmlns:a16="http://schemas.microsoft.com/office/drawing/2014/main" id="{DF75DAA6-D42F-663C-B995-9DED44C2256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rcRect l="2482" t="-886" r="24988" b="7188"/>
          <a:stretch/>
        </p:blipFill>
        <p:spPr>
          <a:xfrm>
            <a:off x="9684181" y="3429001"/>
            <a:ext cx="2504121" cy="3450576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FCC74154-920A-7908-96E4-FCAB9EB0583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75873" y="723901"/>
            <a:ext cx="9240253" cy="30346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here to add title </a:t>
            </a:r>
            <a:br>
              <a:rPr lang="en-US"/>
            </a:br>
            <a:r>
              <a:rPr lang="en-US"/>
              <a:t>for section break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DACA531E-D6C1-E9A7-B39A-A410B89BA0D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75873" y="4061125"/>
            <a:ext cx="9240253" cy="2072975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ts val="2280"/>
              </a:lnSpc>
              <a:buNone/>
              <a:defRPr sz="2400" b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107827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D30C6B7-4A46-4C41-FF74-E03BE5E3671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2D72">
                  <a:shade val="30000"/>
                  <a:satMod val="115000"/>
                </a:srgbClr>
              </a:gs>
              <a:gs pos="50000">
                <a:srgbClr val="002D72">
                  <a:shade val="67500"/>
                  <a:satMod val="115000"/>
                </a:srgbClr>
              </a:gs>
              <a:gs pos="100000">
                <a:srgbClr val="002D72">
                  <a:shade val="100000"/>
                  <a:satMod val="115000"/>
                </a:srgbClr>
              </a:gs>
            </a:gsLst>
            <a:lin ang="108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logo of a book and a globe&#10;&#10;AI-generated content may be incorrect.">
            <a:extLst>
              <a:ext uri="{FF2B5EF4-FFF2-40B4-BE49-F238E27FC236}">
                <a16:creationId xmlns:a16="http://schemas.microsoft.com/office/drawing/2014/main" id="{70E61FC2-F53C-68E4-FD72-B7D5DC45C11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rcRect l="2482" t="-886" r="24988" b="7188"/>
          <a:stretch/>
        </p:blipFill>
        <p:spPr>
          <a:xfrm>
            <a:off x="9684181" y="3429001"/>
            <a:ext cx="2504121" cy="3450576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FCC74154-920A-7908-96E4-FCAB9EB0583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75873" y="1979845"/>
            <a:ext cx="9240253" cy="1778695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ctr">
              <a:defRPr sz="3600" b="0">
                <a:solidFill>
                  <a:schemeClr val="bg1"/>
                </a:solidFill>
              </a:defRPr>
            </a:lvl1pPr>
          </a:lstStyle>
          <a:p>
            <a:r>
              <a:rPr lang="en-US"/>
              <a:t>Our simple aim is to make scholars, strong, bright, useful, and true. 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DACA531E-D6C1-E9A7-B39A-A410B89BA0D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75873" y="4264325"/>
            <a:ext cx="9240253" cy="967275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2280"/>
              </a:lnSpc>
              <a:buNone/>
              <a:defRPr sz="2400" b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— Daniel </a:t>
            </a:r>
            <a:r>
              <a:rPr lang="en-US" err="1"/>
              <a:t>Coit</a:t>
            </a:r>
            <a:r>
              <a:rPr lang="en-US"/>
              <a:t> Gilman</a:t>
            </a:r>
          </a:p>
          <a:p>
            <a:r>
              <a:rPr lang="en-US"/>
              <a:t>Inaugural President, Johns Hopkins University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6154EB-7911-64A6-95DC-22B178C18A30}"/>
              </a:ext>
            </a:extLst>
          </p:cNvPr>
          <p:cNvSpPr txBox="1"/>
          <p:nvPr userDrawn="1"/>
        </p:nvSpPr>
        <p:spPr>
          <a:xfrm>
            <a:off x="5313093" y="990422"/>
            <a:ext cx="156581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>
                <a:solidFill>
                  <a:schemeClr val="accent1"/>
                </a:solidFill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2651745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w/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276E625-3DBE-99DF-9FAC-87EDA3386FDE}"/>
              </a:ext>
            </a:extLst>
          </p:cNvPr>
          <p:cNvSpPr/>
          <p:nvPr userDrawn="1"/>
        </p:nvSpPr>
        <p:spPr>
          <a:xfrm>
            <a:off x="0" y="5274365"/>
            <a:ext cx="12192000" cy="1583634"/>
          </a:xfrm>
          <a:prstGeom prst="rect">
            <a:avLst/>
          </a:prstGeom>
          <a:gradFill flip="none" rotWithShape="1">
            <a:gsLst>
              <a:gs pos="0">
                <a:srgbClr val="002D72">
                  <a:shade val="30000"/>
                  <a:satMod val="115000"/>
                </a:srgbClr>
              </a:gs>
              <a:gs pos="50000">
                <a:srgbClr val="002D72">
                  <a:shade val="67500"/>
                  <a:satMod val="115000"/>
                </a:srgbClr>
              </a:gs>
              <a:gs pos="100000">
                <a:srgbClr val="002D72">
                  <a:shade val="100000"/>
                  <a:satMod val="115000"/>
                </a:srgbClr>
              </a:gs>
            </a:gsLst>
            <a:lin ang="108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5E57361-756C-1EF8-A20B-34F47C4CA4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0065" y="5590552"/>
            <a:ext cx="9247777" cy="528638"/>
          </a:xfrm>
        </p:spPr>
        <p:txBody>
          <a:bodyPr anchor="ctr">
            <a:normAutofit/>
          </a:bodyPr>
          <a:lstStyle>
            <a:lvl1pPr marL="0" indent="0">
              <a:lnSpc>
                <a:spcPts val="1260"/>
              </a:lnSpc>
              <a:buNone/>
              <a:defRPr sz="1800" i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Image caption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6BC0C77-4541-0E28-C5EF-BEF1E3824D6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9571"/>
            <a:ext cx="12192000" cy="526479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6704122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6BC0C77-4541-0E28-C5EF-BEF1E3824D6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9571"/>
            <a:ext cx="5844209" cy="526479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3742F7E9-E0FF-5CA6-D9B2-6EB4AE0FF61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989983" y="1"/>
            <a:ext cx="6202018" cy="276970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Picture Placeholder 5">
            <a:extLst>
              <a:ext uri="{FF2B5EF4-FFF2-40B4-BE49-F238E27FC236}">
                <a16:creationId xmlns:a16="http://schemas.microsoft.com/office/drawing/2014/main" id="{0C815D15-4E2C-9C49-1D73-284AB840058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989983" y="2914543"/>
            <a:ext cx="3028122" cy="235982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7287FCA5-2296-2BA7-7E61-5E7893C39AD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163879" y="2907917"/>
            <a:ext cx="3028122" cy="235982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93C14AC-49E0-17C6-8B6C-EB36EDA59AED}"/>
              </a:ext>
            </a:extLst>
          </p:cNvPr>
          <p:cNvSpPr/>
          <p:nvPr userDrawn="1"/>
        </p:nvSpPr>
        <p:spPr>
          <a:xfrm>
            <a:off x="0" y="5274365"/>
            <a:ext cx="12192000" cy="1583634"/>
          </a:xfrm>
          <a:prstGeom prst="rect">
            <a:avLst/>
          </a:prstGeom>
          <a:gradFill flip="none" rotWithShape="1">
            <a:gsLst>
              <a:gs pos="0">
                <a:srgbClr val="002D72">
                  <a:shade val="30000"/>
                  <a:satMod val="115000"/>
                </a:srgbClr>
              </a:gs>
              <a:gs pos="50000">
                <a:srgbClr val="002D72">
                  <a:shade val="67500"/>
                  <a:satMod val="115000"/>
                </a:srgbClr>
              </a:gs>
              <a:gs pos="100000">
                <a:srgbClr val="002D72">
                  <a:shade val="100000"/>
                  <a:satMod val="115000"/>
                </a:srgbClr>
              </a:gs>
            </a:gsLst>
            <a:lin ang="108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5E57361-756C-1EF8-A20B-34F47C4CA4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66700" y="5605462"/>
            <a:ext cx="9247777" cy="528638"/>
          </a:xfrm>
        </p:spPr>
        <p:txBody>
          <a:bodyPr anchor="ctr">
            <a:normAutofit/>
          </a:bodyPr>
          <a:lstStyle>
            <a:lvl1pPr marL="0" indent="0">
              <a:lnSpc>
                <a:spcPts val="1260"/>
              </a:lnSpc>
              <a:buNone/>
              <a:defRPr sz="1800" i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Image caption</a:t>
            </a:r>
          </a:p>
        </p:txBody>
      </p:sp>
    </p:spTree>
    <p:extLst>
      <p:ext uri="{BB962C8B-B14F-4D97-AF65-F5344CB8AC3E}">
        <p14:creationId xmlns:p14="http://schemas.microsoft.com/office/powerpoint/2010/main" val="3009445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8">
            <a:extLst>
              <a:ext uri="{FF2B5EF4-FFF2-40B4-BE49-F238E27FC236}">
                <a16:creationId xmlns:a16="http://schemas.microsoft.com/office/drawing/2014/main" id="{7C024065-7E6C-8CAE-4BFC-708DD5ABDF7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66701" y="952500"/>
            <a:ext cx="11621982" cy="5181599"/>
          </a:xfrm>
        </p:spPr>
        <p:txBody>
          <a:bodyPr/>
          <a:lstStyle>
            <a:lvl2pPr>
              <a:defRPr sz="2000"/>
            </a:lvl2pPr>
            <a:lvl3pPr marL="1143000" indent="-228600">
              <a:buFont typeface="System Font Regular"/>
              <a:buChar char="–"/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296FAC1-DAD3-8ADC-4F81-DC0F1CC64FB7}"/>
              </a:ext>
            </a:extLst>
          </p:cNvPr>
          <p:cNvCxnSpPr>
            <a:cxnSpLocks/>
          </p:cNvCxnSpPr>
          <p:nvPr userDrawn="1"/>
        </p:nvCxnSpPr>
        <p:spPr>
          <a:xfrm>
            <a:off x="303317" y="794776"/>
            <a:ext cx="11585366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2D131D2B-40EF-191C-E868-B98E49C4806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876332E-97D2-CC49-9E46-E6E0DDE407E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D74036E4-C55C-EA02-B734-36F87EDAC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774438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_60/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8">
            <a:extLst>
              <a:ext uri="{FF2B5EF4-FFF2-40B4-BE49-F238E27FC236}">
                <a16:creationId xmlns:a16="http://schemas.microsoft.com/office/drawing/2014/main" id="{209356EC-295E-5603-B486-43CADD66F6A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03317" y="2054087"/>
            <a:ext cx="6654074" cy="4080013"/>
          </a:xfrm>
        </p:spPr>
        <p:txBody>
          <a:bodyPr>
            <a:normAutofit/>
          </a:bodyPr>
          <a:lstStyle>
            <a:lvl1pPr marL="0" indent="0">
              <a:lnSpc>
                <a:spcPts val="2600"/>
              </a:lnSpc>
              <a:buFont typeface="Arial" panose="020B0604020202020204" pitchFamily="34" charset="0"/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Font typeface="System Font Regular"/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/>
              <a:t>For text heavy slides, consider this layout option that uses smaller not bulleted text</a:t>
            </a:r>
          </a:p>
          <a:p>
            <a:pPr lvl="0"/>
            <a:endParaRPr lang="en-US"/>
          </a:p>
          <a:p>
            <a:pPr lvl="0"/>
            <a:r>
              <a:rPr lang="en-US"/>
              <a:t>Bullets can be added if needed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A6BE6B5-4DC4-B1E9-5F84-01E6D86F86B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876332E-97D2-CC49-9E46-E6E0DDE407E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BBA4FE0-B93E-8941-C17B-03FD59A778DC}"/>
              </a:ext>
            </a:extLst>
          </p:cNvPr>
          <p:cNvCxnSpPr>
            <a:cxnSpLocks/>
          </p:cNvCxnSpPr>
          <p:nvPr userDrawn="1"/>
        </p:nvCxnSpPr>
        <p:spPr>
          <a:xfrm>
            <a:off x="303317" y="794776"/>
            <a:ext cx="11585366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itle 16">
            <a:extLst>
              <a:ext uri="{FF2B5EF4-FFF2-40B4-BE49-F238E27FC236}">
                <a16:creationId xmlns:a16="http://schemas.microsoft.com/office/drawing/2014/main" id="{C4AAA89D-E180-20A4-47AC-311E89454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317" y="244386"/>
            <a:ext cx="11585366" cy="52454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ECA534C-9414-13D4-979B-668555B852D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076661" y="992842"/>
            <a:ext cx="4812022" cy="514125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FF3F1551-9A0A-137E-0C7C-8D33E2549EC9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03316" y="992842"/>
            <a:ext cx="6654075" cy="964912"/>
          </a:xfrm>
        </p:spPr>
        <p:txBody>
          <a:bodyPr anchor="ctr">
            <a:normAutofit/>
          </a:bodyPr>
          <a:lstStyle>
            <a:lvl1pPr marL="0" indent="0">
              <a:buNone/>
              <a:defRPr sz="2200">
                <a:solidFill>
                  <a:schemeClr val="accent2"/>
                </a:solidFill>
              </a:defRPr>
            </a:lvl1pPr>
            <a:lvl2pPr>
              <a:defRPr sz="2000"/>
            </a:lvl2pPr>
            <a:lvl3pPr marL="1143000" indent="-228600">
              <a:buFont typeface="System Font Regular"/>
              <a:buChar char="–"/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add slide introduction sentence</a:t>
            </a:r>
          </a:p>
        </p:txBody>
      </p:sp>
    </p:spTree>
    <p:extLst>
      <p:ext uri="{BB962C8B-B14F-4D97-AF65-F5344CB8AC3E}">
        <p14:creationId xmlns:p14="http://schemas.microsoft.com/office/powerpoint/2010/main" val="27060289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_50/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D39FD01-6F3D-63A2-0253-0AF855236B9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88765" y="0"/>
            <a:ext cx="6003235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8D463F-0025-C992-6AEC-0AA43D7F2CA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876332E-97D2-CC49-9E46-E6E0DDE407E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F4C77AE1-1500-C1E6-7E7B-44BDADCE05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3317" y="244386"/>
            <a:ext cx="5695739" cy="550385"/>
          </a:xfrm>
        </p:spPr>
        <p:txBody>
          <a:bodyPr anchor="ctr"/>
          <a:lstStyle/>
          <a:p>
            <a:r>
              <a:rPr lang="en-US"/>
              <a:t>Click to edit title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8680618-A88A-876A-8969-104E127B336D}"/>
              </a:ext>
            </a:extLst>
          </p:cNvPr>
          <p:cNvCxnSpPr>
            <a:cxnSpLocks/>
          </p:cNvCxnSpPr>
          <p:nvPr userDrawn="1"/>
        </p:nvCxnSpPr>
        <p:spPr>
          <a:xfrm>
            <a:off x="303317" y="794776"/>
            <a:ext cx="11585366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8">
            <a:extLst>
              <a:ext uri="{FF2B5EF4-FFF2-40B4-BE49-F238E27FC236}">
                <a16:creationId xmlns:a16="http://schemas.microsoft.com/office/drawing/2014/main" id="{A86DE1F0-3790-E00F-94D7-F6BF8C02085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3317" y="952500"/>
            <a:ext cx="5695741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1049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_50/50_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8">
            <a:extLst>
              <a:ext uri="{FF2B5EF4-FFF2-40B4-BE49-F238E27FC236}">
                <a16:creationId xmlns:a16="http://schemas.microsoft.com/office/drawing/2014/main" id="{C0CBFE90-8411-F7CE-A7C3-3BB1F835064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66701" y="952500"/>
            <a:ext cx="5732358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D39FD01-6F3D-63A2-0253-0AF855236B9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88765" y="0"/>
            <a:ext cx="6003235" cy="3428996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C0458907-6624-6FF1-C3C1-7020AD3DD39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88764" y="3565069"/>
            <a:ext cx="6003235" cy="3428996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404A05D-00F5-1EA0-7624-6F0DBB16BA5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876332E-97D2-CC49-9E46-E6E0DDE407E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82250F8-8D52-D1D5-1B20-A83964DAEF8F}"/>
              </a:ext>
            </a:extLst>
          </p:cNvPr>
          <p:cNvCxnSpPr>
            <a:cxnSpLocks/>
          </p:cNvCxnSpPr>
          <p:nvPr userDrawn="1"/>
        </p:nvCxnSpPr>
        <p:spPr>
          <a:xfrm>
            <a:off x="303317" y="794776"/>
            <a:ext cx="11585366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tle 16">
            <a:extLst>
              <a:ext uri="{FF2B5EF4-FFF2-40B4-BE49-F238E27FC236}">
                <a16:creationId xmlns:a16="http://schemas.microsoft.com/office/drawing/2014/main" id="{B8B77F34-E1EC-4981-129E-CF8A34B8EB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3317" y="244389"/>
            <a:ext cx="5695742" cy="550388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2933861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bar w/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8">
            <a:extLst>
              <a:ext uri="{FF2B5EF4-FFF2-40B4-BE49-F238E27FC236}">
                <a16:creationId xmlns:a16="http://schemas.microsoft.com/office/drawing/2014/main" id="{C0CBFE90-8411-F7CE-A7C3-3BB1F835064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6700" y="952500"/>
            <a:ext cx="3231874" cy="51816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C0458907-6624-6FF1-C3C1-7020AD3DD39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795231" y="952500"/>
            <a:ext cx="8093438" cy="51816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404A05D-00F5-1EA0-7624-6F0DBB16BA5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876332E-97D2-CC49-9E46-E6E0DDE407E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82250F8-8D52-D1D5-1B20-A83964DAEF8F}"/>
              </a:ext>
            </a:extLst>
          </p:cNvPr>
          <p:cNvCxnSpPr>
            <a:cxnSpLocks/>
          </p:cNvCxnSpPr>
          <p:nvPr userDrawn="1"/>
        </p:nvCxnSpPr>
        <p:spPr>
          <a:xfrm>
            <a:off x="303317" y="794776"/>
            <a:ext cx="11585366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tle 16">
            <a:extLst>
              <a:ext uri="{FF2B5EF4-FFF2-40B4-BE49-F238E27FC236}">
                <a16:creationId xmlns:a16="http://schemas.microsoft.com/office/drawing/2014/main" id="{B8B77F34-E1EC-4981-129E-CF8A34B8EB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3317" y="244389"/>
            <a:ext cx="11585351" cy="550388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AC29002-067D-6FC3-B50D-DFCDA74C0BFB}"/>
              </a:ext>
            </a:extLst>
          </p:cNvPr>
          <p:cNvCxnSpPr>
            <a:cxnSpLocks/>
          </p:cNvCxnSpPr>
          <p:nvPr userDrawn="1"/>
        </p:nvCxnSpPr>
        <p:spPr>
          <a:xfrm>
            <a:off x="3646902" y="952500"/>
            <a:ext cx="0" cy="5181600"/>
          </a:xfrm>
          <a:prstGeom prst="line">
            <a:avLst/>
          </a:prstGeom>
          <a:ln w="1270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58395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8">
            <a:extLst>
              <a:ext uri="{FF2B5EF4-FFF2-40B4-BE49-F238E27FC236}">
                <a16:creationId xmlns:a16="http://schemas.microsoft.com/office/drawing/2014/main" id="{C0CBFE90-8411-F7CE-A7C3-3BB1F835064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228" y="2054093"/>
            <a:ext cx="5715011" cy="40570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8">
            <a:extLst>
              <a:ext uri="{FF2B5EF4-FFF2-40B4-BE49-F238E27FC236}">
                <a16:creationId xmlns:a16="http://schemas.microsoft.com/office/drawing/2014/main" id="{8C1AE1B3-157E-FD62-09F5-6FD7CC2D8ED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73672" y="2054091"/>
            <a:ext cx="5715011" cy="40570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36082A-4B83-1DF1-A516-4DDADFA783B7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876332E-97D2-CC49-9E46-E6E0DDE407E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8BCAB42-8CF6-48FD-E164-840F6AB36B6E}"/>
              </a:ext>
            </a:extLst>
          </p:cNvPr>
          <p:cNvCxnSpPr>
            <a:cxnSpLocks/>
          </p:cNvCxnSpPr>
          <p:nvPr userDrawn="1"/>
        </p:nvCxnSpPr>
        <p:spPr>
          <a:xfrm>
            <a:off x="303317" y="794776"/>
            <a:ext cx="11585366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tle 16">
            <a:extLst>
              <a:ext uri="{FF2B5EF4-FFF2-40B4-BE49-F238E27FC236}">
                <a16:creationId xmlns:a16="http://schemas.microsoft.com/office/drawing/2014/main" id="{910C9DFF-91FA-4E55-24AE-E1B41C946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317" y="244386"/>
            <a:ext cx="11585366" cy="52454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8">
            <a:extLst>
              <a:ext uri="{FF2B5EF4-FFF2-40B4-BE49-F238E27FC236}">
                <a16:creationId xmlns:a16="http://schemas.microsoft.com/office/drawing/2014/main" id="{5E2AD5A3-7D0A-0907-D2E4-AD51F790518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03316" y="992842"/>
            <a:ext cx="11585365" cy="964912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accent2"/>
                </a:solidFill>
              </a:defRPr>
            </a:lvl1pPr>
            <a:lvl2pPr>
              <a:defRPr sz="2000"/>
            </a:lvl2pPr>
            <a:lvl3pPr marL="1143000" indent="-228600">
              <a:buFont typeface="System Font Regular"/>
              <a:buChar char="–"/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add slide introduction sentence</a:t>
            </a:r>
          </a:p>
          <a:p>
            <a:pPr lvl="0"/>
            <a:r>
              <a:rPr lang="en-US"/>
              <a:t>Two lines max</a:t>
            </a:r>
          </a:p>
        </p:txBody>
      </p:sp>
    </p:spTree>
    <p:extLst>
      <p:ext uri="{BB962C8B-B14F-4D97-AF65-F5344CB8AC3E}">
        <p14:creationId xmlns:p14="http://schemas.microsoft.com/office/powerpoint/2010/main" val="32736898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w/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8">
            <a:extLst>
              <a:ext uri="{FF2B5EF4-FFF2-40B4-BE49-F238E27FC236}">
                <a16:creationId xmlns:a16="http://schemas.microsoft.com/office/drawing/2014/main" id="{C0CBFE90-8411-F7CE-A7C3-3BB1F835064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228" y="3723861"/>
            <a:ext cx="5715011" cy="23873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8">
            <a:extLst>
              <a:ext uri="{FF2B5EF4-FFF2-40B4-BE49-F238E27FC236}">
                <a16:creationId xmlns:a16="http://schemas.microsoft.com/office/drawing/2014/main" id="{8C1AE1B3-157E-FD62-09F5-6FD7CC2D8ED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73672" y="3723859"/>
            <a:ext cx="5715011" cy="23873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36082A-4B83-1DF1-A516-4DDADFA783B7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876332E-97D2-CC49-9E46-E6E0DDE407E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8BCAB42-8CF6-48FD-E164-840F6AB36B6E}"/>
              </a:ext>
            </a:extLst>
          </p:cNvPr>
          <p:cNvCxnSpPr>
            <a:cxnSpLocks/>
          </p:cNvCxnSpPr>
          <p:nvPr userDrawn="1"/>
        </p:nvCxnSpPr>
        <p:spPr>
          <a:xfrm>
            <a:off x="303317" y="794776"/>
            <a:ext cx="11585366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tle 16">
            <a:extLst>
              <a:ext uri="{FF2B5EF4-FFF2-40B4-BE49-F238E27FC236}">
                <a16:creationId xmlns:a16="http://schemas.microsoft.com/office/drawing/2014/main" id="{910C9DFF-91FA-4E55-24AE-E1B41C946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317" y="244386"/>
            <a:ext cx="11585366" cy="52454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63FC08A4-A279-5F64-1CFA-7A9FB44BF99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96870" y="952500"/>
            <a:ext cx="5719369" cy="259908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FF94F2C-95AA-D7C2-FF40-F1A95889105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180119" y="952500"/>
            <a:ext cx="5715011" cy="259908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619728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8">
            <a:extLst>
              <a:ext uri="{FF2B5EF4-FFF2-40B4-BE49-F238E27FC236}">
                <a16:creationId xmlns:a16="http://schemas.microsoft.com/office/drawing/2014/main" id="{C0CBFE90-8411-F7CE-A7C3-3BB1F835064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3317" y="1530122"/>
            <a:ext cx="3602718" cy="46039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D005257-7F98-7F3C-80F0-246539CA0D12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292249" y="1530121"/>
            <a:ext cx="3602718" cy="46039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F0759B36-1EA9-7840-36B2-8753D29167B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281181" y="1530121"/>
            <a:ext cx="3602718" cy="46039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BC7135-A999-7620-CD45-D05A7D428F3A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1876332E-97D2-CC49-9E46-E6E0DDE407E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ABB7FF5-69CE-4FF7-EBE6-993F23194E33}"/>
              </a:ext>
            </a:extLst>
          </p:cNvPr>
          <p:cNvCxnSpPr>
            <a:cxnSpLocks/>
          </p:cNvCxnSpPr>
          <p:nvPr userDrawn="1"/>
        </p:nvCxnSpPr>
        <p:spPr>
          <a:xfrm>
            <a:off x="303317" y="794776"/>
            <a:ext cx="11585366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tle 16">
            <a:extLst>
              <a:ext uri="{FF2B5EF4-FFF2-40B4-BE49-F238E27FC236}">
                <a16:creationId xmlns:a16="http://schemas.microsoft.com/office/drawing/2014/main" id="{EE1180EE-03E9-5AF2-0219-D9A1014ED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317" y="244386"/>
            <a:ext cx="11585366" cy="52454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9198083-AF5C-6D42-9DA2-30BBD549FE0D}"/>
              </a:ext>
            </a:extLst>
          </p:cNvPr>
          <p:cNvCxnSpPr>
            <a:cxnSpLocks/>
          </p:cNvCxnSpPr>
          <p:nvPr userDrawn="1"/>
        </p:nvCxnSpPr>
        <p:spPr>
          <a:xfrm>
            <a:off x="4097475" y="1530121"/>
            <a:ext cx="0" cy="4581064"/>
          </a:xfrm>
          <a:prstGeom prst="line">
            <a:avLst/>
          </a:prstGeom>
          <a:ln w="1270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4B9D6BA-C770-374C-B662-16D32D4142DA}"/>
              </a:ext>
            </a:extLst>
          </p:cNvPr>
          <p:cNvCxnSpPr>
            <a:cxnSpLocks/>
          </p:cNvCxnSpPr>
          <p:nvPr userDrawn="1"/>
        </p:nvCxnSpPr>
        <p:spPr>
          <a:xfrm>
            <a:off x="8085352" y="1530121"/>
            <a:ext cx="0" cy="4581064"/>
          </a:xfrm>
          <a:prstGeom prst="line">
            <a:avLst/>
          </a:prstGeom>
          <a:ln w="1270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8">
            <a:extLst>
              <a:ext uri="{FF2B5EF4-FFF2-40B4-BE49-F238E27FC236}">
                <a16:creationId xmlns:a16="http://schemas.microsoft.com/office/drawing/2014/main" id="{78753652-D1B0-AFAA-09CC-1F59F8EA5731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03316" y="992842"/>
            <a:ext cx="11585365" cy="416255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accent2"/>
                </a:solidFill>
              </a:defRPr>
            </a:lvl1pPr>
            <a:lvl2pPr>
              <a:defRPr sz="2000"/>
            </a:lvl2pPr>
            <a:lvl3pPr marL="1143000" indent="-228600">
              <a:buFont typeface="System Font Regular"/>
              <a:buChar char="–"/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add slide introduction sentence</a:t>
            </a:r>
          </a:p>
        </p:txBody>
      </p:sp>
    </p:spTree>
    <p:extLst>
      <p:ext uri="{BB962C8B-B14F-4D97-AF65-F5344CB8AC3E}">
        <p14:creationId xmlns:p14="http://schemas.microsoft.com/office/powerpoint/2010/main" val="27239022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w/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3C5BF3D7-0C7F-66B2-EE1F-3A9B05B8B63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03257" y="3976028"/>
            <a:ext cx="3593619" cy="2135161"/>
          </a:xfrm>
        </p:spPr>
        <p:txBody>
          <a:bodyPr anchor="t">
            <a:normAutofit/>
          </a:bodyPr>
          <a:lstStyle>
            <a:lvl1pPr marL="0" indent="0">
              <a:buNone/>
              <a:defRPr sz="2000" b="0"/>
            </a:lvl1pPr>
          </a:lstStyle>
          <a:p>
            <a:pPr lvl="0"/>
            <a:r>
              <a:rPr lang="en-US"/>
              <a:t>Image description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05118AA7-3D1E-ED41-C884-FC043818947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08562" y="3976028"/>
            <a:ext cx="3570653" cy="2135160"/>
          </a:xfrm>
        </p:spPr>
        <p:txBody>
          <a:bodyPr anchor="t">
            <a:normAutofit/>
          </a:bodyPr>
          <a:lstStyle>
            <a:lvl1pPr marL="0" indent="0">
              <a:buNone/>
              <a:defRPr sz="2000" b="0"/>
            </a:lvl1pPr>
          </a:lstStyle>
          <a:p>
            <a:pPr lvl="0"/>
            <a:r>
              <a:rPr lang="en-US"/>
              <a:t>Image description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4757F6C8-BF41-B8A4-3479-9941BC7DC04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17987" y="3976028"/>
            <a:ext cx="3570637" cy="2135157"/>
          </a:xfrm>
        </p:spPr>
        <p:txBody>
          <a:bodyPr anchor="t">
            <a:normAutofit/>
          </a:bodyPr>
          <a:lstStyle>
            <a:lvl1pPr marL="0" indent="0">
              <a:buNone/>
              <a:defRPr sz="2000" b="0"/>
            </a:lvl1pPr>
          </a:lstStyle>
          <a:p>
            <a:pPr lvl="0"/>
            <a:r>
              <a:rPr lang="en-US"/>
              <a:t>Image description</a:t>
            </a:r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51C61B61-2E78-5336-3272-F364959B7A4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288542" y="1516674"/>
            <a:ext cx="3593619" cy="2356067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0D960AA-0D86-885A-F579-2E30A003F0A5}"/>
              </a:ext>
            </a:extLst>
          </p:cNvPr>
          <p:cNvCxnSpPr>
            <a:cxnSpLocks/>
          </p:cNvCxnSpPr>
          <p:nvPr userDrawn="1"/>
        </p:nvCxnSpPr>
        <p:spPr>
          <a:xfrm>
            <a:off x="4097475" y="1516674"/>
            <a:ext cx="0" cy="4594511"/>
          </a:xfrm>
          <a:prstGeom prst="line">
            <a:avLst/>
          </a:prstGeom>
          <a:ln w="1270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1017644-9EE0-61FB-2B50-EFB7EB664550}"/>
              </a:ext>
            </a:extLst>
          </p:cNvPr>
          <p:cNvCxnSpPr>
            <a:cxnSpLocks/>
          </p:cNvCxnSpPr>
          <p:nvPr userDrawn="1"/>
        </p:nvCxnSpPr>
        <p:spPr>
          <a:xfrm>
            <a:off x="8085352" y="1516674"/>
            <a:ext cx="0" cy="4594511"/>
          </a:xfrm>
          <a:prstGeom prst="line">
            <a:avLst/>
          </a:prstGeom>
          <a:ln w="1270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E8C4133-66D9-03B9-783E-5072D68DF4A6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1876332E-97D2-CC49-9E46-E6E0DDE407E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D0BEF9F1-EB8A-61E3-3782-8F36AF7CF80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308562" y="1516674"/>
            <a:ext cx="3570695" cy="2378338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2C8994EE-25CE-5453-BFFC-B40C91A22EEB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8305658" y="1516674"/>
            <a:ext cx="3570695" cy="2384567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93277AA-710A-9A19-F037-664318F91A68}"/>
              </a:ext>
            </a:extLst>
          </p:cNvPr>
          <p:cNvCxnSpPr>
            <a:cxnSpLocks/>
          </p:cNvCxnSpPr>
          <p:nvPr userDrawn="1"/>
        </p:nvCxnSpPr>
        <p:spPr>
          <a:xfrm>
            <a:off x="303317" y="794776"/>
            <a:ext cx="11585366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itle 16">
            <a:extLst>
              <a:ext uri="{FF2B5EF4-FFF2-40B4-BE49-F238E27FC236}">
                <a16:creationId xmlns:a16="http://schemas.microsoft.com/office/drawing/2014/main" id="{B5790A35-F2A2-D491-BEC4-CF2DA53DB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317" y="244386"/>
            <a:ext cx="11585366" cy="52454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BC4602FB-66A0-5911-4495-C4A6AB25735F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03316" y="992842"/>
            <a:ext cx="11585365" cy="416255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accent2"/>
                </a:solidFill>
              </a:defRPr>
            </a:lvl1pPr>
            <a:lvl2pPr>
              <a:defRPr sz="2000"/>
            </a:lvl2pPr>
            <a:lvl3pPr marL="1143000" indent="-228600">
              <a:buFont typeface="System Font Regular"/>
              <a:buChar char="–"/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add slide introduction sentence</a:t>
            </a:r>
          </a:p>
        </p:txBody>
      </p:sp>
    </p:spTree>
    <p:extLst>
      <p:ext uri="{BB962C8B-B14F-4D97-AF65-F5344CB8AC3E}">
        <p14:creationId xmlns:p14="http://schemas.microsoft.com/office/powerpoint/2010/main" val="38369447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8">
            <a:extLst>
              <a:ext uri="{FF2B5EF4-FFF2-40B4-BE49-F238E27FC236}">
                <a16:creationId xmlns:a16="http://schemas.microsoft.com/office/drawing/2014/main" id="{C0CBFE90-8411-F7CE-A7C3-3BB1F835064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3317" y="1546418"/>
            <a:ext cx="2660444" cy="4564768"/>
          </a:xfrm>
        </p:spPr>
        <p:txBody>
          <a:bodyPr/>
          <a:lstStyle>
            <a:lvl1pPr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8">
            <a:extLst>
              <a:ext uri="{FF2B5EF4-FFF2-40B4-BE49-F238E27FC236}">
                <a16:creationId xmlns:a16="http://schemas.microsoft.com/office/drawing/2014/main" id="{8174707A-55F1-CD8B-3EAB-9C4C03F912E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268158" y="1546417"/>
            <a:ext cx="2660444" cy="4564764"/>
          </a:xfrm>
        </p:spPr>
        <p:txBody>
          <a:bodyPr/>
          <a:lstStyle>
            <a:lvl1pPr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8">
            <a:extLst>
              <a:ext uri="{FF2B5EF4-FFF2-40B4-BE49-F238E27FC236}">
                <a16:creationId xmlns:a16="http://schemas.microsoft.com/office/drawing/2014/main" id="{5A71FE2B-D18D-6F42-1053-0D74A8A4EDE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33000" y="1546418"/>
            <a:ext cx="2660444" cy="4564758"/>
          </a:xfrm>
        </p:spPr>
        <p:txBody>
          <a:bodyPr/>
          <a:lstStyle>
            <a:lvl1pPr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8">
            <a:extLst>
              <a:ext uri="{FF2B5EF4-FFF2-40B4-BE49-F238E27FC236}">
                <a16:creationId xmlns:a16="http://schemas.microsoft.com/office/drawing/2014/main" id="{8D3C944F-6D0E-4F39-79C7-55A4C32EC56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9228239" y="1546418"/>
            <a:ext cx="2660444" cy="4564754"/>
          </a:xfrm>
        </p:spPr>
        <p:txBody>
          <a:bodyPr/>
          <a:lstStyle>
            <a:lvl1pPr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BBF4C9-5C2B-20D6-5BF5-40872F884F0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876332E-97D2-CC49-9E46-E6E0DDE407E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CE7BB06-4721-8BCB-6303-28D5DA265C5D}"/>
              </a:ext>
            </a:extLst>
          </p:cNvPr>
          <p:cNvCxnSpPr>
            <a:cxnSpLocks/>
          </p:cNvCxnSpPr>
          <p:nvPr userDrawn="1"/>
        </p:nvCxnSpPr>
        <p:spPr>
          <a:xfrm>
            <a:off x="303317" y="794776"/>
            <a:ext cx="11585366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tle 16">
            <a:extLst>
              <a:ext uri="{FF2B5EF4-FFF2-40B4-BE49-F238E27FC236}">
                <a16:creationId xmlns:a16="http://schemas.microsoft.com/office/drawing/2014/main" id="{2F40FC04-4BD9-9158-F5AC-7900F242C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317" y="244386"/>
            <a:ext cx="11585366" cy="52454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433B511-8470-C081-14A5-E0EBCC1D010C}"/>
              </a:ext>
            </a:extLst>
          </p:cNvPr>
          <p:cNvCxnSpPr>
            <a:cxnSpLocks/>
          </p:cNvCxnSpPr>
          <p:nvPr userDrawn="1"/>
        </p:nvCxnSpPr>
        <p:spPr>
          <a:xfrm>
            <a:off x="3116283" y="1546417"/>
            <a:ext cx="0" cy="4587683"/>
          </a:xfrm>
          <a:prstGeom prst="line">
            <a:avLst/>
          </a:prstGeom>
          <a:ln w="1270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028EAB8-60E6-C8A7-764E-8D549AD13E3A}"/>
              </a:ext>
            </a:extLst>
          </p:cNvPr>
          <p:cNvCxnSpPr>
            <a:cxnSpLocks/>
          </p:cNvCxnSpPr>
          <p:nvPr userDrawn="1"/>
        </p:nvCxnSpPr>
        <p:spPr>
          <a:xfrm>
            <a:off x="6093912" y="1569332"/>
            <a:ext cx="2088" cy="4564768"/>
          </a:xfrm>
          <a:prstGeom prst="line">
            <a:avLst/>
          </a:prstGeom>
          <a:ln w="1270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990569-498F-4BBD-6C96-CDC17227ECD1}"/>
              </a:ext>
            </a:extLst>
          </p:cNvPr>
          <p:cNvCxnSpPr>
            <a:cxnSpLocks/>
          </p:cNvCxnSpPr>
          <p:nvPr userDrawn="1"/>
        </p:nvCxnSpPr>
        <p:spPr>
          <a:xfrm>
            <a:off x="9061158" y="1569332"/>
            <a:ext cx="0" cy="4564768"/>
          </a:xfrm>
          <a:prstGeom prst="line">
            <a:avLst/>
          </a:prstGeom>
          <a:ln w="1270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ontent Placeholder 8">
            <a:extLst>
              <a:ext uri="{FF2B5EF4-FFF2-40B4-BE49-F238E27FC236}">
                <a16:creationId xmlns:a16="http://schemas.microsoft.com/office/drawing/2014/main" id="{F112F4C1-E577-4E63-6D40-9DF27704F018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03316" y="992842"/>
            <a:ext cx="11585365" cy="416255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accent2"/>
                </a:solidFill>
              </a:defRPr>
            </a:lvl1pPr>
            <a:lvl2pPr>
              <a:defRPr sz="2000"/>
            </a:lvl2pPr>
            <a:lvl3pPr marL="1143000" indent="-228600">
              <a:buFont typeface="System Font Regular"/>
              <a:buChar char="–"/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add slide introduction sentence</a:t>
            </a:r>
          </a:p>
        </p:txBody>
      </p:sp>
    </p:spTree>
    <p:extLst>
      <p:ext uri="{BB962C8B-B14F-4D97-AF65-F5344CB8AC3E}">
        <p14:creationId xmlns:p14="http://schemas.microsoft.com/office/powerpoint/2010/main" val="33585271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 w/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8">
            <a:extLst>
              <a:ext uri="{FF2B5EF4-FFF2-40B4-BE49-F238E27FC236}">
                <a16:creationId xmlns:a16="http://schemas.microsoft.com/office/drawing/2014/main" id="{BABAB7EE-4A14-DD5D-BEC2-405EEA7B428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03315" y="3429000"/>
            <a:ext cx="2684391" cy="27051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D26C261F-5DFC-5751-B7F4-F438B6256FA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284887" y="3429000"/>
            <a:ext cx="2683117" cy="27051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7C05C53-5C4E-97E4-529D-5B41D4F97F1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44586" y="3429000"/>
            <a:ext cx="2684393" cy="27051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28E3C20D-EAD4-AE1B-D2F6-E5D764142A2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204288" y="3429000"/>
            <a:ext cx="2684376" cy="27051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D8B251DC-6D53-7CAC-6AD5-B2B59B623CE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94324" y="1518191"/>
            <a:ext cx="2684395" cy="1816679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DAFBA2A-2072-002A-E855-4E657FF1A7BF}"/>
              </a:ext>
            </a:extLst>
          </p:cNvPr>
          <p:cNvCxnSpPr>
            <a:cxnSpLocks/>
          </p:cNvCxnSpPr>
          <p:nvPr userDrawn="1"/>
        </p:nvCxnSpPr>
        <p:spPr>
          <a:xfrm>
            <a:off x="3140347" y="1518191"/>
            <a:ext cx="0" cy="4615909"/>
          </a:xfrm>
          <a:prstGeom prst="line">
            <a:avLst/>
          </a:prstGeom>
          <a:ln w="1270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C560291-B5AC-F0FA-165E-2C9BF9005643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1876332E-97D2-CC49-9E46-E6E0DDE407E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Picture Placeholder 4">
            <a:extLst>
              <a:ext uri="{FF2B5EF4-FFF2-40B4-BE49-F238E27FC236}">
                <a16:creationId xmlns:a16="http://schemas.microsoft.com/office/drawing/2014/main" id="{4119E0C5-7DA0-680A-8DE9-98B9202AEAE8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275895" y="1518191"/>
            <a:ext cx="2684395" cy="181668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5" name="Picture Placeholder 4">
            <a:extLst>
              <a:ext uri="{FF2B5EF4-FFF2-40B4-BE49-F238E27FC236}">
                <a16:creationId xmlns:a16="http://schemas.microsoft.com/office/drawing/2014/main" id="{0A33F29B-394A-8FEA-8285-839A68A62A4C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235595" y="1518191"/>
            <a:ext cx="2684395" cy="181668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6" name="Picture Placeholder 4">
            <a:extLst>
              <a:ext uri="{FF2B5EF4-FFF2-40B4-BE49-F238E27FC236}">
                <a16:creationId xmlns:a16="http://schemas.microsoft.com/office/drawing/2014/main" id="{BA4047AD-5D09-3E06-36BF-C173B11DC52A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9195296" y="1518191"/>
            <a:ext cx="2684395" cy="181668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470F7D6-E2DF-39C1-69BF-0D532F2E4270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518191"/>
            <a:ext cx="0" cy="4615909"/>
          </a:xfrm>
          <a:prstGeom prst="line">
            <a:avLst/>
          </a:prstGeom>
          <a:ln w="1270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E14A8E6-31D6-A4B3-AD61-3F7468794426}"/>
              </a:ext>
            </a:extLst>
          </p:cNvPr>
          <p:cNvCxnSpPr>
            <a:cxnSpLocks/>
          </p:cNvCxnSpPr>
          <p:nvPr userDrawn="1"/>
        </p:nvCxnSpPr>
        <p:spPr>
          <a:xfrm>
            <a:off x="9061158" y="1518191"/>
            <a:ext cx="0" cy="4615909"/>
          </a:xfrm>
          <a:prstGeom prst="line">
            <a:avLst/>
          </a:prstGeom>
          <a:ln w="1270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3EEEAD7-089D-ACC8-ECEC-97636D739886}"/>
              </a:ext>
            </a:extLst>
          </p:cNvPr>
          <p:cNvCxnSpPr>
            <a:cxnSpLocks/>
          </p:cNvCxnSpPr>
          <p:nvPr userDrawn="1"/>
        </p:nvCxnSpPr>
        <p:spPr>
          <a:xfrm>
            <a:off x="303317" y="794776"/>
            <a:ext cx="11585366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tle 16">
            <a:extLst>
              <a:ext uri="{FF2B5EF4-FFF2-40B4-BE49-F238E27FC236}">
                <a16:creationId xmlns:a16="http://schemas.microsoft.com/office/drawing/2014/main" id="{79E917C0-58C0-D352-82CF-536C8BD9A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317" y="244386"/>
            <a:ext cx="11585366" cy="52454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5CDBD747-7325-128A-4387-5AFCF8491CE8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303316" y="992842"/>
            <a:ext cx="11585365" cy="416255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accent2"/>
                </a:solidFill>
              </a:defRPr>
            </a:lvl1pPr>
            <a:lvl2pPr>
              <a:defRPr sz="2000"/>
            </a:lvl2pPr>
            <a:lvl3pPr marL="1143000" indent="-228600">
              <a:buFont typeface="System Font Regular"/>
              <a:buChar char="–"/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add slide introduction sentence</a:t>
            </a:r>
          </a:p>
        </p:txBody>
      </p:sp>
    </p:spTree>
    <p:extLst>
      <p:ext uri="{BB962C8B-B14F-4D97-AF65-F5344CB8AC3E}">
        <p14:creationId xmlns:p14="http://schemas.microsoft.com/office/powerpoint/2010/main" val="7557074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E4CF429-7A35-E6C9-AEC1-2500144BD0E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2D72">
                  <a:shade val="30000"/>
                  <a:satMod val="115000"/>
                </a:srgbClr>
              </a:gs>
              <a:gs pos="50000">
                <a:srgbClr val="002D72">
                  <a:shade val="67500"/>
                  <a:satMod val="115000"/>
                </a:srgbClr>
              </a:gs>
              <a:gs pos="100000">
                <a:srgbClr val="002D72">
                  <a:shade val="100000"/>
                  <a:satMod val="115000"/>
                </a:srgbClr>
              </a:gs>
            </a:gsLst>
            <a:lin ang="108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logo of a book and a globe&#10;&#10;AI-generated content may be incorrect.">
            <a:extLst>
              <a:ext uri="{FF2B5EF4-FFF2-40B4-BE49-F238E27FC236}">
                <a16:creationId xmlns:a16="http://schemas.microsoft.com/office/drawing/2014/main" id="{ED75E6AB-B781-158C-30D8-C1DF357B16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rcRect l="2482" t="-886" r="24988" b="7188"/>
          <a:stretch/>
        </p:blipFill>
        <p:spPr>
          <a:xfrm>
            <a:off x="9684181" y="3429001"/>
            <a:ext cx="2504121" cy="3450576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FCC74154-920A-7908-96E4-FCAB9EB0583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82316" y="953546"/>
            <a:ext cx="10379241" cy="177869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Closing Slide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DACA531E-D6C1-E9A7-B39A-A410B89BA0D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2316" y="3015916"/>
            <a:ext cx="10379241" cy="896721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2400" b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CTA or URL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810872C-6ED3-1495-01D5-B22FBFD037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82650" y="4090988"/>
            <a:ext cx="10379075" cy="1989137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Names and Contact</a:t>
            </a:r>
          </a:p>
        </p:txBody>
      </p:sp>
    </p:spTree>
    <p:extLst>
      <p:ext uri="{BB962C8B-B14F-4D97-AF65-F5344CB8AC3E}">
        <p14:creationId xmlns:p14="http://schemas.microsoft.com/office/powerpoint/2010/main" val="126357894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square with white lines&#10;&#10;Description automatically generated with medium confidence">
            <a:extLst>
              <a:ext uri="{FF2B5EF4-FFF2-40B4-BE49-F238E27FC236}">
                <a16:creationId xmlns:a16="http://schemas.microsoft.com/office/drawing/2014/main" id="{596D2A21-2E76-5B18-DE93-32E809FDBF2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-1"/>
            <a:ext cx="12192001" cy="6858001"/>
          </a:xfrm>
          <a:prstGeom prst="rect">
            <a:avLst/>
          </a:prstGeom>
        </p:spPr>
      </p:pic>
      <p:pic>
        <p:nvPicPr>
          <p:cNvPr id="2" name="Picture 1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DE177EC9-C768-378C-1033-4D5D55FC0AD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58058" y="1376787"/>
            <a:ext cx="9875883" cy="410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3012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 Item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">
            <a:extLst>
              <a:ext uri="{FF2B5EF4-FFF2-40B4-BE49-F238E27FC236}">
                <a16:creationId xmlns:a16="http://schemas.microsoft.com/office/drawing/2014/main" id="{FD5D22EA-DA0F-4003-95BD-68EF68F107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1893" y="142826"/>
            <a:ext cx="10780553" cy="1143389"/>
          </a:xfrm>
          <a:prstGeom prst="rect">
            <a:avLst/>
          </a:prstGeom>
        </p:spPr>
        <p:txBody>
          <a:bodyPr anchor="b"/>
          <a:lstStyle>
            <a:lvl1pPr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D29B067-FC08-4D13-A58F-B927560B51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53440" y="1288909"/>
            <a:ext cx="1037573" cy="137787"/>
          </a:xfrm>
          <a:prstGeom prst="rect">
            <a:avLst/>
          </a:prstGeom>
          <a:solidFill>
            <a:srgbClr val="69ACE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Item 1 Title">
            <a:extLst>
              <a:ext uri="{FF2B5EF4-FFF2-40B4-BE49-F238E27FC236}">
                <a16:creationId xmlns:a16="http://schemas.microsoft.com/office/drawing/2014/main" id="{9034A217-D3D6-4202-8E9F-F36C90A940A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235864" y="1888483"/>
            <a:ext cx="3860137" cy="4225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133" b="1">
                <a:solidFill>
                  <a:srgbClr val="092C7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</a:t>
            </a:r>
          </a:p>
        </p:txBody>
      </p:sp>
      <p:sp>
        <p:nvSpPr>
          <p:cNvPr id="35" name="Item 1 Text">
            <a:extLst>
              <a:ext uri="{FF2B5EF4-FFF2-40B4-BE49-F238E27FC236}">
                <a16:creationId xmlns:a16="http://schemas.microsoft.com/office/drawing/2014/main" id="{33BAD677-83D8-40A2-BACC-37416269DE0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235864" y="2323780"/>
            <a:ext cx="3860137" cy="731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</a:t>
            </a:r>
          </a:p>
        </p:txBody>
      </p:sp>
      <p:sp>
        <p:nvSpPr>
          <p:cNvPr id="36" name="Item 2 Title">
            <a:extLst>
              <a:ext uri="{FF2B5EF4-FFF2-40B4-BE49-F238E27FC236}">
                <a16:creationId xmlns:a16="http://schemas.microsoft.com/office/drawing/2014/main" id="{0ADB9006-E953-4BF3-8775-AC491016CA2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235864" y="3286683"/>
            <a:ext cx="3860137" cy="4225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133" b="1">
                <a:solidFill>
                  <a:srgbClr val="092C7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</a:t>
            </a:r>
          </a:p>
        </p:txBody>
      </p:sp>
      <p:sp>
        <p:nvSpPr>
          <p:cNvPr id="37" name="Item 2 Text">
            <a:extLst>
              <a:ext uri="{FF2B5EF4-FFF2-40B4-BE49-F238E27FC236}">
                <a16:creationId xmlns:a16="http://schemas.microsoft.com/office/drawing/2014/main" id="{D1C23B3C-B769-45CD-A360-A8F635A4253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2235864" y="3734679"/>
            <a:ext cx="3860137" cy="731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</a:t>
            </a:r>
          </a:p>
        </p:txBody>
      </p:sp>
      <p:sp>
        <p:nvSpPr>
          <p:cNvPr id="38" name="ITem 3 Title">
            <a:extLst>
              <a:ext uri="{FF2B5EF4-FFF2-40B4-BE49-F238E27FC236}">
                <a16:creationId xmlns:a16="http://schemas.microsoft.com/office/drawing/2014/main" id="{9F90BECE-4540-471E-8091-719EC4FA05F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235864" y="4684884"/>
            <a:ext cx="3860137" cy="4225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133" b="1">
                <a:solidFill>
                  <a:srgbClr val="092C7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</a:t>
            </a:r>
          </a:p>
        </p:txBody>
      </p:sp>
      <p:sp>
        <p:nvSpPr>
          <p:cNvPr id="39" name="Item 3 Text">
            <a:extLst>
              <a:ext uri="{FF2B5EF4-FFF2-40B4-BE49-F238E27FC236}">
                <a16:creationId xmlns:a16="http://schemas.microsoft.com/office/drawing/2014/main" id="{ED72E041-964B-4181-B257-1EE6C8213AA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2235864" y="5132881"/>
            <a:ext cx="3860137" cy="731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</a:t>
            </a:r>
          </a:p>
        </p:txBody>
      </p:sp>
      <p:sp>
        <p:nvSpPr>
          <p:cNvPr id="40" name="Item 4 Title">
            <a:extLst>
              <a:ext uri="{FF2B5EF4-FFF2-40B4-BE49-F238E27FC236}">
                <a16:creationId xmlns:a16="http://schemas.microsoft.com/office/drawing/2014/main" id="{6C648141-3B1A-4A5B-A08A-B937DA82B37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7632310" y="1888482"/>
            <a:ext cx="3860137" cy="4225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133" b="1">
                <a:solidFill>
                  <a:srgbClr val="092C7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</a:t>
            </a:r>
          </a:p>
        </p:txBody>
      </p:sp>
      <p:sp>
        <p:nvSpPr>
          <p:cNvPr id="41" name="Item 4 Text">
            <a:extLst>
              <a:ext uri="{FF2B5EF4-FFF2-40B4-BE49-F238E27FC236}">
                <a16:creationId xmlns:a16="http://schemas.microsoft.com/office/drawing/2014/main" id="{A46F24BA-C9D1-4501-95F5-C0354BAA510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7632310" y="2323779"/>
            <a:ext cx="3860137" cy="73139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</a:t>
            </a:r>
          </a:p>
        </p:txBody>
      </p:sp>
      <p:sp>
        <p:nvSpPr>
          <p:cNvPr id="42" name="Item 5 Title">
            <a:extLst>
              <a:ext uri="{FF2B5EF4-FFF2-40B4-BE49-F238E27FC236}">
                <a16:creationId xmlns:a16="http://schemas.microsoft.com/office/drawing/2014/main" id="{199E24F4-ADFC-407D-A87C-57876863862E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7632310" y="3286682"/>
            <a:ext cx="3860137" cy="4225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133" b="1">
                <a:solidFill>
                  <a:srgbClr val="092C7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</a:t>
            </a:r>
          </a:p>
        </p:txBody>
      </p:sp>
      <p:sp>
        <p:nvSpPr>
          <p:cNvPr id="43" name="Item 5 Text">
            <a:extLst>
              <a:ext uri="{FF2B5EF4-FFF2-40B4-BE49-F238E27FC236}">
                <a16:creationId xmlns:a16="http://schemas.microsoft.com/office/drawing/2014/main" id="{06BC9547-5CA5-4871-A52E-478C55785DAA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7632310" y="3734679"/>
            <a:ext cx="3860137" cy="731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</a:t>
            </a:r>
          </a:p>
        </p:txBody>
      </p:sp>
      <p:sp>
        <p:nvSpPr>
          <p:cNvPr id="44" name="Item 6 Title">
            <a:extLst>
              <a:ext uri="{FF2B5EF4-FFF2-40B4-BE49-F238E27FC236}">
                <a16:creationId xmlns:a16="http://schemas.microsoft.com/office/drawing/2014/main" id="{64F76CE0-35A5-4304-920D-2B9471C0FBD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7632310" y="4690686"/>
            <a:ext cx="3860137" cy="4225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133" b="1">
                <a:solidFill>
                  <a:srgbClr val="092C7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</a:t>
            </a:r>
          </a:p>
        </p:txBody>
      </p:sp>
      <p:sp>
        <p:nvSpPr>
          <p:cNvPr id="45" name="Item 6 Text">
            <a:extLst>
              <a:ext uri="{FF2B5EF4-FFF2-40B4-BE49-F238E27FC236}">
                <a16:creationId xmlns:a16="http://schemas.microsoft.com/office/drawing/2014/main" id="{DD69F438-DA31-4E08-BF66-576904C0656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632310" y="5125980"/>
            <a:ext cx="3860137" cy="731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</a:t>
            </a:r>
          </a:p>
        </p:txBody>
      </p:sp>
      <p:sp>
        <p:nvSpPr>
          <p:cNvPr id="20" name="Page Number">
            <a:extLst>
              <a:ext uri="{FF2B5EF4-FFF2-40B4-BE49-F238E27FC236}">
                <a16:creationId xmlns:a16="http://schemas.microsoft.com/office/drawing/2014/main" id="{9F557C48-BE62-4248-9796-19772B87DE87}"/>
              </a:ext>
            </a:extLst>
          </p:cNvPr>
          <p:cNvSpPr txBox="1"/>
          <p:nvPr userDrawn="1"/>
        </p:nvSpPr>
        <p:spPr>
          <a:xfrm>
            <a:off x="10521949" y="6480226"/>
            <a:ext cx="1060451" cy="234951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914354">
              <a:defRPr/>
            </a:pPr>
            <a:r>
              <a:rPr lang="en-US" sz="1333" b="1" baseline="0">
                <a:solidFill>
                  <a:schemeClr val="tx1"/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333" b="1" baseline="0">
                <a:solidFill>
                  <a:schemeClr val="tx1"/>
                </a:solidFill>
                <a:latin typeface="+mj-lt"/>
              </a:rPr>
              <a:pPr algn="r" defTabSz="914354">
                <a:defRPr/>
              </a:pPr>
              <a:t>‹#›</a:t>
            </a:fld>
            <a:endParaRPr lang="en-US" sz="1333" b="1" baseline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21" name="WSE logo">
            <a:extLst>
              <a:ext uri="{FF2B5EF4-FFF2-40B4-BE49-F238E27FC236}">
                <a16:creationId xmlns:a16="http://schemas.microsoft.com/office/drawing/2014/main" id="{6CB826C5-83CA-46C3-BD25-55E75A1EF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2" t="27464" r="12906" b="27019"/>
          <a:stretch/>
        </p:blipFill>
        <p:spPr>
          <a:xfrm>
            <a:off x="696950" y="6407120"/>
            <a:ext cx="1377375" cy="38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6863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14:flip dir="r"/>
      </p:transition>
    </mc:Choice>
    <mc:Fallback>
      <p:transition spd="slow">
        <p:fade/>
      </p:transition>
    </mc:Fallback>
  </mc:AlternateContent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511FF8-3303-EA6D-2092-61820AC40E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3317" y="966354"/>
            <a:ext cx="11585366" cy="51561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D998A8C-F91E-2561-5295-7822C1343B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18545" y="6248487"/>
            <a:ext cx="1232722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100">
                <a:solidFill>
                  <a:schemeClr val="tx1">
                    <a:tint val="82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1876332E-97D2-CC49-9E46-E6E0DDE407E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 descr="A blue shield with a book and a globe&#10;&#10;Description automatically generated">
            <a:extLst>
              <a:ext uri="{FF2B5EF4-FFF2-40B4-BE49-F238E27FC236}">
                <a16:creationId xmlns:a16="http://schemas.microsoft.com/office/drawing/2014/main" id="{F9F559AB-D836-7FEC-22E7-0E9D0BA2459F}"/>
              </a:ext>
            </a:extLst>
          </p:cNvPr>
          <p:cNvPicPr>
            <a:picLocks noChangeAspect="1"/>
          </p:cNvPicPr>
          <p:nvPr userDrawn="1"/>
        </p:nvPicPr>
        <p:blipFill>
          <a:blip r:embed="rId2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7907" y="6234732"/>
            <a:ext cx="350776" cy="375831"/>
          </a:xfrm>
          <a:prstGeom prst="rect">
            <a:avLst/>
          </a:prstGeom>
        </p:spPr>
      </p:pic>
      <p:sp>
        <p:nvSpPr>
          <p:cNvPr id="9" name="Title Placeholder 8">
            <a:extLst>
              <a:ext uri="{FF2B5EF4-FFF2-40B4-BE49-F238E27FC236}">
                <a16:creationId xmlns:a16="http://schemas.microsoft.com/office/drawing/2014/main" id="{44886E26-62DC-86B0-AFD4-D076A2541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317" y="244386"/>
            <a:ext cx="11585366" cy="5245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37123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7" r:id="rId2"/>
    <p:sldLayoutId id="2147483680" r:id="rId3"/>
    <p:sldLayoutId id="2147483669" r:id="rId4"/>
    <p:sldLayoutId id="2147483672" r:id="rId5"/>
    <p:sldLayoutId id="2147483686" r:id="rId6"/>
    <p:sldLayoutId id="2147483652" r:id="rId7"/>
    <p:sldLayoutId id="2147483682" r:id="rId8"/>
    <p:sldLayoutId id="2147483661" r:id="rId9"/>
    <p:sldLayoutId id="2147483677" r:id="rId10"/>
    <p:sldLayoutId id="2147483687" r:id="rId11"/>
    <p:sldLayoutId id="2147483689" r:id="rId12"/>
    <p:sldLayoutId id="2147483688" r:id="rId13"/>
    <p:sldLayoutId id="2147483662" r:id="rId14"/>
    <p:sldLayoutId id="2147483675" r:id="rId15"/>
    <p:sldLayoutId id="2147483663" r:id="rId16"/>
    <p:sldLayoutId id="2147483676" r:id="rId17"/>
    <p:sldLayoutId id="2147483670" r:id="rId18"/>
    <p:sldLayoutId id="2147483671" r:id="rId19"/>
    <p:sldLayoutId id="2147483690" r:id="rId2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i="0" kern="1200">
          <a:solidFill>
            <a:schemeClr val="tx2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400" b="0" i="0" kern="1200">
          <a:solidFill>
            <a:schemeClr val="tx2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i="0" kern="1200">
          <a:solidFill>
            <a:schemeClr val="tx2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b="0" kern="1200">
          <a:solidFill>
            <a:schemeClr val="tx2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60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3864" userDrawn="1">
          <p15:clr>
            <a:srgbClr val="F26B43"/>
          </p15:clr>
        </p15:guide>
        <p15:guide id="4" orient="horz" pos="1224" userDrawn="1">
          <p15:clr>
            <a:srgbClr val="F26B43"/>
          </p15:clr>
        </p15:guide>
        <p15:guide id="5" pos="7488" userDrawn="1">
          <p15:clr>
            <a:srgbClr val="F26B43"/>
          </p15:clr>
        </p15:guide>
        <p15:guide id="6" pos="16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18" Type="http://schemas.openxmlformats.org/officeDocument/2006/relationships/image" Target="../media/image2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17" Type="http://schemas.openxmlformats.org/officeDocument/2006/relationships/image" Target="../media/image24.png"/><Relationship Id="rId2" Type="http://schemas.openxmlformats.org/officeDocument/2006/relationships/image" Target="../media/image9.png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29.png"/><Relationship Id="rId18" Type="http://schemas.openxmlformats.org/officeDocument/2006/relationships/image" Target="../media/image10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8.png"/><Relationship Id="rId17" Type="http://schemas.openxmlformats.org/officeDocument/2006/relationships/image" Target="../media/image33.png"/><Relationship Id="rId2" Type="http://schemas.openxmlformats.org/officeDocument/2006/relationships/image" Target="../media/image9.png"/><Relationship Id="rId16" Type="http://schemas.openxmlformats.org/officeDocument/2006/relationships/image" Target="../media/image32.png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31.png"/><Relationship Id="rId10" Type="http://schemas.openxmlformats.org/officeDocument/2006/relationships/image" Target="../media/image18.png"/><Relationship Id="rId19" Type="http://schemas.openxmlformats.org/officeDocument/2006/relationships/image" Target="../media/image34.png"/><Relationship Id="rId4" Type="http://schemas.openxmlformats.org/officeDocument/2006/relationships/image" Target="../media/image12.png"/><Relationship Id="rId9" Type="http://schemas.openxmlformats.org/officeDocument/2006/relationships/image" Target="../media/image27.png"/><Relationship Id="rId14" Type="http://schemas.openxmlformats.org/officeDocument/2006/relationships/image" Target="../media/image3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6.png"/><Relationship Id="rId18" Type="http://schemas.openxmlformats.org/officeDocument/2006/relationships/image" Target="../media/image10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35.png"/><Relationship Id="rId17" Type="http://schemas.openxmlformats.org/officeDocument/2006/relationships/image" Target="../media/image33.png"/><Relationship Id="rId2" Type="http://schemas.openxmlformats.org/officeDocument/2006/relationships/image" Target="../media/image9.png"/><Relationship Id="rId16" Type="http://schemas.openxmlformats.org/officeDocument/2006/relationships/image" Target="../media/image39.png"/><Relationship Id="rId20" Type="http://schemas.openxmlformats.org/officeDocument/2006/relationships/image" Target="../media/image41.png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38.png"/><Relationship Id="rId10" Type="http://schemas.openxmlformats.org/officeDocument/2006/relationships/image" Target="../media/image18.png"/><Relationship Id="rId19" Type="http://schemas.openxmlformats.org/officeDocument/2006/relationships/image" Target="../media/image40.png"/><Relationship Id="rId4" Type="http://schemas.openxmlformats.org/officeDocument/2006/relationships/image" Target="../media/image12.png"/><Relationship Id="rId9" Type="http://schemas.openxmlformats.org/officeDocument/2006/relationships/image" Target="../media/image27.png"/><Relationship Id="rId14" Type="http://schemas.openxmlformats.org/officeDocument/2006/relationships/image" Target="../media/image3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svg"/><Relationship Id="rId13" Type="http://schemas.openxmlformats.org/officeDocument/2006/relationships/image" Target="../media/image49.png"/><Relationship Id="rId18" Type="http://schemas.openxmlformats.org/officeDocument/2006/relationships/image" Target="../media/image54.png"/><Relationship Id="rId3" Type="http://schemas.openxmlformats.org/officeDocument/2006/relationships/image" Target="../media/image10.png"/><Relationship Id="rId21" Type="http://schemas.openxmlformats.org/officeDocument/2006/relationships/image" Target="../media/image57.png"/><Relationship Id="rId7" Type="http://schemas.openxmlformats.org/officeDocument/2006/relationships/image" Target="../media/image44.png"/><Relationship Id="rId12" Type="http://schemas.openxmlformats.org/officeDocument/2006/relationships/image" Target="../media/image48.png"/><Relationship Id="rId17" Type="http://schemas.openxmlformats.org/officeDocument/2006/relationships/image" Target="../media/image53.png"/><Relationship Id="rId2" Type="http://schemas.openxmlformats.org/officeDocument/2006/relationships/image" Target="../media/image33.png"/><Relationship Id="rId16" Type="http://schemas.openxmlformats.org/officeDocument/2006/relationships/image" Target="../media/image52.png"/><Relationship Id="rId20" Type="http://schemas.openxmlformats.org/officeDocument/2006/relationships/image" Target="../media/image56.png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43.svg"/><Relationship Id="rId11" Type="http://schemas.openxmlformats.org/officeDocument/2006/relationships/image" Target="../media/image47.svg"/><Relationship Id="rId5" Type="http://schemas.openxmlformats.org/officeDocument/2006/relationships/image" Target="../media/image42.png"/><Relationship Id="rId15" Type="http://schemas.openxmlformats.org/officeDocument/2006/relationships/image" Target="../media/image51.png"/><Relationship Id="rId10" Type="http://schemas.openxmlformats.org/officeDocument/2006/relationships/image" Target="../media/image46.png"/><Relationship Id="rId19" Type="http://schemas.openxmlformats.org/officeDocument/2006/relationships/image" Target="../media/image55.png"/><Relationship Id="rId4" Type="http://schemas.openxmlformats.org/officeDocument/2006/relationships/image" Target="../media/image41.png"/><Relationship Id="rId9" Type="http://schemas.openxmlformats.org/officeDocument/2006/relationships/image" Target="../media/image11.png"/><Relationship Id="rId14" Type="http://schemas.openxmlformats.org/officeDocument/2006/relationships/image" Target="../media/image50.png"/><Relationship Id="rId22" Type="http://schemas.openxmlformats.org/officeDocument/2006/relationships/image" Target="../media/image5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110271A1-8B15-CEC5-FBA2-99AB0F5A5A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649" y="3692901"/>
            <a:ext cx="10956590" cy="784095"/>
          </a:xfrm>
        </p:spPr>
        <p:txBody>
          <a:bodyPr>
            <a:normAutofit fontScale="85000" lnSpcReduction="10000"/>
          </a:bodyPr>
          <a:lstStyle/>
          <a:p>
            <a:r>
              <a:rPr lang="en-US"/>
              <a:t>Key Words: Free Space Optical Communication, Interplanetary Networks, Lagrange Point Controllers, Autonomous Network Coordination, Earth-Mars Communication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C726C2-6AEA-68BC-585C-6C762369CF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6262" y="4476996"/>
            <a:ext cx="5519738" cy="451510"/>
          </a:xfrm>
        </p:spPr>
        <p:txBody>
          <a:bodyPr/>
          <a:lstStyle/>
          <a:p>
            <a:r>
              <a:rPr lang="en-US" b="1"/>
              <a:t>Nicholas Zayfman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74719F4-45CE-CCE4-1585-B198B1D945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653" y="2212258"/>
            <a:ext cx="12054348" cy="1273341"/>
          </a:xfrm>
        </p:spPr>
        <p:txBody>
          <a:bodyPr/>
          <a:lstStyle/>
          <a:p>
            <a:pPr algn="ctr"/>
            <a:r>
              <a:rPr lang="en-US"/>
              <a:t>Autonomous Free Space Optical Architecture for Interplanetary Communication Networks</a:t>
            </a:r>
          </a:p>
        </p:txBody>
      </p:sp>
    </p:spTree>
    <p:extLst>
      <p:ext uri="{BB962C8B-B14F-4D97-AF65-F5344CB8AC3E}">
        <p14:creationId xmlns:p14="http://schemas.microsoft.com/office/powerpoint/2010/main" val="14509907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58191-E605-4C55-8528-1AD1DDD42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 of the Presentation</a:t>
            </a:r>
          </a:p>
        </p:txBody>
      </p:sp>
      <p:pic>
        <p:nvPicPr>
          <p:cNvPr id="43" name="Graphic 13">
            <a:extLst>
              <a:ext uri="{FF2B5EF4-FFF2-40B4-BE49-F238E27FC236}">
                <a16:creationId xmlns:a16="http://schemas.microsoft.com/office/drawing/2014/main" id="{F2D15B2A-EA47-4D09-A4A3-DD3C16F48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6643" y="1813395"/>
            <a:ext cx="721135" cy="721135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70EBA65-4E7B-44A6-9F39-4A5B2537938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865182" y="1962663"/>
            <a:ext cx="8461633" cy="422597"/>
          </a:xfrm>
        </p:spPr>
        <p:txBody>
          <a:bodyPr/>
          <a:lstStyle/>
          <a:p>
            <a:r>
              <a:rPr lang="en-US" sz="2400"/>
              <a:t>Complete Architecture Overview</a:t>
            </a:r>
            <a:endParaRPr lang="en-US" sz="2400">
              <a:solidFill>
                <a:srgbClr val="092C74"/>
              </a:solidFill>
            </a:endParaRPr>
          </a:p>
        </p:txBody>
      </p:sp>
      <p:pic>
        <p:nvPicPr>
          <p:cNvPr id="44" name="Graphic 13">
            <a:extLst>
              <a:ext uri="{FF2B5EF4-FFF2-40B4-BE49-F238E27FC236}">
                <a16:creationId xmlns:a16="http://schemas.microsoft.com/office/drawing/2014/main" id="{32C2F0B7-DCE5-4AF1-9037-1DFEA22937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6643" y="2686677"/>
            <a:ext cx="721135" cy="721135"/>
          </a:xfrm>
          <a:prstGeom prst="rect">
            <a:avLst/>
          </a:prstGeom>
        </p:spPr>
      </p:pic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70330AA-9FDF-4ACD-8ECE-301196E2931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865180" y="3619585"/>
            <a:ext cx="8461633" cy="422597"/>
          </a:xfrm>
        </p:spPr>
        <p:txBody>
          <a:bodyPr/>
          <a:lstStyle/>
          <a:p>
            <a:r>
              <a:rPr lang="en-US" sz="2400">
                <a:solidFill>
                  <a:srgbClr val="092C74"/>
                </a:solidFill>
              </a:rPr>
              <a:t>Model Overview and Simulation Framework</a:t>
            </a:r>
          </a:p>
        </p:txBody>
      </p:sp>
      <p:pic>
        <p:nvPicPr>
          <p:cNvPr id="45" name="Graphic 13">
            <a:extLst>
              <a:ext uri="{FF2B5EF4-FFF2-40B4-BE49-F238E27FC236}">
                <a16:creationId xmlns:a16="http://schemas.microsoft.com/office/drawing/2014/main" id="{53263044-4464-4F98-B06E-F6EAC8086B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6643" y="3465218"/>
            <a:ext cx="721135" cy="721135"/>
          </a:xfrm>
          <a:prstGeom prst="rect">
            <a:avLst/>
          </a:prstGeom>
        </p:spPr>
      </p:pic>
      <p:sp>
        <p:nvSpPr>
          <p:cNvPr id="37" name="Text Placeholder 12">
            <a:extLst>
              <a:ext uri="{FF2B5EF4-FFF2-40B4-BE49-F238E27FC236}">
                <a16:creationId xmlns:a16="http://schemas.microsoft.com/office/drawing/2014/main" id="{6845BE94-E523-F565-4CF2-E648B9204979}"/>
              </a:ext>
            </a:extLst>
          </p:cNvPr>
          <p:cNvSpPr txBox="1">
            <a:spLocks/>
          </p:cNvSpPr>
          <p:nvPr/>
        </p:nvSpPr>
        <p:spPr>
          <a:xfrm>
            <a:off x="1865181" y="2791124"/>
            <a:ext cx="8461633" cy="4225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133" b="1" i="0" kern="1200">
                <a:solidFill>
                  <a:srgbClr val="092C7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i="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/>
              <a:t>Theoretical Background</a:t>
            </a:r>
          </a:p>
        </p:txBody>
      </p:sp>
      <p:pic>
        <p:nvPicPr>
          <p:cNvPr id="3" name="Graphic 13">
            <a:extLst>
              <a:ext uri="{FF2B5EF4-FFF2-40B4-BE49-F238E27FC236}">
                <a16:creationId xmlns:a16="http://schemas.microsoft.com/office/drawing/2014/main" id="{B13882C9-571B-7B0B-0F72-28670C11FC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6644" y="4301165"/>
            <a:ext cx="721135" cy="721135"/>
          </a:xfrm>
          <a:prstGeom prst="rect">
            <a:avLst/>
          </a:prstGeom>
        </p:spPr>
      </p:pic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5C592075-B5A1-6524-DFC2-CD57C6793424}"/>
              </a:ext>
            </a:extLst>
          </p:cNvPr>
          <p:cNvSpPr txBox="1">
            <a:spLocks/>
          </p:cNvSpPr>
          <p:nvPr/>
        </p:nvSpPr>
        <p:spPr>
          <a:xfrm>
            <a:off x="1865179" y="4430838"/>
            <a:ext cx="8461633" cy="4225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133" b="1" i="0" kern="1200">
                <a:solidFill>
                  <a:srgbClr val="092C7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i="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/>
              <a:t>Results and Performance Analysis</a:t>
            </a:r>
          </a:p>
        </p:txBody>
      </p:sp>
    </p:spTree>
    <p:extLst>
      <p:ext uri="{BB962C8B-B14F-4D97-AF65-F5344CB8AC3E}">
        <p14:creationId xmlns:p14="http://schemas.microsoft.com/office/powerpoint/2010/main" val="40650077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AE70B-7290-6B4F-D88C-69805A455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70" name="Straight Connector 1069">
            <a:extLst>
              <a:ext uri="{FF2B5EF4-FFF2-40B4-BE49-F238E27FC236}">
                <a16:creationId xmlns:a16="http://schemas.microsoft.com/office/drawing/2014/main" id="{88E00C69-7D1A-3AB7-1BA3-4F65BEC64B55}"/>
              </a:ext>
            </a:extLst>
          </p:cNvPr>
          <p:cNvCxnSpPr>
            <a:cxnSpLocks/>
          </p:cNvCxnSpPr>
          <p:nvPr/>
        </p:nvCxnSpPr>
        <p:spPr>
          <a:xfrm flipV="1">
            <a:off x="9254007" y="3213936"/>
            <a:ext cx="510299" cy="128365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7133C12-11DC-F315-0FA0-4FC04CCDB2B7}"/>
                  </a:ext>
                </a:extLst>
              </p:cNvPr>
              <p:cNvSpPr txBox="1"/>
              <p:nvPr/>
            </p:nvSpPr>
            <p:spPr>
              <a:xfrm>
                <a:off x="7671479" y="700564"/>
                <a:ext cx="99391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b="0"/>
              </a:p>
              <a:p>
                <a:endParaRPr lang="en-US"/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7133C12-11DC-F315-0FA0-4FC04CCDB2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1479" y="700564"/>
                <a:ext cx="993913" cy="6463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68" name="Straight Connector 1067">
            <a:extLst>
              <a:ext uri="{FF2B5EF4-FFF2-40B4-BE49-F238E27FC236}">
                <a16:creationId xmlns:a16="http://schemas.microsoft.com/office/drawing/2014/main" id="{43F925B1-D8EE-83CB-482C-7DA8239A104B}"/>
              </a:ext>
            </a:extLst>
          </p:cNvPr>
          <p:cNvCxnSpPr>
            <a:cxnSpLocks/>
          </p:cNvCxnSpPr>
          <p:nvPr/>
        </p:nvCxnSpPr>
        <p:spPr>
          <a:xfrm flipV="1">
            <a:off x="8155093" y="956988"/>
            <a:ext cx="623783" cy="195107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3" name="Straight Connector 1062">
            <a:extLst>
              <a:ext uri="{FF2B5EF4-FFF2-40B4-BE49-F238E27FC236}">
                <a16:creationId xmlns:a16="http://schemas.microsoft.com/office/drawing/2014/main" id="{FED2D7DD-DF3E-0773-CAAF-9CAC0E0718A0}"/>
              </a:ext>
            </a:extLst>
          </p:cNvPr>
          <p:cNvCxnSpPr>
            <a:cxnSpLocks/>
          </p:cNvCxnSpPr>
          <p:nvPr/>
        </p:nvCxnSpPr>
        <p:spPr>
          <a:xfrm>
            <a:off x="7217186" y="443412"/>
            <a:ext cx="951249" cy="707026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0" name="Straight Connector 1059">
            <a:extLst>
              <a:ext uri="{FF2B5EF4-FFF2-40B4-BE49-F238E27FC236}">
                <a16:creationId xmlns:a16="http://schemas.microsoft.com/office/drawing/2014/main" id="{0166591A-21FB-F546-8F75-CF995C412DA9}"/>
              </a:ext>
            </a:extLst>
          </p:cNvPr>
          <p:cNvCxnSpPr>
            <a:cxnSpLocks/>
          </p:cNvCxnSpPr>
          <p:nvPr/>
        </p:nvCxnSpPr>
        <p:spPr>
          <a:xfrm>
            <a:off x="5264296" y="2672772"/>
            <a:ext cx="904784" cy="681028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3" name="Straight Connector 1042">
            <a:extLst>
              <a:ext uri="{FF2B5EF4-FFF2-40B4-BE49-F238E27FC236}">
                <a16:creationId xmlns:a16="http://schemas.microsoft.com/office/drawing/2014/main" id="{A6E68F12-53C1-BBAD-231F-EB65C7EEB42C}"/>
              </a:ext>
            </a:extLst>
          </p:cNvPr>
          <p:cNvCxnSpPr>
            <a:cxnSpLocks/>
          </p:cNvCxnSpPr>
          <p:nvPr/>
        </p:nvCxnSpPr>
        <p:spPr>
          <a:xfrm>
            <a:off x="9291791" y="3452032"/>
            <a:ext cx="0" cy="8278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1" name="Straight Connector 1040">
            <a:extLst>
              <a:ext uri="{FF2B5EF4-FFF2-40B4-BE49-F238E27FC236}">
                <a16:creationId xmlns:a16="http://schemas.microsoft.com/office/drawing/2014/main" id="{88A4EEC0-AB4C-01DD-A905-72A7F1F317C0}"/>
              </a:ext>
            </a:extLst>
          </p:cNvPr>
          <p:cNvCxnSpPr>
            <a:cxnSpLocks/>
          </p:cNvCxnSpPr>
          <p:nvPr/>
        </p:nvCxnSpPr>
        <p:spPr>
          <a:xfrm>
            <a:off x="10619802" y="3452032"/>
            <a:ext cx="0" cy="8278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C069BFE-39FE-E6A4-BBB2-E92059AAEDDA}"/>
              </a:ext>
            </a:extLst>
          </p:cNvPr>
          <p:cNvCxnSpPr>
            <a:endCxn id="19" idx="5"/>
          </p:cNvCxnSpPr>
          <p:nvPr/>
        </p:nvCxnSpPr>
        <p:spPr>
          <a:xfrm flipV="1">
            <a:off x="6589643" y="1231595"/>
            <a:ext cx="1485862" cy="1710388"/>
          </a:xfrm>
          <a:prstGeom prst="line">
            <a:avLst/>
          </a:prstGeom>
          <a:ln>
            <a:solidFill>
              <a:srgbClr val="00B05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7AA63FF-D312-DB16-7DC6-5D801499BDAE}"/>
              </a:ext>
            </a:extLst>
          </p:cNvPr>
          <p:cNvCxnSpPr>
            <a:cxnSpLocks/>
            <a:endCxn id="20" idx="7"/>
          </p:cNvCxnSpPr>
          <p:nvPr/>
        </p:nvCxnSpPr>
        <p:spPr>
          <a:xfrm>
            <a:off x="6589643" y="3681389"/>
            <a:ext cx="1485862" cy="1711457"/>
          </a:xfrm>
          <a:prstGeom prst="line">
            <a:avLst/>
          </a:prstGeom>
          <a:ln>
            <a:solidFill>
              <a:srgbClr val="00B05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E48CC72-5255-0310-C2C2-D1E660EA5E46}"/>
              </a:ext>
            </a:extLst>
          </p:cNvPr>
          <p:cNvCxnSpPr>
            <a:cxnSpLocks/>
            <a:endCxn id="22" idx="6"/>
          </p:cNvCxnSpPr>
          <p:nvPr/>
        </p:nvCxnSpPr>
        <p:spPr>
          <a:xfrm flipV="1">
            <a:off x="4174435" y="3347941"/>
            <a:ext cx="6292149" cy="12994"/>
          </a:xfrm>
          <a:prstGeom prst="line">
            <a:avLst/>
          </a:prstGeom>
          <a:ln>
            <a:solidFill>
              <a:srgbClr val="00B05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lowchart: Connector 17">
            <a:extLst>
              <a:ext uri="{FF2B5EF4-FFF2-40B4-BE49-F238E27FC236}">
                <a16:creationId xmlns:a16="http://schemas.microsoft.com/office/drawing/2014/main" id="{2C435B86-1449-0FFE-52B4-C54DFCC2A080}"/>
              </a:ext>
            </a:extLst>
          </p:cNvPr>
          <p:cNvSpPr>
            <a:spLocks noChangeAspect="1"/>
          </p:cNvSpPr>
          <p:nvPr/>
        </p:nvSpPr>
        <p:spPr>
          <a:xfrm>
            <a:off x="3111847" y="492189"/>
            <a:ext cx="6164595" cy="5711505"/>
          </a:xfrm>
          <a:prstGeom prst="flowChartConnector">
            <a:avLst/>
          </a:prstGeom>
          <a:noFill/>
          <a:ln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A planet earth with continents and water&#10;&#10;AI-generated content may be incorrect.">
            <a:extLst>
              <a:ext uri="{FF2B5EF4-FFF2-40B4-BE49-F238E27FC236}">
                <a16:creationId xmlns:a16="http://schemas.microsoft.com/office/drawing/2014/main" id="{F54A9371-EFA1-E596-C77B-E69DE24DAA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3746" y="2763869"/>
            <a:ext cx="1280795" cy="1168144"/>
          </a:xfrm>
          <a:prstGeom prst="rect">
            <a:avLst/>
          </a:prstGeom>
        </p:spPr>
      </p:pic>
      <p:pic>
        <p:nvPicPr>
          <p:cNvPr id="16" name="Picture 15" descr="A close up of a planet&#10;&#10;AI-generated content may be incorrect.">
            <a:extLst>
              <a:ext uri="{FF2B5EF4-FFF2-40B4-BE49-F238E27FC236}">
                <a16:creationId xmlns:a16="http://schemas.microsoft.com/office/drawing/2014/main" id="{70B2BE01-6C02-B61D-94F0-7AB574C672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9992" y="3156976"/>
            <a:ext cx="572895" cy="381930"/>
          </a:xfrm>
          <a:prstGeom prst="rect">
            <a:avLst/>
          </a:prstGeom>
        </p:spPr>
      </p:pic>
      <p:sp>
        <p:nvSpPr>
          <p:cNvPr id="19" name="Flowchart: Connector 18">
            <a:extLst>
              <a:ext uri="{FF2B5EF4-FFF2-40B4-BE49-F238E27FC236}">
                <a16:creationId xmlns:a16="http://schemas.microsoft.com/office/drawing/2014/main" id="{C546D663-1BDB-4A19-2E3A-2464E050DF6A}"/>
              </a:ext>
            </a:extLst>
          </p:cNvPr>
          <p:cNvSpPr>
            <a:spLocks noChangeAspect="1"/>
          </p:cNvSpPr>
          <p:nvPr/>
        </p:nvSpPr>
        <p:spPr>
          <a:xfrm flipH="1">
            <a:off x="8037012" y="1023730"/>
            <a:ext cx="262848" cy="243529"/>
          </a:xfrm>
          <a:prstGeom prst="flowChartConnector">
            <a:avLst/>
          </a:prstGeom>
          <a:solidFill>
            <a:srgbClr val="FF0000"/>
          </a:solidFill>
          <a:ln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lowchart: Connector 19">
            <a:extLst>
              <a:ext uri="{FF2B5EF4-FFF2-40B4-BE49-F238E27FC236}">
                <a16:creationId xmlns:a16="http://schemas.microsoft.com/office/drawing/2014/main" id="{AF768A05-5AAF-7466-A7D7-732BB77B4F5A}"/>
              </a:ext>
            </a:extLst>
          </p:cNvPr>
          <p:cNvSpPr>
            <a:spLocks noChangeAspect="1"/>
          </p:cNvSpPr>
          <p:nvPr/>
        </p:nvSpPr>
        <p:spPr>
          <a:xfrm flipH="1">
            <a:off x="8037012" y="5357182"/>
            <a:ext cx="262848" cy="243529"/>
          </a:xfrm>
          <a:prstGeom prst="flowChartConnector">
            <a:avLst/>
          </a:prstGeom>
          <a:solidFill>
            <a:srgbClr val="FF0000"/>
          </a:solidFill>
          <a:ln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lowchart: Connector 20">
            <a:extLst>
              <a:ext uri="{FF2B5EF4-FFF2-40B4-BE49-F238E27FC236}">
                <a16:creationId xmlns:a16="http://schemas.microsoft.com/office/drawing/2014/main" id="{D8F5FE6A-BBB2-145E-564D-C950A2F77AEF}"/>
              </a:ext>
            </a:extLst>
          </p:cNvPr>
          <p:cNvSpPr>
            <a:spLocks noChangeAspect="1"/>
          </p:cNvSpPr>
          <p:nvPr/>
        </p:nvSpPr>
        <p:spPr>
          <a:xfrm flipH="1">
            <a:off x="8275548" y="3226176"/>
            <a:ext cx="262848" cy="243529"/>
          </a:xfrm>
          <a:prstGeom prst="flowChartConnector">
            <a:avLst/>
          </a:prstGeom>
          <a:solidFill>
            <a:srgbClr val="FF0000"/>
          </a:solidFill>
          <a:ln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lowchart: Connector 21">
            <a:extLst>
              <a:ext uri="{FF2B5EF4-FFF2-40B4-BE49-F238E27FC236}">
                <a16:creationId xmlns:a16="http://schemas.microsoft.com/office/drawing/2014/main" id="{2E2DAF63-9AC7-A04F-3E66-D078CA5A1EF0}"/>
              </a:ext>
            </a:extLst>
          </p:cNvPr>
          <p:cNvSpPr>
            <a:spLocks noChangeAspect="1"/>
          </p:cNvSpPr>
          <p:nvPr/>
        </p:nvSpPr>
        <p:spPr>
          <a:xfrm flipH="1">
            <a:off x="10466584" y="3226176"/>
            <a:ext cx="262848" cy="243529"/>
          </a:xfrm>
          <a:prstGeom prst="flowChartConnector">
            <a:avLst/>
          </a:prstGeom>
          <a:solidFill>
            <a:srgbClr val="FF0000"/>
          </a:solidFill>
          <a:ln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14EF95C-727F-715A-75F4-18D5BA63AB7F}"/>
              </a:ext>
            </a:extLst>
          </p:cNvPr>
          <p:cNvCxnSpPr>
            <a:cxnSpLocks/>
            <a:stCxn id="16" idx="0"/>
            <a:endCxn id="19" idx="3"/>
          </p:cNvCxnSpPr>
          <p:nvPr/>
        </p:nvCxnSpPr>
        <p:spPr>
          <a:xfrm flipH="1" flipV="1">
            <a:off x="8261367" y="1231595"/>
            <a:ext cx="1015073" cy="1925381"/>
          </a:xfrm>
          <a:prstGeom prst="line">
            <a:avLst/>
          </a:prstGeom>
          <a:ln>
            <a:solidFill>
              <a:srgbClr val="00B05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7E59AD1-C91D-BB43-5598-408C861AF147}"/>
              </a:ext>
            </a:extLst>
          </p:cNvPr>
          <p:cNvCxnSpPr>
            <a:cxnSpLocks/>
            <a:stCxn id="16" idx="2"/>
            <a:endCxn id="20" idx="1"/>
          </p:cNvCxnSpPr>
          <p:nvPr/>
        </p:nvCxnSpPr>
        <p:spPr>
          <a:xfrm flipH="1">
            <a:off x="8261367" y="3538906"/>
            <a:ext cx="1015073" cy="1853940"/>
          </a:xfrm>
          <a:prstGeom prst="line">
            <a:avLst/>
          </a:prstGeom>
          <a:ln>
            <a:solidFill>
              <a:srgbClr val="00B05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A59CCF5-50C7-8075-D1B0-22F7738F58EE}"/>
                  </a:ext>
                </a:extLst>
              </p:cNvPr>
              <p:cNvSpPr txBox="1"/>
              <p:nvPr/>
            </p:nvSpPr>
            <p:spPr>
              <a:xfrm>
                <a:off x="7916995" y="2858394"/>
                <a:ext cx="99391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b="0"/>
              </a:p>
              <a:p>
                <a:endParaRPr lang="en-US"/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A59CCF5-50C7-8075-D1B0-22F7738F58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6995" y="2858394"/>
                <a:ext cx="993913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4195545A-FD92-8DFB-500A-80B87318F8EA}"/>
                  </a:ext>
                </a:extLst>
              </p:cNvPr>
              <p:cNvSpPr txBox="1"/>
              <p:nvPr/>
            </p:nvSpPr>
            <p:spPr>
              <a:xfrm>
                <a:off x="7642345" y="5034016"/>
                <a:ext cx="99391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b="0"/>
              </a:p>
              <a:p>
                <a:endParaRPr lang="en-US"/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4195545A-FD92-8DFB-500A-80B87318F8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2345" y="5034016"/>
                <a:ext cx="993913" cy="6463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6558FD9-0C1B-3B4B-02CF-9C136A07C038}"/>
                  </a:ext>
                </a:extLst>
              </p:cNvPr>
              <p:cNvSpPr txBox="1"/>
              <p:nvPr/>
            </p:nvSpPr>
            <p:spPr>
              <a:xfrm>
                <a:off x="10111356" y="2868333"/>
                <a:ext cx="99391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b="0"/>
              </a:p>
              <a:p>
                <a:endParaRPr lang="en-US"/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6558FD9-0C1B-3B4B-02CF-9C136A07C0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1356" y="2868333"/>
                <a:ext cx="993913" cy="6463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0058809-D8CF-D217-A757-5BDA8810A718}"/>
                  </a:ext>
                </a:extLst>
              </p:cNvPr>
              <p:cNvSpPr txBox="1"/>
              <p:nvPr/>
            </p:nvSpPr>
            <p:spPr>
              <a:xfrm>
                <a:off x="3818459" y="2889115"/>
                <a:ext cx="99391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b="0"/>
              </a:p>
              <a:p>
                <a:endParaRPr lang="en-US"/>
              </a:p>
            </p:txBody>
          </p:sp>
        </mc:Choice>
        <mc:Fallback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0058809-D8CF-D217-A757-5BDA8810A7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8459" y="2889115"/>
                <a:ext cx="993913" cy="64633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>
            <a:extLst>
              <a:ext uri="{FF2B5EF4-FFF2-40B4-BE49-F238E27FC236}">
                <a16:creationId xmlns:a16="http://schemas.microsoft.com/office/drawing/2014/main" id="{FAE04A01-6315-33C8-0095-455ED25B11D9}"/>
              </a:ext>
            </a:extLst>
          </p:cNvPr>
          <p:cNvSpPr txBox="1"/>
          <p:nvPr/>
        </p:nvSpPr>
        <p:spPr>
          <a:xfrm>
            <a:off x="5754729" y="2448867"/>
            <a:ext cx="894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00000"/>
                </a:solidFill>
              </a:rPr>
              <a:t>Earth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4FDE1D4-988E-C678-60A2-8FE85EF97C09}"/>
              </a:ext>
            </a:extLst>
          </p:cNvPr>
          <p:cNvSpPr txBox="1"/>
          <p:nvPr/>
        </p:nvSpPr>
        <p:spPr>
          <a:xfrm>
            <a:off x="9303546" y="3476004"/>
            <a:ext cx="894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00000"/>
                </a:solidFill>
              </a:rPr>
              <a:t>Moon</a:t>
            </a:r>
          </a:p>
        </p:txBody>
      </p:sp>
      <p:sp>
        <p:nvSpPr>
          <p:cNvPr id="51" name="Arrow: Left 50">
            <a:extLst>
              <a:ext uri="{FF2B5EF4-FFF2-40B4-BE49-F238E27FC236}">
                <a16:creationId xmlns:a16="http://schemas.microsoft.com/office/drawing/2014/main" id="{ED7566A7-919C-F32C-251A-E4E4F6B42721}"/>
              </a:ext>
            </a:extLst>
          </p:cNvPr>
          <p:cNvSpPr/>
          <p:nvPr/>
        </p:nvSpPr>
        <p:spPr>
          <a:xfrm>
            <a:off x="5947321" y="426111"/>
            <a:ext cx="493643" cy="155334"/>
          </a:xfrm>
          <a:prstGeom prst="leftArrow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Arrow: Right 52">
            <a:extLst>
              <a:ext uri="{FF2B5EF4-FFF2-40B4-BE49-F238E27FC236}">
                <a16:creationId xmlns:a16="http://schemas.microsoft.com/office/drawing/2014/main" id="{FFA032C6-74DF-2A1D-630C-B74155C7D40A}"/>
              </a:ext>
            </a:extLst>
          </p:cNvPr>
          <p:cNvSpPr/>
          <p:nvPr/>
        </p:nvSpPr>
        <p:spPr>
          <a:xfrm>
            <a:off x="6003069" y="6114480"/>
            <a:ext cx="493643" cy="141787"/>
          </a:xfrm>
          <a:prstGeom prst="rightArrow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B87E4CD3-992D-3B51-1EAC-127986FCC2FD}"/>
                  </a:ext>
                </a:extLst>
              </p:cNvPr>
              <p:cNvSpPr txBox="1"/>
              <p:nvPr/>
            </p:nvSpPr>
            <p:spPr>
              <a:xfrm>
                <a:off x="6713099" y="2914499"/>
                <a:ext cx="40716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60°</m:t>
                      </m:r>
                    </m:oMath>
                  </m:oMathPara>
                </a14:m>
                <a:endParaRPr lang="en-US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B87E4CD3-992D-3B51-1EAC-127986FCC2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3099" y="2914499"/>
                <a:ext cx="407163" cy="276999"/>
              </a:xfrm>
              <a:prstGeom prst="rect">
                <a:avLst/>
              </a:prstGeom>
              <a:blipFill>
                <a:blip r:embed="rId9"/>
                <a:stretch>
                  <a:fillRect l="-11940" r="-11940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28F3FAEC-FC8D-8194-DAB5-BBBA8FA91737}"/>
                  </a:ext>
                </a:extLst>
              </p:cNvPr>
              <p:cNvSpPr txBox="1"/>
              <p:nvPr/>
            </p:nvSpPr>
            <p:spPr>
              <a:xfrm>
                <a:off x="6713099" y="3491658"/>
                <a:ext cx="40716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60°</m:t>
                      </m:r>
                    </m:oMath>
                  </m:oMathPara>
                </a14:m>
                <a:endParaRPr lang="en-US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28F3FAEC-FC8D-8194-DAB5-BBBA8FA917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3099" y="3491658"/>
                <a:ext cx="407163" cy="276999"/>
              </a:xfrm>
              <a:prstGeom prst="rect">
                <a:avLst/>
              </a:prstGeom>
              <a:blipFill>
                <a:blip r:embed="rId10"/>
                <a:stretch>
                  <a:fillRect l="-11940" r="-11940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8C08DD1D-76CF-EFF3-D58E-533AACBB8428}"/>
                  </a:ext>
                </a:extLst>
              </p:cNvPr>
              <p:cNvSpPr txBox="1"/>
              <p:nvPr/>
            </p:nvSpPr>
            <p:spPr>
              <a:xfrm>
                <a:off x="8726413" y="2978569"/>
                <a:ext cx="40716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60°</m:t>
                      </m:r>
                    </m:oMath>
                  </m:oMathPara>
                </a14:m>
                <a:endParaRPr lang="en-US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8C08DD1D-76CF-EFF3-D58E-533AACBB84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6413" y="2978569"/>
                <a:ext cx="407163" cy="276999"/>
              </a:xfrm>
              <a:prstGeom prst="rect">
                <a:avLst/>
              </a:prstGeom>
              <a:blipFill>
                <a:blip r:embed="rId11"/>
                <a:stretch>
                  <a:fillRect l="-11940" r="-11940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455091D4-D9B8-4F8B-2296-2FB73D78BBB0}"/>
                  </a:ext>
                </a:extLst>
              </p:cNvPr>
              <p:cNvSpPr txBox="1"/>
              <p:nvPr/>
            </p:nvSpPr>
            <p:spPr>
              <a:xfrm>
                <a:off x="8728327" y="3459527"/>
                <a:ext cx="40716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60°</m:t>
                      </m:r>
                    </m:oMath>
                  </m:oMathPara>
                </a14:m>
                <a:endParaRPr lang="en-US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455091D4-D9B8-4F8B-2296-2FB73D78BB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8327" y="3459527"/>
                <a:ext cx="407163" cy="276999"/>
              </a:xfrm>
              <a:prstGeom prst="rect">
                <a:avLst/>
              </a:prstGeom>
              <a:blipFill>
                <a:blip r:embed="rId12"/>
                <a:stretch>
                  <a:fillRect l="-13433" r="-10448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E07E7690-E736-9E4F-DCAF-9492B98E5771}"/>
              </a:ext>
            </a:extLst>
          </p:cNvPr>
          <p:cNvCxnSpPr/>
          <p:nvPr/>
        </p:nvCxnSpPr>
        <p:spPr>
          <a:xfrm>
            <a:off x="6204081" y="4144617"/>
            <a:ext cx="2212830" cy="0"/>
          </a:xfrm>
          <a:prstGeom prst="straightConnector1">
            <a:avLst/>
          </a:prstGeom>
          <a:ln>
            <a:solidFill>
              <a:srgbClr val="00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4" name="Straight Arrow Connector 1023">
            <a:extLst>
              <a:ext uri="{FF2B5EF4-FFF2-40B4-BE49-F238E27FC236}">
                <a16:creationId xmlns:a16="http://schemas.microsoft.com/office/drawing/2014/main" id="{7AEDD6AA-407D-4D32-4415-49DF8E02451E}"/>
              </a:ext>
            </a:extLst>
          </p:cNvPr>
          <p:cNvCxnSpPr>
            <a:cxnSpLocks/>
          </p:cNvCxnSpPr>
          <p:nvPr/>
        </p:nvCxnSpPr>
        <p:spPr>
          <a:xfrm>
            <a:off x="4162281" y="4144617"/>
            <a:ext cx="2008097" cy="0"/>
          </a:xfrm>
          <a:prstGeom prst="straightConnector1">
            <a:avLst/>
          </a:prstGeom>
          <a:ln>
            <a:solidFill>
              <a:srgbClr val="00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8" name="Straight Connector 1027">
            <a:extLst>
              <a:ext uri="{FF2B5EF4-FFF2-40B4-BE49-F238E27FC236}">
                <a16:creationId xmlns:a16="http://schemas.microsoft.com/office/drawing/2014/main" id="{8F24D047-56F2-AAA9-E3C5-0FB0E3828970}"/>
              </a:ext>
            </a:extLst>
          </p:cNvPr>
          <p:cNvCxnSpPr>
            <a:stCxn id="14" idx="2"/>
          </p:cNvCxnSpPr>
          <p:nvPr/>
        </p:nvCxnSpPr>
        <p:spPr>
          <a:xfrm>
            <a:off x="6194144" y="3932013"/>
            <a:ext cx="7844" cy="451144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0" name="Flowchart: Connector 1029">
            <a:extLst>
              <a:ext uri="{FF2B5EF4-FFF2-40B4-BE49-F238E27FC236}">
                <a16:creationId xmlns:a16="http://schemas.microsoft.com/office/drawing/2014/main" id="{20717972-4CE7-EF7C-108B-3BF50712783F}"/>
              </a:ext>
            </a:extLst>
          </p:cNvPr>
          <p:cNvSpPr>
            <a:spLocks noChangeAspect="1"/>
          </p:cNvSpPr>
          <p:nvPr/>
        </p:nvSpPr>
        <p:spPr>
          <a:xfrm flipH="1">
            <a:off x="4030857" y="3232254"/>
            <a:ext cx="262848" cy="243529"/>
          </a:xfrm>
          <a:prstGeom prst="flowChartConnector">
            <a:avLst/>
          </a:prstGeom>
          <a:solidFill>
            <a:srgbClr val="FF0000"/>
          </a:solidFill>
          <a:ln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32" name="Straight Connector 1031">
            <a:extLst>
              <a:ext uri="{FF2B5EF4-FFF2-40B4-BE49-F238E27FC236}">
                <a16:creationId xmlns:a16="http://schemas.microsoft.com/office/drawing/2014/main" id="{42DA5DF1-9B16-46C4-5E37-BDD6A0D02C70}"/>
              </a:ext>
            </a:extLst>
          </p:cNvPr>
          <p:cNvCxnSpPr>
            <a:cxnSpLocks/>
            <a:stCxn id="1030" idx="4"/>
          </p:cNvCxnSpPr>
          <p:nvPr/>
        </p:nvCxnSpPr>
        <p:spPr>
          <a:xfrm>
            <a:off x="4162281" y="3475783"/>
            <a:ext cx="0" cy="8278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7" name="Straight Connector 1036">
            <a:extLst>
              <a:ext uri="{FF2B5EF4-FFF2-40B4-BE49-F238E27FC236}">
                <a16:creationId xmlns:a16="http://schemas.microsoft.com/office/drawing/2014/main" id="{A4642E96-0E71-6941-92F0-D99348EA94B5}"/>
              </a:ext>
            </a:extLst>
          </p:cNvPr>
          <p:cNvCxnSpPr>
            <a:cxnSpLocks/>
          </p:cNvCxnSpPr>
          <p:nvPr/>
        </p:nvCxnSpPr>
        <p:spPr>
          <a:xfrm>
            <a:off x="8406972" y="3469705"/>
            <a:ext cx="0" cy="8278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38" name="TextBox 1037">
                <a:extLst>
                  <a:ext uri="{FF2B5EF4-FFF2-40B4-BE49-F238E27FC236}">
                    <a16:creationId xmlns:a16="http://schemas.microsoft.com/office/drawing/2014/main" id="{F18BA636-083C-275B-5B62-05EF8C12DB28}"/>
                  </a:ext>
                </a:extLst>
              </p:cNvPr>
              <p:cNvSpPr txBox="1"/>
              <p:nvPr/>
            </p:nvSpPr>
            <p:spPr>
              <a:xfrm>
                <a:off x="4661530" y="4159950"/>
                <a:ext cx="1223455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100" dirty="0">
                        <a:solidFill>
                          <a:srgbClr val="000000"/>
                        </a:solidFill>
                      </a:rPr>
                      <m:t>384,700</m:t>
                    </m:r>
                    <m:r>
                      <m:rPr>
                        <m:nor/>
                      </m:rPr>
                      <a:rPr lang="en-US" sz="1100" b="0" i="0" dirty="0" smtClean="0">
                        <a:solidFill>
                          <a:srgbClr val="000000"/>
                        </a:solidFill>
                      </a:rPr>
                      <m:t> </m:t>
                    </m:r>
                  </m:oMath>
                </a14:m>
                <a:r>
                  <a:rPr lang="en-US" sz="1100" b="0">
                    <a:solidFill>
                      <a:srgbClr val="000000"/>
                    </a:solidFill>
                  </a:rPr>
                  <a:t>km</a:t>
                </a:r>
              </a:p>
              <a:p>
                <a:endParaRPr lang="en-US" sz="110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1038" name="TextBox 1037">
                <a:extLst>
                  <a:ext uri="{FF2B5EF4-FFF2-40B4-BE49-F238E27FC236}">
                    <a16:creationId xmlns:a16="http://schemas.microsoft.com/office/drawing/2014/main" id="{F18BA636-083C-275B-5B62-05EF8C12DB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1530" y="4159950"/>
                <a:ext cx="1223455" cy="430887"/>
              </a:xfrm>
              <a:prstGeom prst="rect">
                <a:avLst/>
              </a:prstGeom>
              <a:blipFill>
                <a:blip r:embed="rId13"/>
                <a:stretch>
                  <a:fillRect t="-14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39" name="TextBox 1038">
                <a:extLst>
                  <a:ext uri="{FF2B5EF4-FFF2-40B4-BE49-F238E27FC236}">
                    <a16:creationId xmlns:a16="http://schemas.microsoft.com/office/drawing/2014/main" id="{6205467C-AD4B-BE6F-27CD-4A7E17FB12A2}"/>
                  </a:ext>
                </a:extLst>
              </p:cNvPr>
              <p:cNvSpPr txBox="1"/>
              <p:nvPr/>
            </p:nvSpPr>
            <p:spPr>
              <a:xfrm>
                <a:off x="6691965" y="4150011"/>
                <a:ext cx="1223455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1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326,200</m:t>
                    </m:r>
                  </m:oMath>
                </a14:m>
                <a:r>
                  <a:rPr lang="en-US" sz="1100" b="0">
                    <a:solidFill>
                      <a:srgbClr val="000000"/>
                    </a:solidFill>
                  </a:rPr>
                  <a:t> km</a:t>
                </a:r>
              </a:p>
            </p:txBody>
          </p:sp>
        </mc:Choice>
        <mc:Fallback>
          <p:sp>
            <p:nvSpPr>
              <p:cNvPr id="1039" name="TextBox 1038">
                <a:extLst>
                  <a:ext uri="{FF2B5EF4-FFF2-40B4-BE49-F238E27FC236}">
                    <a16:creationId xmlns:a16="http://schemas.microsoft.com/office/drawing/2014/main" id="{6205467C-AD4B-BE6F-27CD-4A7E17FB12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1965" y="4150011"/>
                <a:ext cx="1223455" cy="261610"/>
              </a:xfrm>
              <a:prstGeom prst="rect">
                <a:avLst/>
              </a:prstGeom>
              <a:blipFill>
                <a:blip r:embed="rId14"/>
                <a:stretch>
                  <a:fillRect t="-2326" b="-139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40" name="Straight Arrow Connector 1039">
            <a:extLst>
              <a:ext uri="{FF2B5EF4-FFF2-40B4-BE49-F238E27FC236}">
                <a16:creationId xmlns:a16="http://schemas.microsoft.com/office/drawing/2014/main" id="{957C2E4C-6A2C-AEE6-0B06-672A97E4BD7F}"/>
              </a:ext>
            </a:extLst>
          </p:cNvPr>
          <p:cNvCxnSpPr>
            <a:cxnSpLocks/>
          </p:cNvCxnSpPr>
          <p:nvPr/>
        </p:nvCxnSpPr>
        <p:spPr>
          <a:xfrm>
            <a:off x="8406972" y="4140072"/>
            <a:ext cx="884819" cy="4545"/>
          </a:xfrm>
          <a:prstGeom prst="straightConnector1">
            <a:avLst/>
          </a:prstGeom>
          <a:ln>
            <a:solidFill>
              <a:srgbClr val="00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42" name="TextBox 1041">
                <a:extLst>
                  <a:ext uri="{FF2B5EF4-FFF2-40B4-BE49-F238E27FC236}">
                    <a16:creationId xmlns:a16="http://schemas.microsoft.com/office/drawing/2014/main" id="{7C159E99-1BFE-4166-084A-512276FF4DEC}"/>
                  </a:ext>
                </a:extLst>
              </p:cNvPr>
              <p:cNvSpPr txBox="1"/>
              <p:nvPr/>
            </p:nvSpPr>
            <p:spPr>
              <a:xfrm>
                <a:off x="9488740" y="4140072"/>
                <a:ext cx="1064988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1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64,700</m:t>
                    </m:r>
                  </m:oMath>
                </a14:m>
                <a:r>
                  <a:rPr lang="en-US" sz="1100" b="0">
                    <a:solidFill>
                      <a:srgbClr val="000000"/>
                    </a:solidFill>
                  </a:rPr>
                  <a:t> km</a:t>
                </a:r>
              </a:p>
            </p:txBody>
          </p:sp>
        </mc:Choice>
        <mc:Fallback>
          <p:sp>
            <p:nvSpPr>
              <p:cNvPr id="1042" name="TextBox 1041">
                <a:extLst>
                  <a:ext uri="{FF2B5EF4-FFF2-40B4-BE49-F238E27FC236}">
                    <a16:creationId xmlns:a16="http://schemas.microsoft.com/office/drawing/2014/main" id="{7C159E99-1BFE-4166-084A-512276FF4D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8740" y="4140072"/>
                <a:ext cx="1064988" cy="261610"/>
              </a:xfrm>
              <a:prstGeom prst="rect">
                <a:avLst/>
              </a:prstGeom>
              <a:blipFill>
                <a:blip r:embed="rId15"/>
                <a:stretch>
                  <a:fillRect t="-2326" b="-139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44" name="TextBox 1043">
                <a:extLst>
                  <a:ext uri="{FF2B5EF4-FFF2-40B4-BE49-F238E27FC236}">
                    <a16:creationId xmlns:a16="http://schemas.microsoft.com/office/drawing/2014/main" id="{8CDCF324-6573-D686-584C-B9A4F70D7339}"/>
                  </a:ext>
                </a:extLst>
              </p:cNvPr>
              <p:cNvSpPr txBox="1"/>
              <p:nvPr/>
            </p:nvSpPr>
            <p:spPr>
              <a:xfrm>
                <a:off x="8416911" y="4188965"/>
                <a:ext cx="864972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1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58,200</m:t>
                    </m:r>
                  </m:oMath>
                </a14:m>
                <a:r>
                  <a:rPr lang="en-US" sz="1100" b="0">
                    <a:solidFill>
                      <a:srgbClr val="000000"/>
                    </a:solidFill>
                  </a:rPr>
                  <a:t> km</a:t>
                </a:r>
              </a:p>
            </p:txBody>
          </p:sp>
        </mc:Choice>
        <mc:Fallback>
          <p:sp>
            <p:nvSpPr>
              <p:cNvPr id="1044" name="TextBox 1043">
                <a:extLst>
                  <a:ext uri="{FF2B5EF4-FFF2-40B4-BE49-F238E27FC236}">
                    <a16:creationId xmlns:a16="http://schemas.microsoft.com/office/drawing/2014/main" id="{8CDCF324-6573-D686-584C-B9A4F70D73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6911" y="4188965"/>
                <a:ext cx="864972" cy="261610"/>
              </a:xfrm>
              <a:prstGeom prst="rect">
                <a:avLst/>
              </a:prstGeom>
              <a:blipFill>
                <a:blip r:embed="rId16"/>
                <a:stretch>
                  <a:fillRect t="-2326" b="-139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46" name="Straight Arrow Connector 1045">
            <a:extLst>
              <a:ext uri="{FF2B5EF4-FFF2-40B4-BE49-F238E27FC236}">
                <a16:creationId xmlns:a16="http://schemas.microsoft.com/office/drawing/2014/main" id="{5C7FC08C-E948-05FE-633F-49F54DCCA397}"/>
              </a:ext>
            </a:extLst>
          </p:cNvPr>
          <p:cNvCxnSpPr>
            <a:cxnSpLocks/>
          </p:cNvCxnSpPr>
          <p:nvPr/>
        </p:nvCxnSpPr>
        <p:spPr>
          <a:xfrm>
            <a:off x="9295053" y="4153040"/>
            <a:ext cx="1324749" cy="11274"/>
          </a:xfrm>
          <a:prstGeom prst="straightConnector1">
            <a:avLst/>
          </a:prstGeom>
          <a:ln>
            <a:solidFill>
              <a:srgbClr val="00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0" name="Straight Connector 1049">
            <a:extLst>
              <a:ext uri="{FF2B5EF4-FFF2-40B4-BE49-F238E27FC236}">
                <a16:creationId xmlns:a16="http://schemas.microsoft.com/office/drawing/2014/main" id="{2960DF3E-AFDC-FA05-A59B-18C3B5AC4A24}"/>
              </a:ext>
            </a:extLst>
          </p:cNvPr>
          <p:cNvCxnSpPr>
            <a:cxnSpLocks/>
          </p:cNvCxnSpPr>
          <p:nvPr/>
        </p:nvCxnSpPr>
        <p:spPr>
          <a:xfrm>
            <a:off x="7273982" y="1948933"/>
            <a:ext cx="152471" cy="150780"/>
          </a:xfrm>
          <a:prstGeom prst="line">
            <a:avLst/>
          </a:prstGeom>
          <a:ln w="53975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2" name="Straight Connector 1051">
            <a:extLst>
              <a:ext uri="{FF2B5EF4-FFF2-40B4-BE49-F238E27FC236}">
                <a16:creationId xmlns:a16="http://schemas.microsoft.com/office/drawing/2014/main" id="{AB1A170F-D3A0-BE14-78E3-0C540C142E1C}"/>
              </a:ext>
            </a:extLst>
          </p:cNvPr>
          <p:cNvCxnSpPr>
            <a:cxnSpLocks/>
          </p:cNvCxnSpPr>
          <p:nvPr/>
        </p:nvCxnSpPr>
        <p:spPr>
          <a:xfrm flipV="1">
            <a:off x="7469448" y="4698193"/>
            <a:ext cx="147014" cy="141077"/>
          </a:xfrm>
          <a:prstGeom prst="line">
            <a:avLst/>
          </a:prstGeom>
          <a:ln w="53975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4" name="Straight Connector 1053">
            <a:extLst>
              <a:ext uri="{FF2B5EF4-FFF2-40B4-BE49-F238E27FC236}">
                <a16:creationId xmlns:a16="http://schemas.microsoft.com/office/drawing/2014/main" id="{F33EB9F5-F9EE-C851-CD07-33E1A91A69DB}"/>
              </a:ext>
            </a:extLst>
          </p:cNvPr>
          <p:cNvCxnSpPr>
            <a:cxnSpLocks/>
          </p:cNvCxnSpPr>
          <p:nvPr/>
        </p:nvCxnSpPr>
        <p:spPr>
          <a:xfrm flipV="1">
            <a:off x="8565384" y="1953724"/>
            <a:ext cx="213492" cy="120988"/>
          </a:xfrm>
          <a:prstGeom prst="line">
            <a:avLst/>
          </a:prstGeom>
          <a:ln w="53975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9" name="Straight Connector 1058">
            <a:extLst>
              <a:ext uri="{FF2B5EF4-FFF2-40B4-BE49-F238E27FC236}">
                <a16:creationId xmlns:a16="http://schemas.microsoft.com/office/drawing/2014/main" id="{2892F769-63F9-DACA-F0B6-C5A484543641}"/>
              </a:ext>
            </a:extLst>
          </p:cNvPr>
          <p:cNvCxnSpPr>
            <a:cxnSpLocks/>
          </p:cNvCxnSpPr>
          <p:nvPr/>
        </p:nvCxnSpPr>
        <p:spPr>
          <a:xfrm>
            <a:off x="8481717" y="4734495"/>
            <a:ext cx="198106" cy="81048"/>
          </a:xfrm>
          <a:prstGeom prst="line">
            <a:avLst/>
          </a:prstGeom>
          <a:ln w="53975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4" name="Straight Arrow Connector 1063">
            <a:extLst>
              <a:ext uri="{FF2B5EF4-FFF2-40B4-BE49-F238E27FC236}">
                <a16:creationId xmlns:a16="http://schemas.microsoft.com/office/drawing/2014/main" id="{4030907E-C618-9987-DD08-FF11A80106B0}"/>
              </a:ext>
            </a:extLst>
          </p:cNvPr>
          <p:cNvCxnSpPr>
            <a:cxnSpLocks/>
          </p:cNvCxnSpPr>
          <p:nvPr/>
        </p:nvCxnSpPr>
        <p:spPr>
          <a:xfrm flipV="1">
            <a:off x="5264296" y="469410"/>
            <a:ext cx="1999355" cy="2216614"/>
          </a:xfrm>
          <a:prstGeom prst="straightConnector1">
            <a:avLst/>
          </a:prstGeom>
          <a:ln>
            <a:solidFill>
              <a:srgbClr val="00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67" name="TextBox 1066">
                <a:extLst>
                  <a:ext uri="{FF2B5EF4-FFF2-40B4-BE49-F238E27FC236}">
                    <a16:creationId xmlns:a16="http://schemas.microsoft.com/office/drawing/2014/main" id="{C7A58736-DF3D-C880-C618-2E8D14B90853}"/>
                  </a:ext>
                </a:extLst>
              </p:cNvPr>
              <p:cNvSpPr txBox="1"/>
              <p:nvPr/>
            </p:nvSpPr>
            <p:spPr>
              <a:xfrm rot="18632971">
                <a:off x="5549334" y="1334349"/>
                <a:ext cx="1223455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1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384,30</m:t>
                    </m:r>
                    <m:r>
                      <a:rPr lang="en-US" sz="11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100" b="0">
                    <a:solidFill>
                      <a:srgbClr val="000000"/>
                    </a:solidFill>
                  </a:rPr>
                  <a:t> km</a:t>
                </a:r>
              </a:p>
            </p:txBody>
          </p:sp>
        </mc:Choice>
        <mc:Fallback>
          <p:sp>
            <p:nvSpPr>
              <p:cNvPr id="1067" name="TextBox 1066">
                <a:extLst>
                  <a:ext uri="{FF2B5EF4-FFF2-40B4-BE49-F238E27FC236}">
                    <a16:creationId xmlns:a16="http://schemas.microsoft.com/office/drawing/2014/main" id="{C7A58736-DF3D-C880-C618-2E8D14B908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8632971">
                <a:off x="5549334" y="1334349"/>
                <a:ext cx="1223455" cy="2616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71" name="Straight Arrow Connector 1070">
            <a:extLst>
              <a:ext uri="{FF2B5EF4-FFF2-40B4-BE49-F238E27FC236}">
                <a16:creationId xmlns:a16="http://schemas.microsoft.com/office/drawing/2014/main" id="{5C70F9FB-ADB0-718A-FCDC-0EDF81DA5C65}"/>
              </a:ext>
            </a:extLst>
          </p:cNvPr>
          <p:cNvCxnSpPr>
            <a:cxnSpLocks/>
          </p:cNvCxnSpPr>
          <p:nvPr/>
        </p:nvCxnSpPr>
        <p:spPr>
          <a:xfrm flipH="1" flipV="1">
            <a:off x="8725397" y="990989"/>
            <a:ext cx="888393" cy="2226229"/>
          </a:xfrm>
          <a:prstGeom prst="straightConnector1">
            <a:avLst/>
          </a:prstGeom>
          <a:ln>
            <a:solidFill>
              <a:srgbClr val="00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79" name="TextBox 1078">
                <a:extLst>
                  <a:ext uri="{FF2B5EF4-FFF2-40B4-BE49-F238E27FC236}">
                    <a16:creationId xmlns:a16="http://schemas.microsoft.com/office/drawing/2014/main" id="{5299A062-0C12-E2C1-CD5F-0E9253DE963A}"/>
                  </a:ext>
                </a:extLst>
              </p:cNvPr>
              <p:cNvSpPr txBox="1"/>
              <p:nvPr/>
            </p:nvSpPr>
            <p:spPr>
              <a:xfrm rot="4110721">
                <a:off x="8743704" y="2036279"/>
                <a:ext cx="1223455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1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384,30</m:t>
                    </m:r>
                    <m:r>
                      <a:rPr lang="en-US" sz="11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100" b="0">
                    <a:solidFill>
                      <a:srgbClr val="000000"/>
                    </a:solidFill>
                  </a:rPr>
                  <a:t> km</a:t>
                </a:r>
              </a:p>
            </p:txBody>
          </p:sp>
        </mc:Choice>
        <mc:Fallback>
          <p:sp>
            <p:nvSpPr>
              <p:cNvPr id="1079" name="TextBox 1078">
                <a:extLst>
                  <a:ext uri="{FF2B5EF4-FFF2-40B4-BE49-F238E27FC236}">
                    <a16:creationId xmlns:a16="http://schemas.microsoft.com/office/drawing/2014/main" id="{5299A062-0C12-E2C1-CD5F-0E9253DE96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4110721">
                <a:off x="8743704" y="2036279"/>
                <a:ext cx="1223455" cy="2616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4688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C8243-3CBA-CC73-8761-CFFE126D0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83285E1F-9880-1079-DBD1-B249D7B6F2A8}"/>
              </a:ext>
            </a:extLst>
          </p:cNvPr>
          <p:cNvSpPr>
            <a:spLocks noChangeAspect="1"/>
          </p:cNvSpPr>
          <p:nvPr/>
        </p:nvSpPr>
        <p:spPr>
          <a:xfrm>
            <a:off x="8604328" y="2678606"/>
            <a:ext cx="1382407" cy="1280802"/>
          </a:xfrm>
          <a:prstGeom prst="flowChartConnector">
            <a:avLst/>
          </a:prstGeom>
          <a:noFill/>
          <a:ln w="12700">
            <a:solidFill>
              <a:srgbClr val="0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70" name="Straight Connector 1069">
            <a:extLst>
              <a:ext uri="{FF2B5EF4-FFF2-40B4-BE49-F238E27FC236}">
                <a16:creationId xmlns:a16="http://schemas.microsoft.com/office/drawing/2014/main" id="{316159CC-9903-5238-C073-2793DEAE39AB}"/>
              </a:ext>
            </a:extLst>
          </p:cNvPr>
          <p:cNvCxnSpPr>
            <a:cxnSpLocks/>
          </p:cNvCxnSpPr>
          <p:nvPr/>
        </p:nvCxnSpPr>
        <p:spPr>
          <a:xfrm flipV="1">
            <a:off x="9254007" y="3213936"/>
            <a:ext cx="510299" cy="128365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776DC19-2AF1-5AF5-0D9C-7A48B9092FDE}"/>
                  </a:ext>
                </a:extLst>
              </p:cNvPr>
              <p:cNvSpPr txBox="1"/>
              <p:nvPr/>
            </p:nvSpPr>
            <p:spPr>
              <a:xfrm>
                <a:off x="7671479" y="700564"/>
                <a:ext cx="99391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b="0"/>
              </a:p>
              <a:p>
                <a:endParaRPr lang="en-US"/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776DC19-2AF1-5AF5-0D9C-7A48B9092F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1479" y="700564"/>
                <a:ext cx="993913" cy="6463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68" name="Straight Connector 1067">
            <a:extLst>
              <a:ext uri="{FF2B5EF4-FFF2-40B4-BE49-F238E27FC236}">
                <a16:creationId xmlns:a16="http://schemas.microsoft.com/office/drawing/2014/main" id="{6F0DE867-C665-E748-7A7B-C2FF460E8C20}"/>
              </a:ext>
            </a:extLst>
          </p:cNvPr>
          <p:cNvCxnSpPr>
            <a:cxnSpLocks/>
          </p:cNvCxnSpPr>
          <p:nvPr/>
        </p:nvCxnSpPr>
        <p:spPr>
          <a:xfrm flipV="1">
            <a:off x="8155093" y="956988"/>
            <a:ext cx="623783" cy="195107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3" name="Straight Connector 1062">
            <a:extLst>
              <a:ext uri="{FF2B5EF4-FFF2-40B4-BE49-F238E27FC236}">
                <a16:creationId xmlns:a16="http://schemas.microsoft.com/office/drawing/2014/main" id="{7451F5BC-4AB8-4109-6A9B-B7D901B4CB27}"/>
              </a:ext>
            </a:extLst>
          </p:cNvPr>
          <p:cNvCxnSpPr>
            <a:cxnSpLocks/>
          </p:cNvCxnSpPr>
          <p:nvPr/>
        </p:nvCxnSpPr>
        <p:spPr>
          <a:xfrm>
            <a:off x="7217186" y="443412"/>
            <a:ext cx="951249" cy="707026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0" name="Straight Connector 1059">
            <a:extLst>
              <a:ext uri="{FF2B5EF4-FFF2-40B4-BE49-F238E27FC236}">
                <a16:creationId xmlns:a16="http://schemas.microsoft.com/office/drawing/2014/main" id="{7CE60153-0A8E-7030-B246-381472DADB9A}"/>
              </a:ext>
            </a:extLst>
          </p:cNvPr>
          <p:cNvCxnSpPr>
            <a:cxnSpLocks/>
          </p:cNvCxnSpPr>
          <p:nvPr/>
        </p:nvCxnSpPr>
        <p:spPr>
          <a:xfrm>
            <a:off x="5264296" y="2672772"/>
            <a:ext cx="904784" cy="681028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3" name="Straight Connector 1042">
            <a:extLst>
              <a:ext uri="{FF2B5EF4-FFF2-40B4-BE49-F238E27FC236}">
                <a16:creationId xmlns:a16="http://schemas.microsoft.com/office/drawing/2014/main" id="{F857B0B2-BD92-51C5-426E-7E4DF6B9E42C}"/>
              </a:ext>
            </a:extLst>
          </p:cNvPr>
          <p:cNvCxnSpPr>
            <a:cxnSpLocks/>
          </p:cNvCxnSpPr>
          <p:nvPr/>
        </p:nvCxnSpPr>
        <p:spPr>
          <a:xfrm>
            <a:off x="9291791" y="3452032"/>
            <a:ext cx="0" cy="8278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1" name="Straight Connector 1040">
            <a:extLst>
              <a:ext uri="{FF2B5EF4-FFF2-40B4-BE49-F238E27FC236}">
                <a16:creationId xmlns:a16="http://schemas.microsoft.com/office/drawing/2014/main" id="{D22CF63E-EAFB-1C45-36FF-366D1CA069F3}"/>
              </a:ext>
            </a:extLst>
          </p:cNvPr>
          <p:cNvCxnSpPr>
            <a:cxnSpLocks/>
          </p:cNvCxnSpPr>
          <p:nvPr/>
        </p:nvCxnSpPr>
        <p:spPr>
          <a:xfrm>
            <a:off x="10619802" y="3452032"/>
            <a:ext cx="0" cy="8278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280C29E-A5AD-ACF2-A542-1D0F75121974}"/>
              </a:ext>
            </a:extLst>
          </p:cNvPr>
          <p:cNvCxnSpPr>
            <a:endCxn id="19" idx="5"/>
          </p:cNvCxnSpPr>
          <p:nvPr/>
        </p:nvCxnSpPr>
        <p:spPr>
          <a:xfrm flipV="1">
            <a:off x="6589643" y="1231595"/>
            <a:ext cx="1485862" cy="1710388"/>
          </a:xfrm>
          <a:prstGeom prst="line">
            <a:avLst/>
          </a:prstGeom>
          <a:ln>
            <a:solidFill>
              <a:srgbClr val="00B05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5966D06-DF10-BA12-EEFE-D11491B776FE}"/>
              </a:ext>
            </a:extLst>
          </p:cNvPr>
          <p:cNvCxnSpPr>
            <a:cxnSpLocks/>
            <a:endCxn id="20" idx="7"/>
          </p:cNvCxnSpPr>
          <p:nvPr/>
        </p:nvCxnSpPr>
        <p:spPr>
          <a:xfrm>
            <a:off x="6589643" y="3681389"/>
            <a:ext cx="1485862" cy="1711457"/>
          </a:xfrm>
          <a:prstGeom prst="line">
            <a:avLst/>
          </a:prstGeom>
          <a:ln>
            <a:solidFill>
              <a:srgbClr val="00B05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9E2CBE4-459A-0109-6F54-9CA9BF4F1DFD}"/>
              </a:ext>
            </a:extLst>
          </p:cNvPr>
          <p:cNvCxnSpPr>
            <a:cxnSpLocks/>
            <a:endCxn id="22" idx="6"/>
          </p:cNvCxnSpPr>
          <p:nvPr/>
        </p:nvCxnSpPr>
        <p:spPr>
          <a:xfrm flipV="1">
            <a:off x="4174435" y="3347941"/>
            <a:ext cx="6292149" cy="12994"/>
          </a:xfrm>
          <a:prstGeom prst="line">
            <a:avLst/>
          </a:prstGeom>
          <a:ln>
            <a:solidFill>
              <a:srgbClr val="00B05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lowchart: Connector 17">
            <a:extLst>
              <a:ext uri="{FF2B5EF4-FFF2-40B4-BE49-F238E27FC236}">
                <a16:creationId xmlns:a16="http://schemas.microsoft.com/office/drawing/2014/main" id="{59C89AD3-76C5-98C7-3FF4-E3E87FBD943B}"/>
              </a:ext>
            </a:extLst>
          </p:cNvPr>
          <p:cNvSpPr>
            <a:spLocks noChangeAspect="1"/>
          </p:cNvSpPr>
          <p:nvPr/>
        </p:nvSpPr>
        <p:spPr>
          <a:xfrm>
            <a:off x="3111847" y="492189"/>
            <a:ext cx="6164595" cy="5711505"/>
          </a:xfrm>
          <a:prstGeom prst="flowChartConnector">
            <a:avLst/>
          </a:prstGeom>
          <a:noFill/>
          <a:ln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A close up of a planet&#10;&#10;AI-generated content may be incorrect.">
            <a:extLst>
              <a:ext uri="{FF2B5EF4-FFF2-40B4-BE49-F238E27FC236}">
                <a16:creationId xmlns:a16="http://schemas.microsoft.com/office/drawing/2014/main" id="{44B62452-697E-BFD9-5015-0EF713793B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9638" y="3137671"/>
            <a:ext cx="572895" cy="381930"/>
          </a:xfrm>
          <a:prstGeom prst="rect">
            <a:avLst/>
          </a:prstGeom>
        </p:spPr>
      </p:pic>
      <p:sp>
        <p:nvSpPr>
          <p:cNvPr id="19" name="Flowchart: Connector 18">
            <a:extLst>
              <a:ext uri="{FF2B5EF4-FFF2-40B4-BE49-F238E27FC236}">
                <a16:creationId xmlns:a16="http://schemas.microsoft.com/office/drawing/2014/main" id="{7B8273B8-6E75-8F02-7669-C2893678847B}"/>
              </a:ext>
            </a:extLst>
          </p:cNvPr>
          <p:cNvSpPr>
            <a:spLocks noChangeAspect="1"/>
          </p:cNvSpPr>
          <p:nvPr/>
        </p:nvSpPr>
        <p:spPr>
          <a:xfrm flipH="1">
            <a:off x="8037012" y="1023730"/>
            <a:ext cx="262848" cy="243529"/>
          </a:xfrm>
          <a:prstGeom prst="flowChartConnector">
            <a:avLst/>
          </a:prstGeom>
          <a:solidFill>
            <a:srgbClr val="FF0000"/>
          </a:solidFill>
          <a:ln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lowchart: Connector 19">
            <a:extLst>
              <a:ext uri="{FF2B5EF4-FFF2-40B4-BE49-F238E27FC236}">
                <a16:creationId xmlns:a16="http://schemas.microsoft.com/office/drawing/2014/main" id="{95C07AB6-01EB-1BAF-DE1F-140A40AF4F80}"/>
              </a:ext>
            </a:extLst>
          </p:cNvPr>
          <p:cNvSpPr>
            <a:spLocks noChangeAspect="1"/>
          </p:cNvSpPr>
          <p:nvPr/>
        </p:nvSpPr>
        <p:spPr>
          <a:xfrm flipH="1">
            <a:off x="8037012" y="5357182"/>
            <a:ext cx="262848" cy="243529"/>
          </a:xfrm>
          <a:prstGeom prst="flowChartConnector">
            <a:avLst/>
          </a:prstGeom>
          <a:solidFill>
            <a:srgbClr val="FF0000"/>
          </a:solidFill>
          <a:ln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lowchart: Connector 20">
            <a:extLst>
              <a:ext uri="{FF2B5EF4-FFF2-40B4-BE49-F238E27FC236}">
                <a16:creationId xmlns:a16="http://schemas.microsoft.com/office/drawing/2014/main" id="{25BDC74E-B734-7542-18FB-B99636DF5168}"/>
              </a:ext>
            </a:extLst>
          </p:cNvPr>
          <p:cNvSpPr>
            <a:spLocks noChangeAspect="1"/>
          </p:cNvSpPr>
          <p:nvPr/>
        </p:nvSpPr>
        <p:spPr>
          <a:xfrm flipH="1">
            <a:off x="8275548" y="3226176"/>
            <a:ext cx="262848" cy="243529"/>
          </a:xfrm>
          <a:prstGeom prst="flowChartConnector">
            <a:avLst/>
          </a:prstGeom>
          <a:solidFill>
            <a:srgbClr val="FF0000"/>
          </a:solidFill>
          <a:ln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lowchart: Connector 21">
            <a:extLst>
              <a:ext uri="{FF2B5EF4-FFF2-40B4-BE49-F238E27FC236}">
                <a16:creationId xmlns:a16="http://schemas.microsoft.com/office/drawing/2014/main" id="{C6E8E1F0-21E2-8244-1896-3D320AAB1F37}"/>
              </a:ext>
            </a:extLst>
          </p:cNvPr>
          <p:cNvSpPr>
            <a:spLocks noChangeAspect="1"/>
          </p:cNvSpPr>
          <p:nvPr/>
        </p:nvSpPr>
        <p:spPr>
          <a:xfrm flipH="1">
            <a:off x="10466584" y="3226176"/>
            <a:ext cx="262848" cy="243529"/>
          </a:xfrm>
          <a:prstGeom prst="flowChartConnector">
            <a:avLst/>
          </a:prstGeom>
          <a:solidFill>
            <a:srgbClr val="FF0000"/>
          </a:solidFill>
          <a:ln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E86665C-1E29-C03B-EC81-C68FEF97E513}"/>
              </a:ext>
            </a:extLst>
          </p:cNvPr>
          <p:cNvCxnSpPr>
            <a:cxnSpLocks/>
            <a:stCxn id="16" idx="0"/>
            <a:endCxn id="19" idx="3"/>
          </p:cNvCxnSpPr>
          <p:nvPr/>
        </p:nvCxnSpPr>
        <p:spPr>
          <a:xfrm flipH="1" flipV="1">
            <a:off x="8261367" y="1231595"/>
            <a:ext cx="1034719" cy="1906076"/>
          </a:xfrm>
          <a:prstGeom prst="line">
            <a:avLst/>
          </a:prstGeom>
          <a:ln>
            <a:solidFill>
              <a:srgbClr val="00B05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84E00C-6ECF-CEE5-75AA-8E545494B997}"/>
              </a:ext>
            </a:extLst>
          </p:cNvPr>
          <p:cNvCxnSpPr>
            <a:cxnSpLocks/>
            <a:stCxn id="16" idx="2"/>
            <a:endCxn id="20" idx="1"/>
          </p:cNvCxnSpPr>
          <p:nvPr/>
        </p:nvCxnSpPr>
        <p:spPr>
          <a:xfrm flipH="1">
            <a:off x="8261367" y="3519601"/>
            <a:ext cx="1034719" cy="1873245"/>
          </a:xfrm>
          <a:prstGeom prst="line">
            <a:avLst/>
          </a:prstGeom>
          <a:ln>
            <a:solidFill>
              <a:srgbClr val="00B05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496EB54-46C9-D161-5886-C0EAA37A8A27}"/>
                  </a:ext>
                </a:extLst>
              </p:cNvPr>
              <p:cNvSpPr txBox="1"/>
              <p:nvPr/>
            </p:nvSpPr>
            <p:spPr>
              <a:xfrm>
                <a:off x="7916995" y="2858394"/>
                <a:ext cx="99391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b="0"/>
              </a:p>
              <a:p>
                <a:endParaRPr lang="en-US"/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496EB54-46C9-D161-5886-C0EAA37A8A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6995" y="2858394"/>
                <a:ext cx="993913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FC0EB1EF-AEC1-4F56-0E29-F829DB65B990}"/>
                  </a:ext>
                </a:extLst>
              </p:cNvPr>
              <p:cNvSpPr txBox="1"/>
              <p:nvPr/>
            </p:nvSpPr>
            <p:spPr>
              <a:xfrm>
                <a:off x="7642345" y="5034016"/>
                <a:ext cx="99391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b="0"/>
              </a:p>
              <a:p>
                <a:endParaRPr lang="en-US"/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FC0EB1EF-AEC1-4F56-0E29-F829DB65B9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2345" y="5034016"/>
                <a:ext cx="993913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613620C-F38D-C5DF-62DB-51E6878AE29A}"/>
                  </a:ext>
                </a:extLst>
              </p:cNvPr>
              <p:cNvSpPr txBox="1"/>
              <p:nvPr/>
            </p:nvSpPr>
            <p:spPr>
              <a:xfrm>
                <a:off x="10111356" y="2868333"/>
                <a:ext cx="99391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b="0"/>
              </a:p>
              <a:p>
                <a:endParaRPr lang="en-US"/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613620C-F38D-C5DF-62DB-51E6878AE2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1356" y="2868333"/>
                <a:ext cx="993913" cy="6463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28E8CE1-7BC6-0534-6BD6-A3B9CA557841}"/>
                  </a:ext>
                </a:extLst>
              </p:cNvPr>
              <p:cNvSpPr txBox="1"/>
              <p:nvPr/>
            </p:nvSpPr>
            <p:spPr>
              <a:xfrm>
                <a:off x="3818459" y="2889115"/>
                <a:ext cx="99391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b="0"/>
              </a:p>
              <a:p>
                <a:endParaRPr lang="en-US"/>
              </a:p>
            </p:txBody>
          </p:sp>
        </mc:Choice>
        <mc:Fallback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28E8CE1-7BC6-0534-6BD6-A3B9CA5578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8459" y="2889115"/>
                <a:ext cx="993913" cy="6463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>
            <a:extLst>
              <a:ext uri="{FF2B5EF4-FFF2-40B4-BE49-F238E27FC236}">
                <a16:creationId xmlns:a16="http://schemas.microsoft.com/office/drawing/2014/main" id="{48A2A229-0031-3AD8-12D5-FE4BEE9D5AC9}"/>
              </a:ext>
            </a:extLst>
          </p:cNvPr>
          <p:cNvSpPr txBox="1"/>
          <p:nvPr/>
        </p:nvSpPr>
        <p:spPr>
          <a:xfrm>
            <a:off x="5784726" y="2145679"/>
            <a:ext cx="894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00000"/>
                </a:solidFill>
              </a:rPr>
              <a:t>Sun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5FAD6C2-3991-3EE9-B8CD-19F58E0BB28C}"/>
              </a:ext>
            </a:extLst>
          </p:cNvPr>
          <p:cNvSpPr txBox="1"/>
          <p:nvPr/>
        </p:nvSpPr>
        <p:spPr>
          <a:xfrm>
            <a:off x="9291791" y="3457190"/>
            <a:ext cx="894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00000"/>
                </a:solidFill>
              </a:rPr>
              <a:t>Earth</a:t>
            </a:r>
          </a:p>
        </p:txBody>
      </p:sp>
      <p:sp>
        <p:nvSpPr>
          <p:cNvPr id="51" name="Arrow: Left 50">
            <a:extLst>
              <a:ext uri="{FF2B5EF4-FFF2-40B4-BE49-F238E27FC236}">
                <a16:creationId xmlns:a16="http://schemas.microsoft.com/office/drawing/2014/main" id="{624B5EFB-188F-800C-B79D-F2D094F278B0}"/>
              </a:ext>
            </a:extLst>
          </p:cNvPr>
          <p:cNvSpPr/>
          <p:nvPr/>
        </p:nvSpPr>
        <p:spPr>
          <a:xfrm>
            <a:off x="5947321" y="426111"/>
            <a:ext cx="493643" cy="155334"/>
          </a:xfrm>
          <a:prstGeom prst="leftArrow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Arrow: Right 52">
            <a:extLst>
              <a:ext uri="{FF2B5EF4-FFF2-40B4-BE49-F238E27FC236}">
                <a16:creationId xmlns:a16="http://schemas.microsoft.com/office/drawing/2014/main" id="{828754FE-240E-B363-9ED0-4F01421E5BA6}"/>
              </a:ext>
            </a:extLst>
          </p:cNvPr>
          <p:cNvSpPr/>
          <p:nvPr/>
        </p:nvSpPr>
        <p:spPr>
          <a:xfrm>
            <a:off x="6003069" y="6114480"/>
            <a:ext cx="493643" cy="141787"/>
          </a:xfrm>
          <a:prstGeom prst="rightArrow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69DC58E8-5656-6E13-AFF6-893F568AD114}"/>
                  </a:ext>
                </a:extLst>
              </p:cNvPr>
              <p:cNvSpPr txBox="1"/>
              <p:nvPr/>
            </p:nvSpPr>
            <p:spPr>
              <a:xfrm>
                <a:off x="7019290" y="2776576"/>
                <a:ext cx="40716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60°</m:t>
                      </m:r>
                    </m:oMath>
                  </m:oMathPara>
                </a14:m>
                <a:endParaRPr lang="en-US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69DC58E8-5656-6E13-AFF6-893F568AD1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9290" y="2776576"/>
                <a:ext cx="407163" cy="276999"/>
              </a:xfrm>
              <a:prstGeom prst="rect">
                <a:avLst/>
              </a:prstGeom>
              <a:blipFill>
                <a:blip r:embed="rId8"/>
                <a:stretch>
                  <a:fillRect l="-11940" r="-11940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B647E91C-0C91-5593-BED0-8F7C08032A1B}"/>
                  </a:ext>
                </a:extLst>
              </p:cNvPr>
              <p:cNvSpPr txBox="1"/>
              <p:nvPr/>
            </p:nvSpPr>
            <p:spPr>
              <a:xfrm>
                <a:off x="7015430" y="3614276"/>
                <a:ext cx="40716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60°</m:t>
                      </m:r>
                    </m:oMath>
                  </m:oMathPara>
                </a14:m>
                <a:endParaRPr lang="en-US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B647E91C-0C91-5593-BED0-8F7C08032A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5430" y="3614276"/>
                <a:ext cx="407163" cy="276999"/>
              </a:xfrm>
              <a:prstGeom prst="rect">
                <a:avLst/>
              </a:prstGeom>
              <a:blipFill>
                <a:blip r:embed="rId9"/>
                <a:stretch>
                  <a:fillRect l="-13433" r="-10448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8BBB27F-283F-B767-06D1-0B87DEBE34AC}"/>
                  </a:ext>
                </a:extLst>
              </p:cNvPr>
              <p:cNvSpPr txBox="1"/>
              <p:nvPr/>
            </p:nvSpPr>
            <p:spPr>
              <a:xfrm>
                <a:off x="8726413" y="2978569"/>
                <a:ext cx="40716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60°</m:t>
                      </m:r>
                    </m:oMath>
                  </m:oMathPara>
                </a14:m>
                <a:endParaRPr lang="en-US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8BBB27F-283F-B767-06D1-0B87DEBE34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6413" y="2978569"/>
                <a:ext cx="407163" cy="276999"/>
              </a:xfrm>
              <a:prstGeom prst="rect">
                <a:avLst/>
              </a:prstGeom>
              <a:blipFill>
                <a:blip r:embed="rId10"/>
                <a:stretch>
                  <a:fillRect l="-11940" r="-11940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F389090D-120A-C178-E5EF-1FCB3F85878B}"/>
                  </a:ext>
                </a:extLst>
              </p:cNvPr>
              <p:cNvSpPr txBox="1"/>
              <p:nvPr/>
            </p:nvSpPr>
            <p:spPr>
              <a:xfrm>
                <a:off x="8728327" y="3459527"/>
                <a:ext cx="40716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60°</m:t>
                      </m:r>
                    </m:oMath>
                  </m:oMathPara>
                </a14:m>
                <a:endParaRPr lang="en-US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F389090D-120A-C178-E5EF-1FCB3F8587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8327" y="3459527"/>
                <a:ext cx="407163" cy="276999"/>
              </a:xfrm>
              <a:prstGeom prst="rect">
                <a:avLst/>
              </a:prstGeom>
              <a:blipFill>
                <a:blip r:embed="rId11"/>
                <a:stretch>
                  <a:fillRect l="-13433" r="-10448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AF11220C-E1B3-4DF8-9C7C-BE99D39D5C31}"/>
              </a:ext>
            </a:extLst>
          </p:cNvPr>
          <p:cNvCxnSpPr/>
          <p:nvPr/>
        </p:nvCxnSpPr>
        <p:spPr>
          <a:xfrm>
            <a:off x="6204081" y="4144617"/>
            <a:ext cx="2212830" cy="0"/>
          </a:xfrm>
          <a:prstGeom prst="straightConnector1">
            <a:avLst/>
          </a:prstGeom>
          <a:ln>
            <a:solidFill>
              <a:srgbClr val="00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4" name="Straight Arrow Connector 1023">
            <a:extLst>
              <a:ext uri="{FF2B5EF4-FFF2-40B4-BE49-F238E27FC236}">
                <a16:creationId xmlns:a16="http://schemas.microsoft.com/office/drawing/2014/main" id="{E298DF53-D075-E429-4785-874974CA8567}"/>
              </a:ext>
            </a:extLst>
          </p:cNvPr>
          <p:cNvCxnSpPr>
            <a:cxnSpLocks/>
          </p:cNvCxnSpPr>
          <p:nvPr/>
        </p:nvCxnSpPr>
        <p:spPr>
          <a:xfrm>
            <a:off x="4162281" y="4144617"/>
            <a:ext cx="2008097" cy="0"/>
          </a:xfrm>
          <a:prstGeom prst="straightConnector1">
            <a:avLst/>
          </a:prstGeom>
          <a:ln>
            <a:solidFill>
              <a:srgbClr val="00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8" name="Straight Connector 1027">
            <a:extLst>
              <a:ext uri="{FF2B5EF4-FFF2-40B4-BE49-F238E27FC236}">
                <a16:creationId xmlns:a16="http://schemas.microsoft.com/office/drawing/2014/main" id="{B57A9492-499E-3559-1195-59F24ADC4AC4}"/>
              </a:ext>
            </a:extLst>
          </p:cNvPr>
          <p:cNvCxnSpPr>
            <a:cxnSpLocks/>
          </p:cNvCxnSpPr>
          <p:nvPr/>
        </p:nvCxnSpPr>
        <p:spPr>
          <a:xfrm>
            <a:off x="6194144" y="3932013"/>
            <a:ext cx="7844" cy="451144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0" name="Flowchart: Connector 1029">
            <a:extLst>
              <a:ext uri="{FF2B5EF4-FFF2-40B4-BE49-F238E27FC236}">
                <a16:creationId xmlns:a16="http://schemas.microsoft.com/office/drawing/2014/main" id="{7371602C-06A1-2DC8-FB6F-A3524C4DBCA2}"/>
              </a:ext>
            </a:extLst>
          </p:cNvPr>
          <p:cNvSpPr>
            <a:spLocks noChangeAspect="1"/>
          </p:cNvSpPr>
          <p:nvPr/>
        </p:nvSpPr>
        <p:spPr>
          <a:xfrm flipH="1">
            <a:off x="4030857" y="3232254"/>
            <a:ext cx="262848" cy="243529"/>
          </a:xfrm>
          <a:prstGeom prst="flowChartConnector">
            <a:avLst/>
          </a:prstGeom>
          <a:solidFill>
            <a:srgbClr val="FF0000"/>
          </a:solidFill>
          <a:ln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32" name="Straight Connector 1031">
            <a:extLst>
              <a:ext uri="{FF2B5EF4-FFF2-40B4-BE49-F238E27FC236}">
                <a16:creationId xmlns:a16="http://schemas.microsoft.com/office/drawing/2014/main" id="{7A6E7659-DF9E-BA9B-290D-00857F0BC345}"/>
              </a:ext>
            </a:extLst>
          </p:cNvPr>
          <p:cNvCxnSpPr>
            <a:cxnSpLocks/>
            <a:stCxn id="1030" idx="4"/>
          </p:cNvCxnSpPr>
          <p:nvPr/>
        </p:nvCxnSpPr>
        <p:spPr>
          <a:xfrm>
            <a:off x="4162281" y="3475783"/>
            <a:ext cx="0" cy="8278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7" name="Straight Connector 1036">
            <a:extLst>
              <a:ext uri="{FF2B5EF4-FFF2-40B4-BE49-F238E27FC236}">
                <a16:creationId xmlns:a16="http://schemas.microsoft.com/office/drawing/2014/main" id="{4E00AF6D-162F-2002-D22B-D4F7D5234312}"/>
              </a:ext>
            </a:extLst>
          </p:cNvPr>
          <p:cNvCxnSpPr>
            <a:cxnSpLocks/>
          </p:cNvCxnSpPr>
          <p:nvPr/>
        </p:nvCxnSpPr>
        <p:spPr>
          <a:xfrm>
            <a:off x="8406972" y="3469705"/>
            <a:ext cx="0" cy="8278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38" name="TextBox 1037">
                <a:extLst>
                  <a:ext uri="{FF2B5EF4-FFF2-40B4-BE49-F238E27FC236}">
                    <a16:creationId xmlns:a16="http://schemas.microsoft.com/office/drawing/2014/main" id="{BB61A0D3-290D-A705-4EF7-65542E0C44D2}"/>
                  </a:ext>
                </a:extLst>
              </p:cNvPr>
              <p:cNvSpPr txBox="1"/>
              <p:nvPr/>
            </p:nvSpPr>
            <p:spPr>
              <a:xfrm>
                <a:off x="4661530" y="4159950"/>
                <a:ext cx="1223455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1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149.6⋅</m:t>
                    </m:r>
                    <m:sSup>
                      <m:sSupPr>
                        <m:ctrlPr>
                          <a:rPr lang="en-US" sz="11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1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lang="en-US" sz="1100" b="0">
                    <a:solidFill>
                      <a:srgbClr val="000000"/>
                    </a:solidFill>
                  </a:rPr>
                  <a:t> km</a:t>
                </a:r>
              </a:p>
              <a:p>
                <a:endParaRPr lang="en-US" sz="110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1038" name="TextBox 1037">
                <a:extLst>
                  <a:ext uri="{FF2B5EF4-FFF2-40B4-BE49-F238E27FC236}">
                    <a16:creationId xmlns:a16="http://schemas.microsoft.com/office/drawing/2014/main" id="{BB61A0D3-290D-A705-4EF7-65542E0C44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1530" y="4159950"/>
                <a:ext cx="1223455" cy="430887"/>
              </a:xfrm>
              <a:prstGeom prst="rect">
                <a:avLst/>
              </a:prstGeom>
              <a:blipFill>
                <a:blip r:embed="rId12"/>
                <a:stretch>
                  <a:fillRect t="-14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39" name="TextBox 1038">
                <a:extLst>
                  <a:ext uri="{FF2B5EF4-FFF2-40B4-BE49-F238E27FC236}">
                    <a16:creationId xmlns:a16="http://schemas.microsoft.com/office/drawing/2014/main" id="{3CF5350F-B063-07CE-460E-8A28E87A1D37}"/>
                  </a:ext>
                </a:extLst>
              </p:cNvPr>
              <p:cNvSpPr txBox="1"/>
              <p:nvPr/>
            </p:nvSpPr>
            <p:spPr>
              <a:xfrm>
                <a:off x="6691965" y="4150011"/>
                <a:ext cx="1223455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1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148.1⋅</m:t>
                    </m:r>
                    <m:sSup>
                      <m:sSupPr>
                        <m:ctrlPr>
                          <a:rPr lang="en-US" sz="11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1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US" sz="11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100" b="0">
                    <a:solidFill>
                      <a:srgbClr val="000000"/>
                    </a:solidFill>
                  </a:rPr>
                  <a:t>km</a:t>
                </a:r>
              </a:p>
            </p:txBody>
          </p:sp>
        </mc:Choice>
        <mc:Fallback>
          <p:sp>
            <p:nvSpPr>
              <p:cNvPr id="1039" name="TextBox 1038">
                <a:extLst>
                  <a:ext uri="{FF2B5EF4-FFF2-40B4-BE49-F238E27FC236}">
                    <a16:creationId xmlns:a16="http://schemas.microsoft.com/office/drawing/2014/main" id="{3CF5350F-B063-07CE-460E-8A28E87A1D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1965" y="4150011"/>
                <a:ext cx="1223455" cy="261610"/>
              </a:xfrm>
              <a:prstGeom prst="rect">
                <a:avLst/>
              </a:prstGeom>
              <a:blipFill>
                <a:blip r:embed="rId13"/>
                <a:stretch>
                  <a:fillRect t="-2326" b="-139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40" name="Straight Arrow Connector 1039">
            <a:extLst>
              <a:ext uri="{FF2B5EF4-FFF2-40B4-BE49-F238E27FC236}">
                <a16:creationId xmlns:a16="http://schemas.microsoft.com/office/drawing/2014/main" id="{2942D086-4691-2847-D327-64B171D3F3B3}"/>
              </a:ext>
            </a:extLst>
          </p:cNvPr>
          <p:cNvCxnSpPr>
            <a:cxnSpLocks/>
          </p:cNvCxnSpPr>
          <p:nvPr/>
        </p:nvCxnSpPr>
        <p:spPr>
          <a:xfrm>
            <a:off x="8406972" y="4140072"/>
            <a:ext cx="884819" cy="4545"/>
          </a:xfrm>
          <a:prstGeom prst="straightConnector1">
            <a:avLst/>
          </a:prstGeom>
          <a:ln>
            <a:solidFill>
              <a:srgbClr val="00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44" name="TextBox 1043">
                <a:extLst>
                  <a:ext uri="{FF2B5EF4-FFF2-40B4-BE49-F238E27FC236}">
                    <a16:creationId xmlns:a16="http://schemas.microsoft.com/office/drawing/2014/main" id="{F4DD1EC5-EC12-0B03-BE61-A512A436587E}"/>
                  </a:ext>
                </a:extLst>
              </p:cNvPr>
              <p:cNvSpPr txBox="1"/>
              <p:nvPr/>
            </p:nvSpPr>
            <p:spPr>
              <a:xfrm>
                <a:off x="8412450" y="4194770"/>
                <a:ext cx="1071829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1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1.5⋅</m:t>
                    </m:r>
                    <m:sSup>
                      <m:sSupPr>
                        <m:ctrlPr>
                          <a:rPr lang="en-US" sz="11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1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lang="en-US" sz="1100" b="0">
                    <a:solidFill>
                      <a:srgbClr val="000000"/>
                    </a:solidFill>
                  </a:rPr>
                  <a:t> km</a:t>
                </a:r>
              </a:p>
            </p:txBody>
          </p:sp>
        </mc:Choice>
        <mc:Fallback>
          <p:sp>
            <p:nvSpPr>
              <p:cNvPr id="1044" name="TextBox 1043">
                <a:extLst>
                  <a:ext uri="{FF2B5EF4-FFF2-40B4-BE49-F238E27FC236}">
                    <a16:creationId xmlns:a16="http://schemas.microsoft.com/office/drawing/2014/main" id="{F4DD1EC5-EC12-0B03-BE61-A512A43658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2450" y="4194770"/>
                <a:ext cx="1071829" cy="261610"/>
              </a:xfrm>
              <a:prstGeom prst="rect">
                <a:avLst/>
              </a:prstGeom>
              <a:blipFill>
                <a:blip r:embed="rId14"/>
                <a:stretch>
                  <a:fillRect t="-2326" b="-139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46" name="Straight Arrow Connector 1045">
            <a:extLst>
              <a:ext uri="{FF2B5EF4-FFF2-40B4-BE49-F238E27FC236}">
                <a16:creationId xmlns:a16="http://schemas.microsoft.com/office/drawing/2014/main" id="{E8BC1139-D0FF-28C0-1C41-B673BA0CDCDD}"/>
              </a:ext>
            </a:extLst>
          </p:cNvPr>
          <p:cNvCxnSpPr>
            <a:cxnSpLocks/>
          </p:cNvCxnSpPr>
          <p:nvPr/>
        </p:nvCxnSpPr>
        <p:spPr>
          <a:xfrm>
            <a:off x="9295053" y="4153040"/>
            <a:ext cx="1324749" cy="11274"/>
          </a:xfrm>
          <a:prstGeom prst="straightConnector1">
            <a:avLst/>
          </a:prstGeom>
          <a:ln>
            <a:solidFill>
              <a:srgbClr val="00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0" name="Straight Connector 1049">
            <a:extLst>
              <a:ext uri="{FF2B5EF4-FFF2-40B4-BE49-F238E27FC236}">
                <a16:creationId xmlns:a16="http://schemas.microsoft.com/office/drawing/2014/main" id="{8765BCC9-D1BD-3EAF-D561-43C4C3F2C497}"/>
              </a:ext>
            </a:extLst>
          </p:cNvPr>
          <p:cNvCxnSpPr>
            <a:cxnSpLocks/>
          </p:cNvCxnSpPr>
          <p:nvPr/>
        </p:nvCxnSpPr>
        <p:spPr>
          <a:xfrm>
            <a:off x="7273982" y="1948933"/>
            <a:ext cx="152471" cy="150780"/>
          </a:xfrm>
          <a:prstGeom prst="line">
            <a:avLst/>
          </a:prstGeom>
          <a:ln w="53975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2" name="Straight Connector 1051">
            <a:extLst>
              <a:ext uri="{FF2B5EF4-FFF2-40B4-BE49-F238E27FC236}">
                <a16:creationId xmlns:a16="http://schemas.microsoft.com/office/drawing/2014/main" id="{6D3E6D2A-2F8A-BF23-6D5D-524576961274}"/>
              </a:ext>
            </a:extLst>
          </p:cNvPr>
          <p:cNvCxnSpPr>
            <a:cxnSpLocks/>
          </p:cNvCxnSpPr>
          <p:nvPr/>
        </p:nvCxnSpPr>
        <p:spPr>
          <a:xfrm flipV="1">
            <a:off x="7469448" y="4698193"/>
            <a:ext cx="147014" cy="141077"/>
          </a:xfrm>
          <a:prstGeom prst="line">
            <a:avLst/>
          </a:prstGeom>
          <a:ln w="53975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4" name="Straight Connector 1053">
            <a:extLst>
              <a:ext uri="{FF2B5EF4-FFF2-40B4-BE49-F238E27FC236}">
                <a16:creationId xmlns:a16="http://schemas.microsoft.com/office/drawing/2014/main" id="{72838B03-85BC-A519-6E8D-2EF881BA1A87}"/>
              </a:ext>
            </a:extLst>
          </p:cNvPr>
          <p:cNvCxnSpPr>
            <a:cxnSpLocks/>
          </p:cNvCxnSpPr>
          <p:nvPr/>
        </p:nvCxnSpPr>
        <p:spPr>
          <a:xfrm flipV="1">
            <a:off x="8565384" y="1953724"/>
            <a:ext cx="213492" cy="120988"/>
          </a:xfrm>
          <a:prstGeom prst="line">
            <a:avLst/>
          </a:prstGeom>
          <a:ln w="53975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9" name="Straight Connector 1058">
            <a:extLst>
              <a:ext uri="{FF2B5EF4-FFF2-40B4-BE49-F238E27FC236}">
                <a16:creationId xmlns:a16="http://schemas.microsoft.com/office/drawing/2014/main" id="{271CC854-9455-3989-3668-825417577270}"/>
              </a:ext>
            </a:extLst>
          </p:cNvPr>
          <p:cNvCxnSpPr>
            <a:cxnSpLocks/>
          </p:cNvCxnSpPr>
          <p:nvPr/>
        </p:nvCxnSpPr>
        <p:spPr>
          <a:xfrm>
            <a:off x="8481717" y="4734495"/>
            <a:ext cx="198106" cy="81048"/>
          </a:xfrm>
          <a:prstGeom prst="line">
            <a:avLst/>
          </a:prstGeom>
          <a:ln w="53975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4" name="Straight Arrow Connector 1063">
            <a:extLst>
              <a:ext uri="{FF2B5EF4-FFF2-40B4-BE49-F238E27FC236}">
                <a16:creationId xmlns:a16="http://schemas.microsoft.com/office/drawing/2014/main" id="{93D7BDE0-7FCF-0FA2-6D87-C6596583FD3A}"/>
              </a:ext>
            </a:extLst>
          </p:cNvPr>
          <p:cNvCxnSpPr>
            <a:cxnSpLocks/>
          </p:cNvCxnSpPr>
          <p:nvPr/>
        </p:nvCxnSpPr>
        <p:spPr>
          <a:xfrm flipV="1">
            <a:off x="5264296" y="469410"/>
            <a:ext cx="1999355" cy="2216614"/>
          </a:xfrm>
          <a:prstGeom prst="straightConnector1">
            <a:avLst/>
          </a:prstGeom>
          <a:ln>
            <a:solidFill>
              <a:srgbClr val="00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67" name="TextBox 1066">
                <a:extLst>
                  <a:ext uri="{FF2B5EF4-FFF2-40B4-BE49-F238E27FC236}">
                    <a16:creationId xmlns:a16="http://schemas.microsoft.com/office/drawing/2014/main" id="{7AC7E724-4AA2-1B1E-E2CA-A37304A55A98}"/>
                  </a:ext>
                </a:extLst>
              </p:cNvPr>
              <p:cNvSpPr txBox="1"/>
              <p:nvPr/>
            </p:nvSpPr>
            <p:spPr>
              <a:xfrm rot="18632971">
                <a:off x="5549334" y="1334349"/>
                <a:ext cx="1223455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1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149.6⋅</m:t>
                    </m:r>
                    <m:sSup>
                      <m:sSupPr>
                        <m:ctrlPr>
                          <a:rPr lang="en-US" sz="11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1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lang="en-US" sz="1100" b="0">
                    <a:solidFill>
                      <a:srgbClr val="000000"/>
                    </a:solidFill>
                  </a:rPr>
                  <a:t> km</a:t>
                </a:r>
              </a:p>
            </p:txBody>
          </p:sp>
        </mc:Choice>
        <mc:Fallback>
          <p:sp>
            <p:nvSpPr>
              <p:cNvPr id="1067" name="TextBox 1066">
                <a:extLst>
                  <a:ext uri="{FF2B5EF4-FFF2-40B4-BE49-F238E27FC236}">
                    <a16:creationId xmlns:a16="http://schemas.microsoft.com/office/drawing/2014/main" id="{7AC7E724-4AA2-1B1E-E2CA-A37304A55A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8632971">
                <a:off x="5549334" y="1334349"/>
                <a:ext cx="1223455" cy="2616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71" name="Straight Arrow Connector 1070">
            <a:extLst>
              <a:ext uri="{FF2B5EF4-FFF2-40B4-BE49-F238E27FC236}">
                <a16:creationId xmlns:a16="http://schemas.microsoft.com/office/drawing/2014/main" id="{2B0838F9-1B99-4806-792A-AE290BAB524A}"/>
              </a:ext>
            </a:extLst>
          </p:cNvPr>
          <p:cNvCxnSpPr>
            <a:cxnSpLocks/>
          </p:cNvCxnSpPr>
          <p:nvPr/>
        </p:nvCxnSpPr>
        <p:spPr>
          <a:xfrm flipH="1" flipV="1">
            <a:off x="8725397" y="990989"/>
            <a:ext cx="888393" cy="2226229"/>
          </a:xfrm>
          <a:prstGeom prst="straightConnector1">
            <a:avLst/>
          </a:prstGeom>
          <a:ln>
            <a:solidFill>
              <a:srgbClr val="00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79" name="TextBox 1078">
                <a:extLst>
                  <a:ext uri="{FF2B5EF4-FFF2-40B4-BE49-F238E27FC236}">
                    <a16:creationId xmlns:a16="http://schemas.microsoft.com/office/drawing/2014/main" id="{876A1793-1B64-76F6-0D22-B802D800B795}"/>
                  </a:ext>
                </a:extLst>
              </p:cNvPr>
              <p:cNvSpPr txBox="1"/>
              <p:nvPr/>
            </p:nvSpPr>
            <p:spPr>
              <a:xfrm rot="4110721">
                <a:off x="8743704" y="2036279"/>
                <a:ext cx="1223455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1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30⋅</m:t>
                    </m:r>
                    <m:sSup>
                      <m:sSupPr>
                        <m:ctrlPr>
                          <a:rPr lang="en-US" sz="11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1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lang="en-US" sz="1100" b="0">
                    <a:solidFill>
                      <a:srgbClr val="000000"/>
                    </a:solidFill>
                  </a:rPr>
                  <a:t> km</a:t>
                </a:r>
              </a:p>
            </p:txBody>
          </p:sp>
        </mc:Choice>
        <mc:Fallback>
          <p:sp>
            <p:nvSpPr>
              <p:cNvPr id="1079" name="TextBox 1078">
                <a:extLst>
                  <a:ext uri="{FF2B5EF4-FFF2-40B4-BE49-F238E27FC236}">
                    <a16:creationId xmlns:a16="http://schemas.microsoft.com/office/drawing/2014/main" id="{876A1793-1B64-76F6-0D22-B802D800B7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4110721">
                <a:off x="8743704" y="2036279"/>
                <a:ext cx="1223455" cy="2616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 descr="A close up of a planet&#10;&#10;AI-generated content may be incorrect.">
            <a:extLst>
              <a:ext uri="{FF2B5EF4-FFF2-40B4-BE49-F238E27FC236}">
                <a16:creationId xmlns:a16="http://schemas.microsoft.com/office/drawing/2014/main" id="{AAA59D40-A111-D30E-8485-D31C8234EF5F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33077" y="2272434"/>
            <a:ext cx="3424437" cy="1928174"/>
          </a:xfrm>
          <a:prstGeom prst="rect">
            <a:avLst/>
          </a:prstGeom>
        </p:spPr>
      </p:pic>
      <p:pic>
        <p:nvPicPr>
          <p:cNvPr id="4" name="Picture 3" descr="A planet earth with continents and water&#10;&#10;AI-generated content may be incorrect.">
            <a:extLst>
              <a:ext uri="{FF2B5EF4-FFF2-40B4-BE49-F238E27FC236}">
                <a16:creationId xmlns:a16="http://schemas.microsoft.com/office/drawing/2014/main" id="{68F240B2-B831-20CC-A17B-BD9B314126AA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064305" y="3158058"/>
            <a:ext cx="461169" cy="420607"/>
          </a:xfrm>
          <a:prstGeom prst="rect">
            <a:avLst/>
          </a:prstGeom>
        </p:spPr>
      </p:pic>
      <p:pic>
        <p:nvPicPr>
          <p:cNvPr id="7" name="Picture 6" descr="A close up of a planet&#10;&#10;AI-generated content may be incorrect.">
            <a:extLst>
              <a:ext uri="{FF2B5EF4-FFF2-40B4-BE49-F238E27FC236}">
                <a16:creationId xmlns:a16="http://schemas.microsoft.com/office/drawing/2014/main" id="{F760B6F1-B9C3-AE26-F4F4-3A3925A375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8975" y="2735423"/>
            <a:ext cx="313517" cy="20901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53CA2CB-BDA2-7678-A28F-5A3652CFF242}"/>
              </a:ext>
            </a:extLst>
          </p:cNvPr>
          <p:cNvSpPr txBox="1"/>
          <p:nvPr/>
        </p:nvSpPr>
        <p:spPr>
          <a:xfrm>
            <a:off x="9728818" y="2465921"/>
            <a:ext cx="8945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</a:rPr>
              <a:t>Moon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81EE3C0-FF42-D524-C516-00B25E8C5BA6}"/>
                  </a:ext>
                </a:extLst>
              </p:cNvPr>
              <p:cNvSpPr txBox="1"/>
              <p:nvPr/>
            </p:nvSpPr>
            <p:spPr>
              <a:xfrm>
                <a:off x="9421512" y="4194613"/>
                <a:ext cx="1071829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1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1.5⋅</m:t>
                    </m:r>
                    <m:sSup>
                      <m:sSupPr>
                        <m:ctrlPr>
                          <a:rPr lang="en-US" sz="11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1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lang="en-US" sz="1100" b="0">
                    <a:solidFill>
                      <a:srgbClr val="000000"/>
                    </a:solidFill>
                  </a:rPr>
                  <a:t> km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81EE3C0-FF42-D524-C516-00B25E8C5B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1512" y="4194613"/>
                <a:ext cx="1071829" cy="261610"/>
              </a:xfrm>
              <a:prstGeom prst="rect">
                <a:avLst/>
              </a:prstGeom>
              <a:blipFill>
                <a:blip r:embed="rId19"/>
                <a:stretch>
                  <a:fillRect t="-2326" b="-139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48739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AF2C1-3699-A82B-866C-C4BB3D21D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70" name="Straight Connector 1069">
            <a:extLst>
              <a:ext uri="{FF2B5EF4-FFF2-40B4-BE49-F238E27FC236}">
                <a16:creationId xmlns:a16="http://schemas.microsoft.com/office/drawing/2014/main" id="{8FC90A88-8013-2871-0689-FC738BDC2E8F}"/>
              </a:ext>
            </a:extLst>
          </p:cNvPr>
          <p:cNvCxnSpPr>
            <a:cxnSpLocks/>
          </p:cNvCxnSpPr>
          <p:nvPr/>
        </p:nvCxnSpPr>
        <p:spPr>
          <a:xfrm flipV="1">
            <a:off x="9254007" y="3213936"/>
            <a:ext cx="510299" cy="128365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70ECCD8-5824-8FA2-9165-6635A054464B}"/>
                  </a:ext>
                </a:extLst>
              </p:cNvPr>
              <p:cNvSpPr txBox="1"/>
              <p:nvPr/>
            </p:nvSpPr>
            <p:spPr>
              <a:xfrm>
                <a:off x="7671479" y="700564"/>
                <a:ext cx="99391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b="0"/>
              </a:p>
              <a:p>
                <a:endParaRPr lang="en-US"/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70ECCD8-5824-8FA2-9165-6635A05446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1479" y="700564"/>
                <a:ext cx="993913" cy="6463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68" name="Straight Connector 1067">
            <a:extLst>
              <a:ext uri="{FF2B5EF4-FFF2-40B4-BE49-F238E27FC236}">
                <a16:creationId xmlns:a16="http://schemas.microsoft.com/office/drawing/2014/main" id="{3F2996E4-9792-FC1A-4EC2-34BC564D535B}"/>
              </a:ext>
            </a:extLst>
          </p:cNvPr>
          <p:cNvCxnSpPr>
            <a:cxnSpLocks/>
          </p:cNvCxnSpPr>
          <p:nvPr/>
        </p:nvCxnSpPr>
        <p:spPr>
          <a:xfrm flipV="1">
            <a:off x="8155093" y="956988"/>
            <a:ext cx="623783" cy="195107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3" name="Straight Connector 1062">
            <a:extLst>
              <a:ext uri="{FF2B5EF4-FFF2-40B4-BE49-F238E27FC236}">
                <a16:creationId xmlns:a16="http://schemas.microsoft.com/office/drawing/2014/main" id="{FE9E3DD8-F36F-EC82-72C8-3CBD48DD72ED}"/>
              </a:ext>
            </a:extLst>
          </p:cNvPr>
          <p:cNvCxnSpPr>
            <a:cxnSpLocks/>
          </p:cNvCxnSpPr>
          <p:nvPr/>
        </p:nvCxnSpPr>
        <p:spPr>
          <a:xfrm>
            <a:off x="7217186" y="443412"/>
            <a:ext cx="951249" cy="707026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0" name="Straight Connector 1059">
            <a:extLst>
              <a:ext uri="{FF2B5EF4-FFF2-40B4-BE49-F238E27FC236}">
                <a16:creationId xmlns:a16="http://schemas.microsoft.com/office/drawing/2014/main" id="{F2397FC4-D85C-65CC-4F1C-E6EC47DB1BBF}"/>
              </a:ext>
            </a:extLst>
          </p:cNvPr>
          <p:cNvCxnSpPr>
            <a:cxnSpLocks/>
          </p:cNvCxnSpPr>
          <p:nvPr/>
        </p:nvCxnSpPr>
        <p:spPr>
          <a:xfrm>
            <a:off x="5264296" y="2672772"/>
            <a:ext cx="904784" cy="681028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3" name="Straight Connector 1042">
            <a:extLst>
              <a:ext uri="{FF2B5EF4-FFF2-40B4-BE49-F238E27FC236}">
                <a16:creationId xmlns:a16="http://schemas.microsoft.com/office/drawing/2014/main" id="{FD26E389-71E9-CD8D-14FC-05C074F31822}"/>
              </a:ext>
            </a:extLst>
          </p:cNvPr>
          <p:cNvCxnSpPr>
            <a:cxnSpLocks/>
          </p:cNvCxnSpPr>
          <p:nvPr/>
        </p:nvCxnSpPr>
        <p:spPr>
          <a:xfrm>
            <a:off x="9291791" y="3452032"/>
            <a:ext cx="0" cy="8278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1" name="Straight Connector 1040">
            <a:extLst>
              <a:ext uri="{FF2B5EF4-FFF2-40B4-BE49-F238E27FC236}">
                <a16:creationId xmlns:a16="http://schemas.microsoft.com/office/drawing/2014/main" id="{BC96BE86-E828-A602-08F9-BEDCEC9F4CCD}"/>
              </a:ext>
            </a:extLst>
          </p:cNvPr>
          <p:cNvCxnSpPr>
            <a:cxnSpLocks/>
          </p:cNvCxnSpPr>
          <p:nvPr/>
        </p:nvCxnSpPr>
        <p:spPr>
          <a:xfrm>
            <a:off x="10619802" y="3452032"/>
            <a:ext cx="0" cy="8278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DD1F52E-294F-C1BA-832B-72B38648F179}"/>
              </a:ext>
            </a:extLst>
          </p:cNvPr>
          <p:cNvCxnSpPr>
            <a:endCxn id="19" idx="5"/>
          </p:cNvCxnSpPr>
          <p:nvPr/>
        </p:nvCxnSpPr>
        <p:spPr>
          <a:xfrm flipV="1">
            <a:off x="6589643" y="1231595"/>
            <a:ext cx="1485862" cy="1710388"/>
          </a:xfrm>
          <a:prstGeom prst="line">
            <a:avLst/>
          </a:prstGeom>
          <a:ln>
            <a:solidFill>
              <a:srgbClr val="00B05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8572F7D-4B7B-DD6C-0CB0-1B835DD7636B}"/>
              </a:ext>
            </a:extLst>
          </p:cNvPr>
          <p:cNvCxnSpPr>
            <a:cxnSpLocks/>
            <a:endCxn id="20" idx="7"/>
          </p:cNvCxnSpPr>
          <p:nvPr/>
        </p:nvCxnSpPr>
        <p:spPr>
          <a:xfrm>
            <a:off x="6589643" y="3681389"/>
            <a:ext cx="1485862" cy="1711457"/>
          </a:xfrm>
          <a:prstGeom prst="line">
            <a:avLst/>
          </a:prstGeom>
          <a:ln>
            <a:solidFill>
              <a:srgbClr val="00B05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2E8A61C-C060-0268-6C00-4E69EC6A62FF}"/>
              </a:ext>
            </a:extLst>
          </p:cNvPr>
          <p:cNvCxnSpPr>
            <a:cxnSpLocks/>
            <a:endCxn id="22" idx="6"/>
          </p:cNvCxnSpPr>
          <p:nvPr/>
        </p:nvCxnSpPr>
        <p:spPr>
          <a:xfrm flipV="1">
            <a:off x="4174435" y="3347941"/>
            <a:ext cx="6292149" cy="12994"/>
          </a:xfrm>
          <a:prstGeom prst="line">
            <a:avLst/>
          </a:prstGeom>
          <a:ln>
            <a:solidFill>
              <a:srgbClr val="00B05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lowchart: Connector 17">
            <a:extLst>
              <a:ext uri="{FF2B5EF4-FFF2-40B4-BE49-F238E27FC236}">
                <a16:creationId xmlns:a16="http://schemas.microsoft.com/office/drawing/2014/main" id="{9F0A7731-71BB-E24C-972A-CD292CE74003}"/>
              </a:ext>
            </a:extLst>
          </p:cNvPr>
          <p:cNvSpPr>
            <a:spLocks noChangeAspect="1"/>
          </p:cNvSpPr>
          <p:nvPr/>
        </p:nvSpPr>
        <p:spPr>
          <a:xfrm>
            <a:off x="3111847" y="492189"/>
            <a:ext cx="6164595" cy="5711505"/>
          </a:xfrm>
          <a:prstGeom prst="flowChartConnector">
            <a:avLst/>
          </a:prstGeom>
          <a:noFill/>
          <a:ln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A close up of a planet&#10;&#10;AI-generated content may be incorrect.">
            <a:extLst>
              <a:ext uri="{FF2B5EF4-FFF2-40B4-BE49-F238E27FC236}">
                <a16:creationId xmlns:a16="http://schemas.microsoft.com/office/drawing/2014/main" id="{F48B2276-351E-1371-5017-C43E7F7F59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9638" y="3137671"/>
            <a:ext cx="572895" cy="381930"/>
          </a:xfrm>
          <a:prstGeom prst="rect">
            <a:avLst/>
          </a:prstGeom>
        </p:spPr>
      </p:pic>
      <p:sp>
        <p:nvSpPr>
          <p:cNvPr id="19" name="Flowchart: Connector 18">
            <a:extLst>
              <a:ext uri="{FF2B5EF4-FFF2-40B4-BE49-F238E27FC236}">
                <a16:creationId xmlns:a16="http://schemas.microsoft.com/office/drawing/2014/main" id="{3EDEDB30-6A36-033E-C547-B04CB72ADD1C}"/>
              </a:ext>
            </a:extLst>
          </p:cNvPr>
          <p:cNvSpPr>
            <a:spLocks noChangeAspect="1"/>
          </p:cNvSpPr>
          <p:nvPr/>
        </p:nvSpPr>
        <p:spPr>
          <a:xfrm flipH="1">
            <a:off x="8037012" y="1023730"/>
            <a:ext cx="262848" cy="243529"/>
          </a:xfrm>
          <a:prstGeom prst="flowChartConnector">
            <a:avLst/>
          </a:prstGeom>
          <a:solidFill>
            <a:srgbClr val="FF0000"/>
          </a:solidFill>
          <a:ln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lowchart: Connector 19">
            <a:extLst>
              <a:ext uri="{FF2B5EF4-FFF2-40B4-BE49-F238E27FC236}">
                <a16:creationId xmlns:a16="http://schemas.microsoft.com/office/drawing/2014/main" id="{F475EB25-7EB6-B48F-A1DE-6AA17156548C}"/>
              </a:ext>
            </a:extLst>
          </p:cNvPr>
          <p:cNvSpPr>
            <a:spLocks noChangeAspect="1"/>
          </p:cNvSpPr>
          <p:nvPr/>
        </p:nvSpPr>
        <p:spPr>
          <a:xfrm flipH="1">
            <a:off x="8037012" y="5357182"/>
            <a:ext cx="262848" cy="243529"/>
          </a:xfrm>
          <a:prstGeom prst="flowChartConnector">
            <a:avLst/>
          </a:prstGeom>
          <a:solidFill>
            <a:srgbClr val="FF0000"/>
          </a:solidFill>
          <a:ln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lowchart: Connector 20">
            <a:extLst>
              <a:ext uri="{FF2B5EF4-FFF2-40B4-BE49-F238E27FC236}">
                <a16:creationId xmlns:a16="http://schemas.microsoft.com/office/drawing/2014/main" id="{96068A90-E566-4243-6CDE-316DD8743827}"/>
              </a:ext>
            </a:extLst>
          </p:cNvPr>
          <p:cNvSpPr>
            <a:spLocks noChangeAspect="1"/>
          </p:cNvSpPr>
          <p:nvPr/>
        </p:nvSpPr>
        <p:spPr>
          <a:xfrm flipH="1">
            <a:off x="8275548" y="3226176"/>
            <a:ext cx="262848" cy="243529"/>
          </a:xfrm>
          <a:prstGeom prst="flowChartConnector">
            <a:avLst/>
          </a:prstGeom>
          <a:solidFill>
            <a:srgbClr val="FF0000"/>
          </a:solidFill>
          <a:ln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lowchart: Connector 21">
            <a:extLst>
              <a:ext uri="{FF2B5EF4-FFF2-40B4-BE49-F238E27FC236}">
                <a16:creationId xmlns:a16="http://schemas.microsoft.com/office/drawing/2014/main" id="{B0665DB1-5613-039E-5F25-55E848147C2B}"/>
              </a:ext>
            </a:extLst>
          </p:cNvPr>
          <p:cNvSpPr>
            <a:spLocks noChangeAspect="1"/>
          </p:cNvSpPr>
          <p:nvPr/>
        </p:nvSpPr>
        <p:spPr>
          <a:xfrm flipH="1">
            <a:off x="10466584" y="3226176"/>
            <a:ext cx="262848" cy="243529"/>
          </a:xfrm>
          <a:prstGeom prst="flowChartConnector">
            <a:avLst/>
          </a:prstGeom>
          <a:solidFill>
            <a:srgbClr val="FF0000"/>
          </a:solidFill>
          <a:ln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66BE743-0B5E-6E29-C23B-DA3FF0E2D985}"/>
              </a:ext>
            </a:extLst>
          </p:cNvPr>
          <p:cNvCxnSpPr>
            <a:cxnSpLocks/>
            <a:stCxn id="16" idx="0"/>
            <a:endCxn id="19" idx="3"/>
          </p:cNvCxnSpPr>
          <p:nvPr/>
        </p:nvCxnSpPr>
        <p:spPr>
          <a:xfrm flipH="1" flipV="1">
            <a:off x="8261367" y="1231595"/>
            <a:ext cx="1034719" cy="1906076"/>
          </a:xfrm>
          <a:prstGeom prst="line">
            <a:avLst/>
          </a:prstGeom>
          <a:ln>
            <a:solidFill>
              <a:srgbClr val="00B05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E563E2A-61E6-9366-3924-ECB4BED15F04}"/>
              </a:ext>
            </a:extLst>
          </p:cNvPr>
          <p:cNvCxnSpPr>
            <a:cxnSpLocks/>
            <a:stCxn id="16" idx="2"/>
            <a:endCxn id="20" idx="1"/>
          </p:cNvCxnSpPr>
          <p:nvPr/>
        </p:nvCxnSpPr>
        <p:spPr>
          <a:xfrm flipH="1">
            <a:off x="8261367" y="3519601"/>
            <a:ext cx="1034719" cy="1873245"/>
          </a:xfrm>
          <a:prstGeom prst="line">
            <a:avLst/>
          </a:prstGeom>
          <a:ln>
            <a:solidFill>
              <a:srgbClr val="00B05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3BC7597-2104-E4A4-11B3-F3E0AC2E9718}"/>
                  </a:ext>
                </a:extLst>
              </p:cNvPr>
              <p:cNvSpPr txBox="1"/>
              <p:nvPr/>
            </p:nvSpPr>
            <p:spPr>
              <a:xfrm>
                <a:off x="7916995" y="2858394"/>
                <a:ext cx="99391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b="0"/>
              </a:p>
              <a:p>
                <a:endParaRPr lang="en-US"/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3BC7597-2104-E4A4-11B3-F3E0AC2E97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6995" y="2858394"/>
                <a:ext cx="993913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76A9552-3431-B3DD-1188-061955297E99}"/>
                  </a:ext>
                </a:extLst>
              </p:cNvPr>
              <p:cNvSpPr txBox="1"/>
              <p:nvPr/>
            </p:nvSpPr>
            <p:spPr>
              <a:xfrm>
                <a:off x="7642345" y="5034016"/>
                <a:ext cx="99391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b="0"/>
              </a:p>
              <a:p>
                <a:endParaRPr lang="en-US"/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76A9552-3431-B3DD-1188-061955297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2345" y="5034016"/>
                <a:ext cx="993913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5013C1E-587E-4F73-84D7-6871DC2A6DCF}"/>
                  </a:ext>
                </a:extLst>
              </p:cNvPr>
              <p:cNvSpPr txBox="1"/>
              <p:nvPr/>
            </p:nvSpPr>
            <p:spPr>
              <a:xfrm>
                <a:off x="10111356" y="2868333"/>
                <a:ext cx="99391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b="0"/>
              </a:p>
              <a:p>
                <a:endParaRPr lang="en-US"/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5013C1E-587E-4F73-84D7-6871DC2A6D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1356" y="2868333"/>
                <a:ext cx="993913" cy="6463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4C4CAA4-9553-BD2E-763B-A21DCF361B43}"/>
                  </a:ext>
                </a:extLst>
              </p:cNvPr>
              <p:cNvSpPr txBox="1"/>
              <p:nvPr/>
            </p:nvSpPr>
            <p:spPr>
              <a:xfrm>
                <a:off x="3818459" y="2889115"/>
                <a:ext cx="99391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b="0"/>
              </a:p>
              <a:p>
                <a:endParaRPr lang="en-US"/>
              </a:p>
            </p:txBody>
          </p:sp>
        </mc:Choice>
        <mc:Fallback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4C4CAA4-9553-BD2E-763B-A21DCF361B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8459" y="2889115"/>
                <a:ext cx="993913" cy="6463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>
            <a:extLst>
              <a:ext uri="{FF2B5EF4-FFF2-40B4-BE49-F238E27FC236}">
                <a16:creationId xmlns:a16="http://schemas.microsoft.com/office/drawing/2014/main" id="{084111F8-0D0D-6A57-6F36-2F9DE4E673C0}"/>
              </a:ext>
            </a:extLst>
          </p:cNvPr>
          <p:cNvSpPr txBox="1"/>
          <p:nvPr/>
        </p:nvSpPr>
        <p:spPr>
          <a:xfrm>
            <a:off x="5784726" y="2145679"/>
            <a:ext cx="894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00000"/>
                </a:solidFill>
              </a:rPr>
              <a:t>Sun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F5F44C5-5CEF-FB4A-5883-9C0DC69C0A1C}"/>
              </a:ext>
            </a:extLst>
          </p:cNvPr>
          <p:cNvSpPr txBox="1"/>
          <p:nvPr/>
        </p:nvSpPr>
        <p:spPr>
          <a:xfrm>
            <a:off x="9291791" y="3457190"/>
            <a:ext cx="894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00000"/>
                </a:solidFill>
              </a:rPr>
              <a:t>Mars</a:t>
            </a:r>
          </a:p>
        </p:txBody>
      </p:sp>
      <p:sp>
        <p:nvSpPr>
          <p:cNvPr id="51" name="Arrow: Left 50">
            <a:extLst>
              <a:ext uri="{FF2B5EF4-FFF2-40B4-BE49-F238E27FC236}">
                <a16:creationId xmlns:a16="http://schemas.microsoft.com/office/drawing/2014/main" id="{7D080133-8D39-E218-0C5E-1FFAB9B458E3}"/>
              </a:ext>
            </a:extLst>
          </p:cNvPr>
          <p:cNvSpPr/>
          <p:nvPr/>
        </p:nvSpPr>
        <p:spPr>
          <a:xfrm>
            <a:off x="5947321" y="426111"/>
            <a:ext cx="493643" cy="155334"/>
          </a:xfrm>
          <a:prstGeom prst="leftArrow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Arrow: Right 52">
            <a:extLst>
              <a:ext uri="{FF2B5EF4-FFF2-40B4-BE49-F238E27FC236}">
                <a16:creationId xmlns:a16="http://schemas.microsoft.com/office/drawing/2014/main" id="{D63B48F8-0FF3-B829-C8F7-A187310D6D75}"/>
              </a:ext>
            </a:extLst>
          </p:cNvPr>
          <p:cNvSpPr/>
          <p:nvPr/>
        </p:nvSpPr>
        <p:spPr>
          <a:xfrm>
            <a:off x="6003069" y="6114480"/>
            <a:ext cx="493643" cy="141787"/>
          </a:xfrm>
          <a:prstGeom prst="rightArrow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8E7F4F10-6FE1-4E8B-E58F-A17A10697E78}"/>
                  </a:ext>
                </a:extLst>
              </p:cNvPr>
              <p:cNvSpPr txBox="1"/>
              <p:nvPr/>
            </p:nvSpPr>
            <p:spPr>
              <a:xfrm>
                <a:off x="7019290" y="2776576"/>
                <a:ext cx="40716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60°</m:t>
                      </m:r>
                    </m:oMath>
                  </m:oMathPara>
                </a14:m>
                <a:endParaRPr lang="en-US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8E7F4F10-6FE1-4E8B-E58F-A17A10697E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9290" y="2776576"/>
                <a:ext cx="407163" cy="276999"/>
              </a:xfrm>
              <a:prstGeom prst="rect">
                <a:avLst/>
              </a:prstGeom>
              <a:blipFill>
                <a:blip r:embed="rId8"/>
                <a:stretch>
                  <a:fillRect l="-11940" r="-11940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0D151365-3BA2-A7E3-38EA-7A6DC44D58C8}"/>
                  </a:ext>
                </a:extLst>
              </p:cNvPr>
              <p:cNvSpPr txBox="1"/>
              <p:nvPr/>
            </p:nvSpPr>
            <p:spPr>
              <a:xfrm>
                <a:off x="7015430" y="3614276"/>
                <a:ext cx="40716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60°</m:t>
                      </m:r>
                    </m:oMath>
                  </m:oMathPara>
                </a14:m>
                <a:endParaRPr lang="en-US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0D151365-3BA2-A7E3-38EA-7A6DC44D58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5430" y="3614276"/>
                <a:ext cx="407163" cy="276999"/>
              </a:xfrm>
              <a:prstGeom prst="rect">
                <a:avLst/>
              </a:prstGeom>
              <a:blipFill>
                <a:blip r:embed="rId9"/>
                <a:stretch>
                  <a:fillRect l="-13433" r="-10448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58874D7E-2F40-71FC-8021-5F25DBC79A76}"/>
                  </a:ext>
                </a:extLst>
              </p:cNvPr>
              <p:cNvSpPr txBox="1"/>
              <p:nvPr/>
            </p:nvSpPr>
            <p:spPr>
              <a:xfrm>
                <a:off x="8726413" y="2978569"/>
                <a:ext cx="40716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60°</m:t>
                      </m:r>
                    </m:oMath>
                  </m:oMathPara>
                </a14:m>
                <a:endParaRPr lang="en-US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58874D7E-2F40-71FC-8021-5F25DBC79A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6413" y="2978569"/>
                <a:ext cx="407163" cy="276999"/>
              </a:xfrm>
              <a:prstGeom prst="rect">
                <a:avLst/>
              </a:prstGeom>
              <a:blipFill>
                <a:blip r:embed="rId10"/>
                <a:stretch>
                  <a:fillRect l="-11940" r="-11940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A3613ABE-5246-8F73-6320-494AB6801705}"/>
                  </a:ext>
                </a:extLst>
              </p:cNvPr>
              <p:cNvSpPr txBox="1"/>
              <p:nvPr/>
            </p:nvSpPr>
            <p:spPr>
              <a:xfrm>
                <a:off x="8728327" y="3459527"/>
                <a:ext cx="40716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60°</m:t>
                      </m:r>
                    </m:oMath>
                  </m:oMathPara>
                </a14:m>
                <a:endParaRPr lang="en-US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A3613ABE-5246-8F73-6320-494AB68017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8327" y="3459527"/>
                <a:ext cx="407163" cy="276999"/>
              </a:xfrm>
              <a:prstGeom prst="rect">
                <a:avLst/>
              </a:prstGeom>
              <a:blipFill>
                <a:blip r:embed="rId11"/>
                <a:stretch>
                  <a:fillRect l="-13433" r="-10448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4F00B16E-72B1-8ECA-7BF1-99FC7C29D882}"/>
              </a:ext>
            </a:extLst>
          </p:cNvPr>
          <p:cNvCxnSpPr/>
          <p:nvPr/>
        </p:nvCxnSpPr>
        <p:spPr>
          <a:xfrm>
            <a:off x="6204081" y="4144617"/>
            <a:ext cx="2212830" cy="0"/>
          </a:xfrm>
          <a:prstGeom prst="straightConnector1">
            <a:avLst/>
          </a:prstGeom>
          <a:ln>
            <a:solidFill>
              <a:srgbClr val="00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4" name="Straight Arrow Connector 1023">
            <a:extLst>
              <a:ext uri="{FF2B5EF4-FFF2-40B4-BE49-F238E27FC236}">
                <a16:creationId xmlns:a16="http://schemas.microsoft.com/office/drawing/2014/main" id="{14593DEA-C711-678F-090F-B3519C23854C}"/>
              </a:ext>
            </a:extLst>
          </p:cNvPr>
          <p:cNvCxnSpPr>
            <a:cxnSpLocks/>
          </p:cNvCxnSpPr>
          <p:nvPr/>
        </p:nvCxnSpPr>
        <p:spPr>
          <a:xfrm>
            <a:off x="4162281" y="4144617"/>
            <a:ext cx="2008097" cy="0"/>
          </a:xfrm>
          <a:prstGeom prst="straightConnector1">
            <a:avLst/>
          </a:prstGeom>
          <a:ln>
            <a:solidFill>
              <a:srgbClr val="00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8" name="Straight Connector 1027">
            <a:extLst>
              <a:ext uri="{FF2B5EF4-FFF2-40B4-BE49-F238E27FC236}">
                <a16:creationId xmlns:a16="http://schemas.microsoft.com/office/drawing/2014/main" id="{F14A9464-3EA9-1451-8B02-A0467CE4D85B}"/>
              </a:ext>
            </a:extLst>
          </p:cNvPr>
          <p:cNvCxnSpPr>
            <a:cxnSpLocks/>
          </p:cNvCxnSpPr>
          <p:nvPr/>
        </p:nvCxnSpPr>
        <p:spPr>
          <a:xfrm>
            <a:off x="6194144" y="3932013"/>
            <a:ext cx="7844" cy="451144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0" name="Flowchart: Connector 1029">
            <a:extLst>
              <a:ext uri="{FF2B5EF4-FFF2-40B4-BE49-F238E27FC236}">
                <a16:creationId xmlns:a16="http://schemas.microsoft.com/office/drawing/2014/main" id="{8429FAEE-6E9D-C42B-F58A-EE05F3B86387}"/>
              </a:ext>
            </a:extLst>
          </p:cNvPr>
          <p:cNvSpPr>
            <a:spLocks noChangeAspect="1"/>
          </p:cNvSpPr>
          <p:nvPr/>
        </p:nvSpPr>
        <p:spPr>
          <a:xfrm flipH="1">
            <a:off x="4030857" y="3232254"/>
            <a:ext cx="262848" cy="243529"/>
          </a:xfrm>
          <a:prstGeom prst="flowChartConnector">
            <a:avLst/>
          </a:prstGeom>
          <a:solidFill>
            <a:srgbClr val="FF0000"/>
          </a:solidFill>
          <a:ln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32" name="Straight Connector 1031">
            <a:extLst>
              <a:ext uri="{FF2B5EF4-FFF2-40B4-BE49-F238E27FC236}">
                <a16:creationId xmlns:a16="http://schemas.microsoft.com/office/drawing/2014/main" id="{B5EFD6B2-5193-5BC9-4374-BF42D03B723D}"/>
              </a:ext>
            </a:extLst>
          </p:cNvPr>
          <p:cNvCxnSpPr>
            <a:cxnSpLocks/>
            <a:stCxn id="1030" idx="4"/>
          </p:cNvCxnSpPr>
          <p:nvPr/>
        </p:nvCxnSpPr>
        <p:spPr>
          <a:xfrm>
            <a:off x="4162281" y="3475783"/>
            <a:ext cx="0" cy="8278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7" name="Straight Connector 1036">
            <a:extLst>
              <a:ext uri="{FF2B5EF4-FFF2-40B4-BE49-F238E27FC236}">
                <a16:creationId xmlns:a16="http://schemas.microsoft.com/office/drawing/2014/main" id="{DA961221-F9A3-7AC8-68D2-62BA352535D0}"/>
              </a:ext>
            </a:extLst>
          </p:cNvPr>
          <p:cNvCxnSpPr>
            <a:cxnSpLocks/>
          </p:cNvCxnSpPr>
          <p:nvPr/>
        </p:nvCxnSpPr>
        <p:spPr>
          <a:xfrm>
            <a:off x="8406972" y="3469705"/>
            <a:ext cx="0" cy="8278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38" name="TextBox 1037">
                <a:extLst>
                  <a:ext uri="{FF2B5EF4-FFF2-40B4-BE49-F238E27FC236}">
                    <a16:creationId xmlns:a16="http://schemas.microsoft.com/office/drawing/2014/main" id="{8B4AA3B6-EB12-3497-39E5-D50AC5669883}"/>
                  </a:ext>
                </a:extLst>
              </p:cNvPr>
              <p:cNvSpPr txBox="1"/>
              <p:nvPr/>
            </p:nvSpPr>
            <p:spPr>
              <a:xfrm>
                <a:off x="4661530" y="4159950"/>
                <a:ext cx="1223455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1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27.9⋅</m:t>
                    </m:r>
                    <m:sSup>
                      <m:sSupPr>
                        <m:ctrlPr>
                          <a:rPr lang="en-US" sz="11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1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lang="en-US" sz="1100" b="0">
                    <a:solidFill>
                      <a:srgbClr val="000000"/>
                    </a:solidFill>
                  </a:rPr>
                  <a:t> km</a:t>
                </a:r>
              </a:p>
              <a:p>
                <a:endParaRPr lang="en-US" sz="110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1038" name="TextBox 1037">
                <a:extLst>
                  <a:ext uri="{FF2B5EF4-FFF2-40B4-BE49-F238E27FC236}">
                    <a16:creationId xmlns:a16="http://schemas.microsoft.com/office/drawing/2014/main" id="{8B4AA3B6-EB12-3497-39E5-D50AC56698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1530" y="4159950"/>
                <a:ext cx="1223455" cy="430887"/>
              </a:xfrm>
              <a:prstGeom prst="rect">
                <a:avLst/>
              </a:prstGeom>
              <a:blipFill>
                <a:blip r:embed="rId12"/>
                <a:stretch>
                  <a:fillRect t="-14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39" name="TextBox 1038">
                <a:extLst>
                  <a:ext uri="{FF2B5EF4-FFF2-40B4-BE49-F238E27FC236}">
                    <a16:creationId xmlns:a16="http://schemas.microsoft.com/office/drawing/2014/main" id="{B5B691AB-F902-46E5-CEC4-B0EF13044AC9}"/>
                  </a:ext>
                </a:extLst>
              </p:cNvPr>
              <p:cNvSpPr txBox="1"/>
              <p:nvPr/>
            </p:nvSpPr>
            <p:spPr>
              <a:xfrm>
                <a:off x="6691965" y="4150011"/>
                <a:ext cx="1223455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1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26.9⋅</m:t>
                    </m:r>
                    <m:sSup>
                      <m:sSupPr>
                        <m:ctrlPr>
                          <a:rPr lang="en-US" sz="11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1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US" sz="11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100" b="0">
                    <a:solidFill>
                      <a:srgbClr val="000000"/>
                    </a:solidFill>
                  </a:rPr>
                  <a:t>km</a:t>
                </a:r>
              </a:p>
            </p:txBody>
          </p:sp>
        </mc:Choice>
        <mc:Fallback>
          <p:sp>
            <p:nvSpPr>
              <p:cNvPr id="1039" name="TextBox 1038">
                <a:extLst>
                  <a:ext uri="{FF2B5EF4-FFF2-40B4-BE49-F238E27FC236}">
                    <a16:creationId xmlns:a16="http://schemas.microsoft.com/office/drawing/2014/main" id="{B5B691AB-F902-46E5-CEC4-B0EF13044A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1965" y="4150011"/>
                <a:ext cx="1223455" cy="261610"/>
              </a:xfrm>
              <a:prstGeom prst="rect">
                <a:avLst/>
              </a:prstGeom>
              <a:blipFill>
                <a:blip r:embed="rId13"/>
                <a:stretch>
                  <a:fillRect t="-2326" b="-139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40" name="Straight Arrow Connector 1039">
            <a:extLst>
              <a:ext uri="{FF2B5EF4-FFF2-40B4-BE49-F238E27FC236}">
                <a16:creationId xmlns:a16="http://schemas.microsoft.com/office/drawing/2014/main" id="{4B4C462B-59A1-BF6B-DBAB-183C406E156B}"/>
              </a:ext>
            </a:extLst>
          </p:cNvPr>
          <p:cNvCxnSpPr>
            <a:cxnSpLocks/>
          </p:cNvCxnSpPr>
          <p:nvPr/>
        </p:nvCxnSpPr>
        <p:spPr>
          <a:xfrm>
            <a:off x="8406972" y="4140072"/>
            <a:ext cx="884819" cy="4545"/>
          </a:xfrm>
          <a:prstGeom prst="straightConnector1">
            <a:avLst/>
          </a:prstGeom>
          <a:ln>
            <a:solidFill>
              <a:srgbClr val="00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44" name="TextBox 1043">
                <a:extLst>
                  <a:ext uri="{FF2B5EF4-FFF2-40B4-BE49-F238E27FC236}">
                    <a16:creationId xmlns:a16="http://schemas.microsoft.com/office/drawing/2014/main" id="{2C9A0628-175A-CEB8-F4CF-785FF685EA87}"/>
                  </a:ext>
                </a:extLst>
              </p:cNvPr>
              <p:cNvSpPr txBox="1"/>
              <p:nvPr/>
            </p:nvSpPr>
            <p:spPr>
              <a:xfrm>
                <a:off x="8412450" y="4194770"/>
                <a:ext cx="1071829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1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1.08⋅</m:t>
                    </m:r>
                    <m:sSup>
                      <m:sSupPr>
                        <m:ctrlPr>
                          <a:rPr lang="en-US" sz="11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1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lang="en-US" sz="1100" b="0">
                    <a:solidFill>
                      <a:srgbClr val="000000"/>
                    </a:solidFill>
                  </a:rPr>
                  <a:t> km</a:t>
                </a:r>
              </a:p>
            </p:txBody>
          </p:sp>
        </mc:Choice>
        <mc:Fallback>
          <p:sp>
            <p:nvSpPr>
              <p:cNvPr id="1044" name="TextBox 1043">
                <a:extLst>
                  <a:ext uri="{FF2B5EF4-FFF2-40B4-BE49-F238E27FC236}">
                    <a16:creationId xmlns:a16="http://schemas.microsoft.com/office/drawing/2014/main" id="{2C9A0628-175A-CEB8-F4CF-785FF685EA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2450" y="4194770"/>
                <a:ext cx="1071829" cy="261610"/>
              </a:xfrm>
              <a:prstGeom prst="rect">
                <a:avLst/>
              </a:prstGeom>
              <a:blipFill>
                <a:blip r:embed="rId14"/>
                <a:stretch>
                  <a:fillRect t="-2326" b="-139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46" name="Straight Arrow Connector 1045">
            <a:extLst>
              <a:ext uri="{FF2B5EF4-FFF2-40B4-BE49-F238E27FC236}">
                <a16:creationId xmlns:a16="http://schemas.microsoft.com/office/drawing/2014/main" id="{FFE24E84-16B9-90C9-CD4C-7D9A24AFF397}"/>
              </a:ext>
            </a:extLst>
          </p:cNvPr>
          <p:cNvCxnSpPr>
            <a:cxnSpLocks/>
          </p:cNvCxnSpPr>
          <p:nvPr/>
        </p:nvCxnSpPr>
        <p:spPr>
          <a:xfrm>
            <a:off x="9295053" y="4153040"/>
            <a:ext cx="1324749" cy="11274"/>
          </a:xfrm>
          <a:prstGeom prst="straightConnector1">
            <a:avLst/>
          </a:prstGeom>
          <a:ln>
            <a:solidFill>
              <a:srgbClr val="00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0" name="Straight Connector 1049">
            <a:extLst>
              <a:ext uri="{FF2B5EF4-FFF2-40B4-BE49-F238E27FC236}">
                <a16:creationId xmlns:a16="http://schemas.microsoft.com/office/drawing/2014/main" id="{13504713-5256-DB41-F238-D5EE47869399}"/>
              </a:ext>
            </a:extLst>
          </p:cNvPr>
          <p:cNvCxnSpPr>
            <a:cxnSpLocks/>
          </p:cNvCxnSpPr>
          <p:nvPr/>
        </p:nvCxnSpPr>
        <p:spPr>
          <a:xfrm>
            <a:off x="7273982" y="1948933"/>
            <a:ext cx="152471" cy="150780"/>
          </a:xfrm>
          <a:prstGeom prst="line">
            <a:avLst/>
          </a:prstGeom>
          <a:ln w="53975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2" name="Straight Connector 1051">
            <a:extLst>
              <a:ext uri="{FF2B5EF4-FFF2-40B4-BE49-F238E27FC236}">
                <a16:creationId xmlns:a16="http://schemas.microsoft.com/office/drawing/2014/main" id="{41BFFBAB-184F-E7A3-D6D4-F2D62697484E}"/>
              </a:ext>
            </a:extLst>
          </p:cNvPr>
          <p:cNvCxnSpPr>
            <a:cxnSpLocks/>
          </p:cNvCxnSpPr>
          <p:nvPr/>
        </p:nvCxnSpPr>
        <p:spPr>
          <a:xfrm flipV="1">
            <a:off x="7469448" y="4698193"/>
            <a:ext cx="147014" cy="141077"/>
          </a:xfrm>
          <a:prstGeom prst="line">
            <a:avLst/>
          </a:prstGeom>
          <a:ln w="53975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4" name="Straight Connector 1053">
            <a:extLst>
              <a:ext uri="{FF2B5EF4-FFF2-40B4-BE49-F238E27FC236}">
                <a16:creationId xmlns:a16="http://schemas.microsoft.com/office/drawing/2014/main" id="{2EB052C2-2B30-9E4B-A391-C704AB3BA9A3}"/>
              </a:ext>
            </a:extLst>
          </p:cNvPr>
          <p:cNvCxnSpPr>
            <a:cxnSpLocks/>
          </p:cNvCxnSpPr>
          <p:nvPr/>
        </p:nvCxnSpPr>
        <p:spPr>
          <a:xfrm flipV="1">
            <a:off x="8606346" y="1978725"/>
            <a:ext cx="213492" cy="120988"/>
          </a:xfrm>
          <a:prstGeom prst="line">
            <a:avLst/>
          </a:prstGeom>
          <a:ln w="53975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9" name="Straight Connector 1058">
            <a:extLst>
              <a:ext uri="{FF2B5EF4-FFF2-40B4-BE49-F238E27FC236}">
                <a16:creationId xmlns:a16="http://schemas.microsoft.com/office/drawing/2014/main" id="{4ED09318-FA99-0DBC-76CB-FAF2B81FE41B}"/>
              </a:ext>
            </a:extLst>
          </p:cNvPr>
          <p:cNvCxnSpPr>
            <a:cxnSpLocks/>
          </p:cNvCxnSpPr>
          <p:nvPr/>
        </p:nvCxnSpPr>
        <p:spPr>
          <a:xfrm>
            <a:off x="8507293" y="4705991"/>
            <a:ext cx="198106" cy="81048"/>
          </a:xfrm>
          <a:prstGeom prst="line">
            <a:avLst/>
          </a:prstGeom>
          <a:ln w="53975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4" name="Straight Arrow Connector 1063">
            <a:extLst>
              <a:ext uri="{FF2B5EF4-FFF2-40B4-BE49-F238E27FC236}">
                <a16:creationId xmlns:a16="http://schemas.microsoft.com/office/drawing/2014/main" id="{3AC80209-D6C6-030A-8DF7-62C44924F28F}"/>
              </a:ext>
            </a:extLst>
          </p:cNvPr>
          <p:cNvCxnSpPr>
            <a:cxnSpLocks/>
          </p:cNvCxnSpPr>
          <p:nvPr/>
        </p:nvCxnSpPr>
        <p:spPr>
          <a:xfrm flipV="1">
            <a:off x="5264296" y="469410"/>
            <a:ext cx="1999355" cy="2216614"/>
          </a:xfrm>
          <a:prstGeom prst="straightConnector1">
            <a:avLst/>
          </a:prstGeom>
          <a:ln>
            <a:solidFill>
              <a:srgbClr val="00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67" name="TextBox 1066">
                <a:extLst>
                  <a:ext uri="{FF2B5EF4-FFF2-40B4-BE49-F238E27FC236}">
                    <a16:creationId xmlns:a16="http://schemas.microsoft.com/office/drawing/2014/main" id="{3311D4FD-FC5C-67E4-5340-67EE71CBF07A}"/>
                  </a:ext>
                </a:extLst>
              </p:cNvPr>
              <p:cNvSpPr txBox="1"/>
              <p:nvPr/>
            </p:nvSpPr>
            <p:spPr>
              <a:xfrm rot="18632971">
                <a:off x="5549334" y="1334349"/>
                <a:ext cx="1223455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1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27.9⋅</m:t>
                    </m:r>
                    <m:sSup>
                      <m:sSupPr>
                        <m:ctrlPr>
                          <a:rPr lang="en-US" sz="11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1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lang="en-US" sz="1100" b="0">
                    <a:solidFill>
                      <a:srgbClr val="000000"/>
                    </a:solidFill>
                  </a:rPr>
                  <a:t> km</a:t>
                </a:r>
              </a:p>
            </p:txBody>
          </p:sp>
        </mc:Choice>
        <mc:Fallback>
          <p:sp>
            <p:nvSpPr>
              <p:cNvPr id="1067" name="TextBox 1066">
                <a:extLst>
                  <a:ext uri="{FF2B5EF4-FFF2-40B4-BE49-F238E27FC236}">
                    <a16:creationId xmlns:a16="http://schemas.microsoft.com/office/drawing/2014/main" id="{3311D4FD-FC5C-67E4-5340-67EE71CBF0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8632971">
                <a:off x="5549334" y="1334349"/>
                <a:ext cx="1223455" cy="2616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71" name="Straight Arrow Connector 1070">
            <a:extLst>
              <a:ext uri="{FF2B5EF4-FFF2-40B4-BE49-F238E27FC236}">
                <a16:creationId xmlns:a16="http://schemas.microsoft.com/office/drawing/2014/main" id="{19289414-B4A1-D581-C19B-E675C24AE278}"/>
              </a:ext>
            </a:extLst>
          </p:cNvPr>
          <p:cNvCxnSpPr>
            <a:cxnSpLocks/>
          </p:cNvCxnSpPr>
          <p:nvPr/>
        </p:nvCxnSpPr>
        <p:spPr>
          <a:xfrm flipH="1" flipV="1">
            <a:off x="8725397" y="990989"/>
            <a:ext cx="888393" cy="2226229"/>
          </a:xfrm>
          <a:prstGeom prst="straightConnector1">
            <a:avLst/>
          </a:prstGeom>
          <a:ln>
            <a:solidFill>
              <a:srgbClr val="00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79" name="TextBox 1078">
                <a:extLst>
                  <a:ext uri="{FF2B5EF4-FFF2-40B4-BE49-F238E27FC236}">
                    <a16:creationId xmlns:a16="http://schemas.microsoft.com/office/drawing/2014/main" id="{E0A735FD-FC17-E275-CBF2-A3368AF103D1}"/>
                  </a:ext>
                </a:extLst>
              </p:cNvPr>
              <p:cNvSpPr txBox="1"/>
              <p:nvPr/>
            </p:nvSpPr>
            <p:spPr>
              <a:xfrm rot="4110721">
                <a:off x="8743704" y="2036279"/>
                <a:ext cx="1223455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1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27.9⋅</m:t>
                    </m:r>
                    <m:sSup>
                      <m:sSupPr>
                        <m:ctrlPr>
                          <a:rPr lang="en-US" sz="11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1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lang="en-US" sz="1100" b="0">
                    <a:solidFill>
                      <a:srgbClr val="000000"/>
                    </a:solidFill>
                  </a:rPr>
                  <a:t> km</a:t>
                </a:r>
              </a:p>
            </p:txBody>
          </p:sp>
        </mc:Choice>
        <mc:Fallback>
          <p:sp>
            <p:nvSpPr>
              <p:cNvPr id="1079" name="TextBox 1078">
                <a:extLst>
                  <a:ext uri="{FF2B5EF4-FFF2-40B4-BE49-F238E27FC236}">
                    <a16:creationId xmlns:a16="http://schemas.microsoft.com/office/drawing/2014/main" id="{E0A735FD-FC17-E275-CBF2-A3368AF103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4110721">
                <a:off x="8743704" y="2036279"/>
                <a:ext cx="1223455" cy="2616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 descr="A close up of a planet&#10;&#10;AI-generated content may be incorrect.">
            <a:extLst>
              <a:ext uri="{FF2B5EF4-FFF2-40B4-BE49-F238E27FC236}">
                <a16:creationId xmlns:a16="http://schemas.microsoft.com/office/drawing/2014/main" id="{FDD8EAC2-AB05-0F81-4A76-B456B64BFF4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33077" y="2272434"/>
            <a:ext cx="3424437" cy="1928174"/>
          </a:xfrm>
          <a:prstGeom prst="rect">
            <a:avLst/>
          </a:prstGeom>
        </p:spPr>
      </p:pic>
      <p:pic>
        <p:nvPicPr>
          <p:cNvPr id="4" name="Picture 3" descr="A planet earth with continents and water&#10;&#10;AI-generated content may be incorrect.">
            <a:extLst>
              <a:ext uri="{FF2B5EF4-FFF2-40B4-BE49-F238E27FC236}">
                <a16:creationId xmlns:a16="http://schemas.microsoft.com/office/drawing/2014/main" id="{0FB33CA6-7D4F-4CCB-E02F-259063E6028C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064305" y="3158058"/>
            <a:ext cx="461169" cy="42060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F388979-C116-86F9-E326-8A54D9430EAB}"/>
                  </a:ext>
                </a:extLst>
              </p:cNvPr>
              <p:cNvSpPr txBox="1"/>
              <p:nvPr/>
            </p:nvSpPr>
            <p:spPr>
              <a:xfrm>
                <a:off x="9421512" y="4194613"/>
                <a:ext cx="1071829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1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1.08⋅</m:t>
                    </m:r>
                    <m:sSup>
                      <m:sSupPr>
                        <m:ctrlPr>
                          <a:rPr lang="en-US" sz="11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1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lang="en-US" sz="1100" b="0">
                    <a:solidFill>
                      <a:srgbClr val="000000"/>
                    </a:solidFill>
                  </a:rPr>
                  <a:t> km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F388979-C116-86F9-E326-8A54D9430E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1512" y="4194613"/>
                <a:ext cx="1071829" cy="261610"/>
              </a:xfrm>
              <a:prstGeom prst="rect">
                <a:avLst/>
              </a:prstGeom>
              <a:blipFill>
                <a:blip r:embed="rId19"/>
                <a:stretch>
                  <a:fillRect t="-2326" b="-139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red planet with craters&#10;&#10;AI-generated content may be incorrect.">
            <a:extLst>
              <a:ext uri="{FF2B5EF4-FFF2-40B4-BE49-F238E27FC236}">
                <a16:creationId xmlns:a16="http://schemas.microsoft.com/office/drawing/2014/main" id="{DB0827A6-71C1-F119-4AE6-E9CFB682EFED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055943" y="3117808"/>
            <a:ext cx="469531" cy="469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8074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DF4C3-BC41-9247-AF98-85A2C13BA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owchart: Connector 1">
            <a:extLst>
              <a:ext uri="{FF2B5EF4-FFF2-40B4-BE49-F238E27FC236}">
                <a16:creationId xmlns:a16="http://schemas.microsoft.com/office/drawing/2014/main" id="{1430313F-A074-6CC5-E6D0-18272148563A}"/>
              </a:ext>
            </a:extLst>
          </p:cNvPr>
          <p:cNvSpPr>
            <a:spLocks noChangeAspect="1"/>
          </p:cNvSpPr>
          <p:nvPr/>
        </p:nvSpPr>
        <p:spPr>
          <a:xfrm>
            <a:off x="1382709" y="193749"/>
            <a:ext cx="9621254" cy="6545888"/>
          </a:xfrm>
          <a:prstGeom prst="flowChartConnector">
            <a:avLst/>
          </a:prstGeom>
          <a:noFill/>
          <a:ln>
            <a:solidFill>
              <a:srgbClr val="0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5" name="Isosceles Triangle 1094">
            <a:extLst>
              <a:ext uri="{FF2B5EF4-FFF2-40B4-BE49-F238E27FC236}">
                <a16:creationId xmlns:a16="http://schemas.microsoft.com/office/drawing/2014/main" id="{EEDD77F1-A5A6-3D1D-401B-41A2C6CE2A08}"/>
              </a:ext>
            </a:extLst>
          </p:cNvPr>
          <p:cNvSpPr/>
          <p:nvPr/>
        </p:nvSpPr>
        <p:spPr>
          <a:xfrm rot="16200000">
            <a:off x="828943" y="3148669"/>
            <a:ext cx="386930" cy="469532"/>
          </a:xfrm>
          <a:prstGeom prst="triangle">
            <a:avLst>
              <a:gd name="adj" fmla="val 47345"/>
            </a:avLst>
          </a:prstGeom>
          <a:solidFill>
            <a:schemeClr val="bg1">
              <a:lumMod val="50000"/>
            </a:schemeClr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6" name="Isosceles Triangle 1095">
            <a:extLst>
              <a:ext uri="{FF2B5EF4-FFF2-40B4-BE49-F238E27FC236}">
                <a16:creationId xmlns:a16="http://schemas.microsoft.com/office/drawing/2014/main" id="{74C52EB3-F638-70C6-41EE-DF2989A6AA2A}"/>
              </a:ext>
            </a:extLst>
          </p:cNvPr>
          <p:cNvSpPr/>
          <p:nvPr/>
        </p:nvSpPr>
        <p:spPr>
          <a:xfrm rot="2107888">
            <a:off x="1898698" y="979530"/>
            <a:ext cx="386930" cy="2526774"/>
          </a:xfrm>
          <a:prstGeom prst="triangle">
            <a:avLst>
              <a:gd name="adj" fmla="val 47345"/>
            </a:avLst>
          </a:prstGeom>
          <a:solidFill>
            <a:schemeClr val="bg1">
              <a:lumMod val="50000"/>
            </a:schemeClr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4" name="Isosceles Triangle 1093">
            <a:extLst>
              <a:ext uri="{FF2B5EF4-FFF2-40B4-BE49-F238E27FC236}">
                <a16:creationId xmlns:a16="http://schemas.microsoft.com/office/drawing/2014/main" id="{9B0C7677-813D-992A-6C0B-6D029C0BF761}"/>
              </a:ext>
            </a:extLst>
          </p:cNvPr>
          <p:cNvSpPr/>
          <p:nvPr/>
        </p:nvSpPr>
        <p:spPr>
          <a:xfrm rot="5400000">
            <a:off x="1718169" y="2977381"/>
            <a:ext cx="386930" cy="812108"/>
          </a:xfrm>
          <a:prstGeom prst="triangle">
            <a:avLst>
              <a:gd name="adj" fmla="val 47345"/>
            </a:avLst>
          </a:prstGeom>
          <a:solidFill>
            <a:schemeClr val="bg1">
              <a:lumMod val="50000"/>
            </a:schemeClr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7" name="Isosceles Triangle 1096">
            <a:extLst>
              <a:ext uri="{FF2B5EF4-FFF2-40B4-BE49-F238E27FC236}">
                <a16:creationId xmlns:a16="http://schemas.microsoft.com/office/drawing/2014/main" id="{8311C6DF-C676-6090-0932-51BE8974235B}"/>
              </a:ext>
            </a:extLst>
          </p:cNvPr>
          <p:cNvSpPr/>
          <p:nvPr/>
        </p:nvSpPr>
        <p:spPr>
          <a:xfrm rot="8950148">
            <a:off x="1870687" y="3282488"/>
            <a:ext cx="450308" cy="2669074"/>
          </a:xfrm>
          <a:prstGeom prst="triangle">
            <a:avLst>
              <a:gd name="adj" fmla="val 47345"/>
            </a:avLst>
          </a:prstGeom>
          <a:solidFill>
            <a:schemeClr val="bg1">
              <a:lumMod val="50000"/>
            </a:schemeClr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lowchart: Connector 17">
            <a:extLst>
              <a:ext uri="{FF2B5EF4-FFF2-40B4-BE49-F238E27FC236}">
                <a16:creationId xmlns:a16="http://schemas.microsoft.com/office/drawing/2014/main" id="{65DD7673-877B-0664-3C89-AA3D8D9BD644}"/>
              </a:ext>
            </a:extLst>
          </p:cNvPr>
          <p:cNvSpPr>
            <a:spLocks noChangeAspect="1"/>
          </p:cNvSpPr>
          <p:nvPr/>
        </p:nvSpPr>
        <p:spPr>
          <a:xfrm>
            <a:off x="3065751" y="1370410"/>
            <a:ext cx="6148842" cy="4192566"/>
          </a:xfrm>
          <a:prstGeom prst="flowChartConnector">
            <a:avLst/>
          </a:prstGeom>
          <a:noFill/>
          <a:ln>
            <a:solidFill>
              <a:srgbClr val="0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Isosceles Triangle 47">
            <a:extLst>
              <a:ext uri="{FF2B5EF4-FFF2-40B4-BE49-F238E27FC236}">
                <a16:creationId xmlns:a16="http://schemas.microsoft.com/office/drawing/2014/main" id="{3E1C3539-BEC9-E414-8E92-BD26A72FE51C}"/>
              </a:ext>
            </a:extLst>
          </p:cNvPr>
          <p:cNvSpPr/>
          <p:nvPr/>
        </p:nvSpPr>
        <p:spPr>
          <a:xfrm rot="14079811">
            <a:off x="8671456" y="3301161"/>
            <a:ext cx="386930" cy="762290"/>
          </a:xfrm>
          <a:prstGeom prst="triangle">
            <a:avLst>
              <a:gd name="adj" fmla="val 47345"/>
            </a:avLst>
          </a:prstGeom>
          <a:solidFill>
            <a:schemeClr val="bg1">
              <a:lumMod val="50000"/>
            </a:schemeClr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013C8B10-CF5D-0069-AB69-D653E7F229C0}"/>
              </a:ext>
            </a:extLst>
          </p:cNvPr>
          <p:cNvSpPr/>
          <p:nvPr/>
        </p:nvSpPr>
        <p:spPr>
          <a:xfrm rot="20615375">
            <a:off x="8892742" y="2666519"/>
            <a:ext cx="386930" cy="704419"/>
          </a:xfrm>
          <a:prstGeom prst="triangle">
            <a:avLst>
              <a:gd name="adj" fmla="val 47345"/>
            </a:avLst>
          </a:prstGeom>
          <a:solidFill>
            <a:schemeClr val="bg1">
              <a:lumMod val="50000"/>
            </a:schemeClr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Isosceles Triangle 44">
            <a:extLst>
              <a:ext uri="{FF2B5EF4-FFF2-40B4-BE49-F238E27FC236}">
                <a16:creationId xmlns:a16="http://schemas.microsoft.com/office/drawing/2014/main" id="{BBBFF62A-E4DE-C07D-6BFC-0BCCC5B99FF7}"/>
              </a:ext>
            </a:extLst>
          </p:cNvPr>
          <p:cNvSpPr/>
          <p:nvPr/>
        </p:nvSpPr>
        <p:spPr>
          <a:xfrm rot="5742098">
            <a:off x="9447764" y="3141600"/>
            <a:ext cx="386930" cy="705884"/>
          </a:xfrm>
          <a:prstGeom prst="triangle">
            <a:avLst>
              <a:gd name="adj" fmla="val 47345"/>
            </a:avLst>
          </a:prstGeom>
          <a:solidFill>
            <a:schemeClr val="bg1">
              <a:lumMod val="50000"/>
            </a:schemeClr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3" name="Picture 2" descr="A close up of a planet&#10;&#10;AI-generated content may be incorrect.">
            <a:extLst>
              <a:ext uri="{FF2B5EF4-FFF2-40B4-BE49-F238E27FC236}">
                <a16:creationId xmlns:a16="http://schemas.microsoft.com/office/drawing/2014/main" id="{B7A98D9E-095F-30BD-3E68-EF6D76D08D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7193" y="2452815"/>
            <a:ext cx="3272851" cy="1842821"/>
          </a:xfrm>
          <a:prstGeom prst="rect">
            <a:avLst/>
          </a:prstGeom>
        </p:spPr>
      </p:pic>
      <p:pic>
        <p:nvPicPr>
          <p:cNvPr id="6" name="Picture 5" descr="A planet earth with continents and water&#10;&#10;AI-generated content may be incorrect.">
            <a:extLst>
              <a:ext uri="{FF2B5EF4-FFF2-40B4-BE49-F238E27FC236}">
                <a16:creationId xmlns:a16="http://schemas.microsoft.com/office/drawing/2014/main" id="{A5210A47-C71C-AE2F-C4C1-B53213DBB8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4008" y="3232881"/>
            <a:ext cx="461169" cy="420607"/>
          </a:xfrm>
          <a:prstGeom prst="rect">
            <a:avLst/>
          </a:prstGeom>
        </p:spPr>
      </p:pic>
      <p:pic>
        <p:nvPicPr>
          <p:cNvPr id="7" name="Picture 6" descr="A red planet with craters&#10;&#10;AI-generated content may be incorrect.">
            <a:extLst>
              <a:ext uri="{FF2B5EF4-FFF2-40B4-BE49-F238E27FC236}">
                <a16:creationId xmlns:a16="http://schemas.microsoft.com/office/drawing/2014/main" id="{F83B1052-4D1C-A20D-C9F7-914EBAF5C7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353" y="3150784"/>
            <a:ext cx="469531" cy="469531"/>
          </a:xfrm>
          <a:prstGeom prst="rect">
            <a:avLst/>
          </a:prstGeom>
        </p:spPr>
      </p:pic>
      <p:pic>
        <p:nvPicPr>
          <p:cNvPr id="12" name="Graphic 11" descr="Satellite with solid fill">
            <a:extLst>
              <a:ext uri="{FF2B5EF4-FFF2-40B4-BE49-F238E27FC236}">
                <a16:creationId xmlns:a16="http://schemas.microsoft.com/office/drawing/2014/main" id="{1DC2C6AB-A93A-F5B2-7E45-B2E96C0D81C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3920" y="3232881"/>
            <a:ext cx="304393" cy="304393"/>
          </a:xfrm>
          <a:prstGeom prst="rect">
            <a:avLst/>
          </a:prstGeom>
        </p:spPr>
      </p:pic>
      <p:pic>
        <p:nvPicPr>
          <p:cNvPr id="15" name="Graphic 14" descr="Satellite with solid fill">
            <a:extLst>
              <a:ext uri="{FF2B5EF4-FFF2-40B4-BE49-F238E27FC236}">
                <a16:creationId xmlns:a16="http://schemas.microsoft.com/office/drawing/2014/main" id="{9C5D3E2C-D138-66BB-85AB-447650952E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323728" y="3220404"/>
            <a:ext cx="304393" cy="304393"/>
          </a:xfrm>
          <a:prstGeom prst="rect">
            <a:avLst/>
          </a:prstGeom>
        </p:spPr>
      </p:pic>
      <p:pic>
        <p:nvPicPr>
          <p:cNvPr id="17" name="Graphic 16" descr="Satellite with solid fill">
            <a:extLst>
              <a:ext uri="{FF2B5EF4-FFF2-40B4-BE49-F238E27FC236}">
                <a16:creationId xmlns:a16="http://schemas.microsoft.com/office/drawing/2014/main" id="{C56D49BF-DD3D-307A-432B-983E08D12B3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61358" y="892336"/>
            <a:ext cx="304393" cy="304393"/>
          </a:xfrm>
          <a:prstGeom prst="rect">
            <a:avLst/>
          </a:prstGeom>
        </p:spPr>
      </p:pic>
      <p:pic>
        <p:nvPicPr>
          <p:cNvPr id="23" name="Graphic 22" descr="Satellite with solid fill">
            <a:extLst>
              <a:ext uri="{FF2B5EF4-FFF2-40B4-BE49-F238E27FC236}">
                <a16:creationId xmlns:a16="http://schemas.microsoft.com/office/drawing/2014/main" id="{45B53E64-C4A4-2068-F21F-E33C9A3D8E8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61357" y="5683562"/>
            <a:ext cx="304393" cy="304393"/>
          </a:xfrm>
          <a:prstGeom prst="rect">
            <a:avLst/>
          </a:prstGeom>
        </p:spPr>
      </p:pic>
      <p:pic>
        <p:nvPicPr>
          <p:cNvPr id="24" name="Graphic 23" descr="Satellite with solid fill">
            <a:extLst>
              <a:ext uri="{FF2B5EF4-FFF2-40B4-BE49-F238E27FC236}">
                <a16:creationId xmlns:a16="http://schemas.microsoft.com/office/drawing/2014/main" id="{E47DBB37-8902-FD01-E5CA-81BDC277D9E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07171" y="3232881"/>
            <a:ext cx="304393" cy="304393"/>
          </a:xfrm>
          <a:prstGeom prst="rect">
            <a:avLst/>
          </a:prstGeom>
        </p:spPr>
      </p:pic>
      <p:pic>
        <p:nvPicPr>
          <p:cNvPr id="27" name="Graphic 26" descr="Satellite with solid fill">
            <a:extLst>
              <a:ext uri="{FF2B5EF4-FFF2-40B4-BE49-F238E27FC236}">
                <a16:creationId xmlns:a16="http://schemas.microsoft.com/office/drawing/2014/main" id="{68B63B78-CF8E-69DC-5E51-EC51D40E580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89233" y="1383105"/>
            <a:ext cx="304393" cy="304393"/>
          </a:xfrm>
          <a:prstGeom prst="rect">
            <a:avLst/>
          </a:prstGeom>
        </p:spPr>
      </p:pic>
      <p:pic>
        <p:nvPicPr>
          <p:cNvPr id="28" name="Graphic 27" descr="Satellite with solid fill">
            <a:extLst>
              <a:ext uri="{FF2B5EF4-FFF2-40B4-BE49-F238E27FC236}">
                <a16:creationId xmlns:a16="http://schemas.microsoft.com/office/drawing/2014/main" id="{4A62D3BF-E80F-F20C-7A7E-AFC284F702F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08855" y="5238032"/>
            <a:ext cx="304393" cy="304393"/>
          </a:xfrm>
          <a:prstGeom prst="rect">
            <a:avLst/>
          </a:prstGeom>
        </p:spPr>
      </p:pic>
      <p:pic>
        <p:nvPicPr>
          <p:cNvPr id="30" name="Graphic 29" descr="Satellite with solid fill">
            <a:extLst>
              <a:ext uri="{FF2B5EF4-FFF2-40B4-BE49-F238E27FC236}">
                <a16:creationId xmlns:a16="http://schemas.microsoft.com/office/drawing/2014/main" id="{499EB84C-84A4-BF2F-5D03-B7F655F3B97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382027" y="3232881"/>
            <a:ext cx="304393" cy="304393"/>
          </a:xfrm>
          <a:prstGeom prst="rect">
            <a:avLst/>
          </a:prstGeom>
        </p:spPr>
      </p:pic>
      <p:sp>
        <p:nvSpPr>
          <p:cNvPr id="32" name="Flowchart: Connector 31">
            <a:extLst>
              <a:ext uri="{FF2B5EF4-FFF2-40B4-BE49-F238E27FC236}">
                <a16:creationId xmlns:a16="http://schemas.microsoft.com/office/drawing/2014/main" id="{BA1C9735-4953-2009-73F4-4FDFD1C5ED1E}"/>
              </a:ext>
            </a:extLst>
          </p:cNvPr>
          <p:cNvSpPr>
            <a:spLocks noChangeAspect="1"/>
          </p:cNvSpPr>
          <p:nvPr/>
        </p:nvSpPr>
        <p:spPr>
          <a:xfrm>
            <a:off x="8350926" y="2658687"/>
            <a:ext cx="1662844" cy="1540626"/>
          </a:xfrm>
          <a:prstGeom prst="flowChartConnector">
            <a:avLst/>
          </a:prstGeom>
          <a:noFill/>
          <a:ln w="12700">
            <a:solidFill>
              <a:srgbClr val="0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Picture 32" descr="A close up of a planet&#10;&#10;AI-generated content may be incorrect.">
            <a:extLst>
              <a:ext uri="{FF2B5EF4-FFF2-40B4-BE49-F238E27FC236}">
                <a16:creationId xmlns:a16="http://schemas.microsoft.com/office/drawing/2014/main" id="{963E2018-A195-CAA6-4B66-EF4753DADC8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05068" y="2704159"/>
            <a:ext cx="294309" cy="196206"/>
          </a:xfrm>
          <a:prstGeom prst="rect">
            <a:avLst/>
          </a:prstGeom>
        </p:spPr>
      </p:pic>
      <p:pic>
        <p:nvPicPr>
          <p:cNvPr id="36" name="Graphic 35" descr="Satellite outline">
            <a:extLst>
              <a:ext uri="{FF2B5EF4-FFF2-40B4-BE49-F238E27FC236}">
                <a16:creationId xmlns:a16="http://schemas.microsoft.com/office/drawing/2014/main" id="{AB83A13E-7609-03BF-25CD-9D676B16945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370335" y="3771002"/>
            <a:ext cx="304393" cy="304393"/>
          </a:xfrm>
          <a:prstGeom prst="rect">
            <a:avLst/>
          </a:prstGeom>
        </p:spPr>
      </p:pic>
      <p:pic>
        <p:nvPicPr>
          <p:cNvPr id="37" name="Graphic 36" descr="Satellite outline">
            <a:extLst>
              <a:ext uri="{FF2B5EF4-FFF2-40B4-BE49-F238E27FC236}">
                <a16:creationId xmlns:a16="http://schemas.microsoft.com/office/drawing/2014/main" id="{538FAF11-416A-1B08-B7C6-86D7D861EAD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861573" y="3334039"/>
            <a:ext cx="304393" cy="304393"/>
          </a:xfrm>
          <a:prstGeom prst="rect">
            <a:avLst/>
          </a:prstGeom>
        </p:spPr>
      </p:pic>
      <p:pic>
        <p:nvPicPr>
          <p:cNvPr id="43" name="Graphic 42" descr="Satellite outline">
            <a:extLst>
              <a:ext uri="{FF2B5EF4-FFF2-40B4-BE49-F238E27FC236}">
                <a16:creationId xmlns:a16="http://schemas.microsoft.com/office/drawing/2014/main" id="{B8E17C79-39CC-A6F5-8D67-0DCC1B6E402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831811" y="2567495"/>
            <a:ext cx="304393" cy="30439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0A32077C-706F-69C8-94D2-A980A59770C4}"/>
                  </a:ext>
                </a:extLst>
              </p:cNvPr>
              <p:cNvSpPr txBox="1"/>
              <p:nvPr/>
            </p:nvSpPr>
            <p:spPr>
              <a:xfrm>
                <a:off x="7177088" y="1106106"/>
                <a:ext cx="29488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0A32077C-706F-69C8-94D2-A980A59770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7088" y="1106106"/>
                <a:ext cx="294889" cy="276999"/>
              </a:xfrm>
              <a:prstGeom prst="rect">
                <a:avLst/>
              </a:prstGeom>
              <a:blipFill>
                <a:blip r:embed="rId12"/>
                <a:stretch>
                  <a:fillRect l="-16327" r="-2041"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F2ED70E9-FEA8-55E1-31BD-2EC76B84BD22}"/>
                  </a:ext>
                </a:extLst>
              </p:cNvPr>
              <p:cNvSpPr txBox="1"/>
              <p:nvPr/>
            </p:nvSpPr>
            <p:spPr>
              <a:xfrm>
                <a:off x="7265803" y="5574277"/>
                <a:ext cx="29488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F2ED70E9-FEA8-55E1-31BD-2EC76B84BD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5803" y="5574277"/>
                <a:ext cx="294888" cy="276999"/>
              </a:xfrm>
              <a:prstGeom prst="rect">
                <a:avLst/>
              </a:prstGeom>
              <a:blipFill>
                <a:blip r:embed="rId13"/>
                <a:stretch>
                  <a:fillRect l="-18750" r="-4167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5549C437-B38C-F729-8967-8279113B6E0A}"/>
                  </a:ext>
                </a:extLst>
              </p:cNvPr>
              <p:cNvSpPr txBox="1"/>
              <p:nvPr/>
            </p:nvSpPr>
            <p:spPr>
              <a:xfrm>
                <a:off x="7602294" y="3244935"/>
                <a:ext cx="28956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5549C437-B38C-F729-8967-8279113B6E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2294" y="3244935"/>
                <a:ext cx="289566" cy="276999"/>
              </a:xfrm>
              <a:prstGeom prst="rect">
                <a:avLst/>
              </a:prstGeom>
              <a:blipFill>
                <a:blip r:embed="rId14"/>
                <a:stretch>
                  <a:fillRect l="-16667" r="-2083"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94D631EE-EF87-03A3-83A2-AE5C54DB3420}"/>
                  </a:ext>
                </a:extLst>
              </p:cNvPr>
              <p:cNvSpPr txBox="1"/>
              <p:nvPr/>
            </p:nvSpPr>
            <p:spPr>
              <a:xfrm>
                <a:off x="10714397" y="3234100"/>
                <a:ext cx="29488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94D631EE-EF87-03A3-83A2-AE5C54DB34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14397" y="3234100"/>
                <a:ext cx="294888" cy="276999"/>
              </a:xfrm>
              <a:prstGeom prst="rect">
                <a:avLst/>
              </a:prstGeom>
              <a:blipFill>
                <a:blip r:embed="rId15"/>
                <a:stretch>
                  <a:fillRect l="-18750" r="-4167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154BF830-4905-E131-63B6-73E625F77943}"/>
                  </a:ext>
                </a:extLst>
              </p:cNvPr>
              <p:cNvSpPr txBox="1"/>
              <p:nvPr/>
            </p:nvSpPr>
            <p:spPr>
              <a:xfrm>
                <a:off x="9988814" y="3567002"/>
                <a:ext cx="29488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154BF830-4905-E131-63B6-73E625F779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8814" y="3567002"/>
                <a:ext cx="294888" cy="276999"/>
              </a:xfrm>
              <a:prstGeom prst="rect">
                <a:avLst/>
              </a:prstGeom>
              <a:blipFill>
                <a:blip r:embed="rId16"/>
                <a:stretch>
                  <a:fillRect l="-18750" r="-4167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467C1333-51D3-FE88-28B6-42F4B8EB167F}"/>
                  </a:ext>
                </a:extLst>
              </p:cNvPr>
              <p:cNvSpPr txBox="1"/>
              <p:nvPr/>
            </p:nvSpPr>
            <p:spPr>
              <a:xfrm>
                <a:off x="8531601" y="2427160"/>
                <a:ext cx="29488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467C1333-51D3-FE88-28B6-42F4B8EB16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1601" y="2427160"/>
                <a:ext cx="294888" cy="276999"/>
              </a:xfrm>
              <a:prstGeom prst="rect">
                <a:avLst/>
              </a:prstGeom>
              <a:blipFill>
                <a:blip r:embed="rId17"/>
                <a:stretch>
                  <a:fillRect l="-18750" r="-4167"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25" name="TextBox 1024">
                <a:extLst>
                  <a:ext uri="{FF2B5EF4-FFF2-40B4-BE49-F238E27FC236}">
                    <a16:creationId xmlns:a16="http://schemas.microsoft.com/office/drawing/2014/main" id="{89A90024-4BC5-A887-DCF0-2405544C0CCC}"/>
                  </a:ext>
                </a:extLst>
              </p:cNvPr>
              <p:cNvSpPr txBox="1"/>
              <p:nvPr/>
            </p:nvSpPr>
            <p:spPr>
              <a:xfrm>
                <a:off x="8352234" y="4062700"/>
                <a:ext cx="29488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025" name="TextBox 1024">
                <a:extLst>
                  <a:ext uri="{FF2B5EF4-FFF2-40B4-BE49-F238E27FC236}">
                    <a16:creationId xmlns:a16="http://schemas.microsoft.com/office/drawing/2014/main" id="{89A90024-4BC5-A887-DCF0-2405544C0C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2234" y="4062700"/>
                <a:ext cx="294888" cy="276999"/>
              </a:xfrm>
              <a:prstGeom prst="rect">
                <a:avLst/>
              </a:prstGeom>
              <a:blipFill>
                <a:blip r:embed="rId18"/>
                <a:stretch>
                  <a:fillRect l="-16667" r="-4167"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27" name="Straight Arrow Connector 1026">
            <a:extLst>
              <a:ext uri="{FF2B5EF4-FFF2-40B4-BE49-F238E27FC236}">
                <a16:creationId xmlns:a16="http://schemas.microsoft.com/office/drawing/2014/main" id="{041F9B09-CE38-B47D-C356-E5422C2A861B}"/>
              </a:ext>
            </a:extLst>
          </p:cNvPr>
          <p:cNvCxnSpPr>
            <a:cxnSpLocks/>
            <a:endCxn id="2" idx="1"/>
          </p:cNvCxnSpPr>
          <p:nvPr/>
        </p:nvCxnSpPr>
        <p:spPr>
          <a:xfrm flipV="1">
            <a:off x="606116" y="1152372"/>
            <a:ext cx="2185593" cy="2068032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1" name="Straight Arrow Connector 1030">
            <a:extLst>
              <a:ext uri="{FF2B5EF4-FFF2-40B4-BE49-F238E27FC236}">
                <a16:creationId xmlns:a16="http://schemas.microsoft.com/office/drawing/2014/main" id="{B522BB32-D63D-1DEB-98B6-D5CE6F30058D}"/>
              </a:ext>
            </a:extLst>
          </p:cNvPr>
          <p:cNvCxnSpPr>
            <a:endCxn id="2" idx="3"/>
          </p:cNvCxnSpPr>
          <p:nvPr/>
        </p:nvCxnSpPr>
        <p:spPr>
          <a:xfrm>
            <a:off x="606116" y="3567002"/>
            <a:ext cx="2185593" cy="2214012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3" name="Straight Arrow Connector 1032">
            <a:extLst>
              <a:ext uri="{FF2B5EF4-FFF2-40B4-BE49-F238E27FC236}">
                <a16:creationId xmlns:a16="http://schemas.microsoft.com/office/drawing/2014/main" id="{37839C2B-DB64-0206-9D55-4ECD52746550}"/>
              </a:ext>
            </a:extLst>
          </p:cNvPr>
          <p:cNvCxnSpPr>
            <a:cxnSpLocks/>
            <a:stCxn id="15" idx="2"/>
            <a:endCxn id="23" idx="0"/>
          </p:cNvCxnSpPr>
          <p:nvPr/>
        </p:nvCxnSpPr>
        <p:spPr>
          <a:xfrm>
            <a:off x="2475925" y="3524797"/>
            <a:ext cx="437629" cy="2158765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2" name="Straight Arrow Connector 1041">
            <a:extLst>
              <a:ext uri="{FF2B5EF4-FFF2-40B4-BE49-F238E27FC236}">
                <a16:creationId xmlns:a16="http://schemas.microsoft.com/office/drawing/2014/main" id="{B96ED288-B394-E09B-31B9-8C923F21929A}"/>
              </a:ext>
            </a:extLst>
          </p:cNvPr>
          <p:cNvCxnSpPr>
            <a:cxnSpLocks/>
            <a:stCxn id="17" idx="2"/>
            <a:endCxn id="15" idx="0"/>
          </p:cNvCxnSpPr>
          <p:nvPr/>
        </p:nvCxnSpPr>
        <p:spPr>
          <a:xfrm flipH="1">
            <a:off x="2475925" y="1196729"/>
            <a:ext cx="437630" cy="2023675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3" name="Straight Arrow Connector 1052">
            <a:extLst>
              <a:ext uri="{FF2B5EF4-FFF2-40B4-BE49-F238E27FC236}">
                <a16:creationId xmlns:a16="http://schemas.microsoft.com/office/drawing/2014/main" id="{326C7EE9-2EA6-09A5-B42F-5A2DE63A47A0}"/>
              </a:ext>
            </a:extLst>
          </p:cNvPr>
          <p:cNvCxnSpPr>
            <a:cxnSpLocks/>
          </p:cNvCxnSpPr>
          <p:nvPr/>
        </p:nvCxnSpPr>
        <p:spPr>
          <a:xfrm>
            <a:off x="7241429" y="1662097"/>
            <a:ext cx="817939" cy="154538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6" name="Straight Arrow Connector 1055">
            <a:extLst>
              <a:ext uri="{FF2B5EF4-FFF2-40B4-BE49-F238E27FC236}">
                <a16:creationId xmlns:a16="http://schemas.microsoft.com/office/drawing/2014/main" id="{EE69B60D-4530-5F0A-3721-9C686FC7BCD5}"/>
              </a:ext>
            </a:extLst>
          </p:cNvPr>
          <p:cNvCxnSpPr>
            <a:endCxn id="28" idx="0"/>
          </p:cNvCxnSpPr>
          <p:nvPr/>
        </p:nvCxnSpPr>
        <p:spPr>
          <a:xfrm flipH="1">
            <a:off x="7261052" y="3537274"/>
            <a:ext cx="798315" cy="170075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7" name="Straight Arrow Connector 1056">
            <a:extLst>
              <a:ext uri="{FF2B5EF4-FFF2-40B4-BE49-F238E27FC236}">
                <a16:creationId xmlns:a16="http://schemas.microsoft.com/office/drawing/2014/main" id="{6C10A621-5699-11DF-1E3A-8F5FF4695914}"/>
              </a:ext>
            </a:extLst>
          </p:cNvPr>
          <p:cNvCxnSpPr>
            <a:cxnSpLocks/>
            <a:endCxn id="23" idx="3"/>
          </p:cNvCxnSpPr>
          <p:nvPr/>
        </p:nvCxnSpPr>
        <p:spPr>
          <a:xfrm flipH="1">
            <a:off x="3065750" y="1076143"/>
            <a:ext cx="1308" cy="4759616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2" name="Straight Arrow Connector 1061">
            <a:extLst>
              <a:ext uri="{FF2B5EF4-FFF2-40B4-BE49-F238E27FC236}">
                <a16:creationId xmlns:a16="http://schemas.microsoft.com/office/drawing/2014/main" id="{73F1F8DF-133A-AFFE-C3BD-BA6D5A139A60}"/>
              </a:ext>
            </a:extLst>
          </p:cNvPr>
          <p:cNvCxnSpPr>
            <a:cxnSpLocks/>
            <a:endCxn id="28" idx="1"/>
          </p:cNvCxnSpPr>
          <p:nvPr/>
        </p:nvCxnSpPr>
        <p:spPr>
          <a:xfrm>
            <a:off x="7101880" y="1503137"/>
            <a:ext cx="6975" cy="388709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2" name="Straight Arrow Connector 1071">
            <a:extLst>
              <a:ext uri="{FF2B5EF4-FFF2-40B4-BE49-F238E27FC236}">
                <a16:creationId xmlns:a16="http://schemas.microsoft.com/office/drawing/2014/main" id="{2A83FFF1-2C16-4734-E605-CB8D53DDCEB1}"/>
              </a:ext>
            </a:extLst>
          </p:cNvPr>
          <p:cNvCxnSpPr>
            <a:cxnSpLocks/>
            <a:stCxn id="30" idx="1"/>
            <a:endCxn id="28" idx="3"/>
          </p:cNvCxnSpPr>
          <p:nvPr/>
        </p:nvCxnSpPr>
        <p:spPr>
          <a:xfrm flipH="1">
            <a:off x="7413248" y="3385078"/>
            <a:ext cx="2968779" cy="200515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4" name="Straight Arrow Connector 1073">
            <a:extLst>
              <a:ext uri="{FF2B5EF4-FFF2-40B4-BE49-F238E27FC236}">
                <a16:creationId xmlns:a16="http://schemas.microsoft.com/office/drawing/2014/main" id="{DA000AAF-E967-F868-51CD-416419BC34C7}"/>
              </a:ext>
            </a:extLst>
          </p:cNvPr>
          <p:cNvCxnSpPr>
            <a:cxnSpLocks/>
            <a:stCxn id="30" idx="1"/>
          </p:cNvCxnSpPr>
          <p:nvPr/>
        </p:nvCxnSpPr>
        <p:spPr>
          <a:xfrm flipH="1" flipV="1">
            <a:off x="7413247" y="1564580"/>
            <a:ext cx="2968780" cy="182049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2" name="Straight Arrow Connector 1081">
            <a:extLst>
              <a:ext uri="{FF2B5EF4-FFF2-40B4-BE49-F238E27FC236}">
                <a16:creationId xmlns:a16="http://schemas.microsoft.com/office/drawing/2014/main" id="{408640DA-E3C4-D4FC-8C5D-A47981242D12}"/>
              </a:ext>
            </a:extLst>
          </p:cNvPr>
          <p:cNvCxnSpPr>
            <a:cxnSpLocks/>
          </p:cNvCxnSpPr>
          <p:nvPr/>
        </p:nvCxnSpPr>
        <p:spPr>
          <a:xfrm flipH="1" flipV="1">
            <a:off x="3065750" y="1044532"/>
            <a:ext cx="4043105" cy="416501"/>
          </a:xfrm>
          <a:prstGeom prst="straightConnector1">
            <a:avLst/>
          </a:prstGeom>
          <a:ln>
            <a:solidFill>
              <a:srgbClr val="00B05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5" name="Straight Arrow Connector 1084">
            <a:extLst>
              <a:ext uri="{FF2B5EF4-FFF2-40B4-BE49-F238E27FC236}">
                <a16:creationId xmlns:a16="http://schemas.microsoft.com/office/drawing/2014/main" id="{0AE40CFD-2424-1713-B2BE-4C60390F1EB8}"/>
              </a:ext>
            </a:extLst>
          </p:cNvPr>
          <p:cNvCxnSpPr>
            <a:cxnSpLocks/>
          </p:cNvCxnSpPr>
          <p:nvPr/>
        </p:nvCxnSpPr>
        <p:spPr>
          <a:xfrm flipH="1">
            <a:off x="3046127" y="5453287"/>
            <a:ext cx="4094512" cy="382472"/>
          </a:xfrm>
          <a:prstGeom prst="straightConnector1">
            <a:avLst/>
          </a:prstGeom>
          <a:ln>
            <a:solidFill>
              <a:srgbClr val="00B05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8" name="Straight Arrow Connector 1087">
            <a:extLst>
              <a:ext uri="{FF2B5EF4-FFF2-40B4-BE49-F238E27FC236}">
                <a16:creationId xmlns:a16="http://schemas.microsoft.com/office/drawing/2014/main" id="{9E4C3D3E-85C8-8DFD-B3FC-B02E46BA34C9}"/>
              </a:ext>
            </a:extLst>
          </p:cNvPr>
          <p:cNvCxnSpPr>
            <a:cxnSpLocks/>
            <a:endCxn id="15" idx="3"/>
          </p:cNvCxnSpPr>
          <p:nvPr/>
        </p:nvCxnSpPr>
        <p:spPr>
          <a:xfrm flipH="1" flipV="1">
            <a:off x="2628121" y="3372601"/>
            <a:ext cx="4406736" cy="2043708"/>
          </a:xfrm>
          <a:prstGeom prst="straightConnector1">
            <a:avLst/>
          </a:prstGeom>
          <a:ln>
            <a:solidFill>
              <a:srgbClr val="00B05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1" name="Straight Arrow Connector 1090">
            <a:extLst>
              <a:ext uri="{FF2B5EF4-FFF2-40B4-BE49-F238E27FC236}">
                <a16:creationId xmlns:a16="http://schemas.microsoft.com/office/drawing/2014/main" id="{CCF3B2E8-3F64-9810-7B80-94CF2FEAE97C}"/>
              </a:ext>
            </a:extLst>
          </p:cNvPr>
          <p:cNvCxnSpPr>
            <a:cxnSpLocks/>
            <a:stCxn id="27" idx="1"/>
          </p:cNvCxnSpPr>
          <p:nvPr/>
        </p:nvCxnSpPr>
        <p:spPr>
          <a:xfrm flipH="1">
            <a:off x="2643432" y="1535302"/>
            <a:ext cx="4445801" cy="1848132"/>
          </a:xfrm>
          <a:prstGeom prst="straightConnector1">
            <a:avLst/>
          </a:prstGeom>
          <a:ln>
            <a:solidFill>
              <a:srgbClr val="00B05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98" name="TextBox 1097">
                <a:extLst>
                  <a:ext uri="{FF2B5EF4-FFF2-40B4-BE49-F238E27FC236}">
                    <a16:creationId xmlns:a16="http://schemas.microsoft.com/office/drawing/2014/main" id="{543FDE81-D0EE-489A-C2AA-7162C1865F54}"/>
                  </a:ext>
                </a:extLst>
              </p:cNvPr>
              <p:cNvSpPr txBox="1"/>
              <p:nvPr/>
            </p:nvSpPr>
            <p:spPr>
              <a:xfrm>
                <a:off x="2761357" y="580538"/>
                <a:ext cx="29488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098" name="TextBox 1097">
                <a:extLst>
                  <a:ext uri="{FF2B5EF4-FFF2-40B4-BE49-F238E27FC236}">
                    <a16:creationId xmlns:a16="http://schemas.microsoft.com/office/drawing/2014/main" id="{543FDE81-D0EE-489A-C2AA-7162C1865F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1357" y="580538"/>
                <a:ext cx="294889" cy="276999"/>
              </a:xfrm>
              <a:prstGeom prst="rect">
                <a:avLst/>
              </a:prstGeom>
              <a:blipFill>
                <a:blip r:embed="rId19"/>
                <a:stretch>
                  <a:fillRect l="-18750" r="-4167"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99" name="TextBox 1098">
                <a:extLst>
                  <a:ext uri="{FF2B5EF4-FFF2-40B4-BE49-F238E27FC236}">
                    <a16:creationId xmlns:a16="http://schemas.microsoft.com/office/drawing/2014/main" id="{2B69CDA0-83B3-449F-CE84-B907423104EC}"/>
                  </a:ext>
                </a:extLst>
              </p:cNvPr>
              <p:cNvSpPr txBox="1"/>
              <p:nvPr/>
            </p:nvSpPr>
            <p:spPr>
              <a:xfrm>
                <a:off x="2756035" y="5950815"/>
                <a:ext cx="29488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099" name="TextBox 1098">
                <a:extLst>
                  <a:ext uri="{FF2B5EF4-FFF2-40B4-BE49-F238E27FC236}">
                    <a16:creationId xmlns:a16="http://schemas.microsoft.com/office/drawing/2014/main" id="{2B69CDA0-83B3-449F-CE84-B907423104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6035" y="5950815"/>
                <a:ext cx="294888" cy="276999"/>
              </a:xfrm>
              <a:prstGeom prst="rect">
                <a:avLst/>
              </a:prstGeom>
              <a:blipFill>
                <a:blip r:embed="rId20"/>
                <a:stretch>
                  <a:fillRect l="-16667" r="-6250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00" name="TextBox 1099">
                <a:extLst>
                  <a:ext uri="{FF2B5EF4-FFF2-40B4-BE49-F238E27FC236}">
                    <a16:creationId xmlns:a16="http://schemas.microsoft.com/office/drawing/2014/main" id="{D844474E-87CC-8D90-ACD2-C56A689762B9}"/>
                  </a:ext>
                </a:extLst>
              </p:cNvPr>
              <p:cNvSpPr txBox="1"/>
              <p:nvPr/>
            </p:nvSpPr>
            <p:spPr>
              <a:xfrm>
                <a:off x="2114455" y="2953683"/>
                <a:ext cx="28956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100" name="TextBox 1099">
                <a:extLst>
                  <a:ext uri="{FF2B5EF4-FFF2-40B4-BE49-F238E27FC236}">
                    <a16:creationId xmlns:a16="http://schemas.microsoft.com/office/drawing/2014/main" id="{D844474E-87CC-8D90-ACD2-C56A689762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4455" y="2953683"/>
                <a:ext cx="289566" cy="276999"/>
              </a:xfrm>
              <a:prstGeom prst="rect">
                <a:avLst/>
              </a:prstGeom>
              <a:blipFill>
                <a:blip r:embed="rId21"/>
                <a:stretch>
                  <a:fillRect l="-19149" r="-4255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01" name="TextBox 1100">
                <a:extLst>
                  <a:ext uri="{FF2B5EF4-FFF2-40B4-BE49-F238E27FC236}">
                    <a16:creationId xmlns:a16="http://schemas.microsoft.com/office/drawing/2014/main" id="{6A456BEB-4BA8-8D7F-B47C-AB50E77231B5}"/>
                  </a:ext>
                </a:extLst>
              </p:cNvPr>
              <p:cNvSpPr txBox="1"/>
              <p:nvPr/>
            </p:nvSpPr>
            <p:spPr>
              <a:xfrm>
                <a:off x="199411" y="3189970"/>
                <a:ext cx="29488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101" name="TextBox 1100">
                <a:extLst>
                  <a:ext uri="{FF2B5EF4-FFF2-40B4-BE49-F238E27FC236}">
                    <a16:creationId xmlns:a16="http://schemas.microsoft.com/office/drawing/2014/main" id="{6A456BEB-4BA8-8D7F-B47C-AB50E77231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411" y="3189970"/>
                <a:ext cx="294888" cy="276999"/>
              </a:xfrm>
              <a:prstGeom prst="rect">
                <a:avLst/>
              </a:prstGeom>
              <a:blipFill>
                <a:blip r:embed="rId22"/>
                <a:stretch>
                  <a:fillRect l="-18750" r="-4167"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02" name="Rectangle 1101">
            <a:extLst>
              <a:ext uri="{FF2B5EF4-FFF2-40B4-BE49-F238E27FC236}">
                <a16:creationId xmlns:a16="http://schemas.microsoft.com/office/drawing/2014/main" id="{E6CCDED1-AE0C-2A02-7F59-BEE1056955AD}"/>
              </a:ext>
            </a:extLst>
          </p:cNvPr>
          <p:cNvSpPr/>
          <p:nvPr/>
        </p:nvSpPr>
        <p:spPr>
          <a:xfrm>
            <a:off x="320905" y="709330"/>
            <a:ext cx="1615325" cy="7841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5" name="Rectangle 1104">
            <a:extLst>
              <a:ext uri="{FF2B5EF4-FFF2-40B4-BE49-F238E27FC236}">
                <a16:creationId xmlns:a16="http://schemas.microsoft.com/office/drawing/2014/main" id="{23B73336-BD3A-7CE9-60CA-A03342EAE697}"/>
              </a:ext>
            </a:extLst>
          </p:cNvPr>
          <p:cNvSpPr/>
          <p:nvPr/>
        </p:nvSpPr>
        <p:spPr>
          <a:xfrm>
            <a:off x="8868180" y="4909751"/>
            <a:ext cx="1941111" cy="1540627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3" name="Rectangle 1102">
            <a:extLst>
              <a:ext uri="{FF2B5EF4-FFF2-40B4-BE49-F238E27FC236}">
                <a16:creationId xmlns:a16="http://schemas.microsoft.com/office/drawing/2014/main" id="{6865D784-D198-F928-71AB-5CA33FC96A58}"/>
              </a:ext>
            </a:extLst>
          </p:cNvPr>
          <p:cNvSpPr/>
          <p:nvPr/>
        </p:nvSpPr>
        <p:spPr>
          <a:xfrm>
            <a:off x="569724" y="6031636"/>
            <a:ext cx="1615325" cy="7841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4" name="Rectangle 1103">
            <a:extLst>
              <a:ext uri="{FF2B5EF4-FFF2-40B4-BE49-F238E27FC236}">
                <a16:creationId xmlns:a16="http://schemas.microsoft.com/office/drawing/2014/main" id="{A15A0047-2A25-660E-73BB-85D7525D9233}"/>
              </a:ext>
            </a:extLst>
          </p:cNvPr>
          <p:cNvSpPr/>
          <p:nvPr/>
        </p:nvSpPr>
        <p:spPr>
          <a:xfrm>
            <a:off x="11384337" y="6061383"/>
            <a:ext cx="1615325" cy="7841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06" name="Graphic 1105" descr="Satellite outline">
            <a:extLst>
              <a:ext uri="{FF2B5EF4-FFF2-40B4-BE49-F238E27FC236}">
                <a16:creationId xmlns:a16="http://schemas.microsoft.com/office/drawing/2014/main" id="{86766F7E-C030-1431-97FE-5232BFC4681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948698" y="5295222"/>
            <a:ext cx="304393" cy="304393"/>
          </a:xfrm>
          <a:prstGeom prst="rect">
            <a:avLst/>
          </a:prstGeom>
        </p:spPr>
      </p:pic>
      <p:pic>
        <p:nvPicPr>
          <p:cNvPr id="1107" name="Graphic 1106" descr="Satellite with solid fill">
            <a:extLst>
              <a:ext uri="{FF2B5EF4-FFF2-40B4-BE49-F238E27FC236}">
                <a16:creationId xmlns:a16="http://schemas.microsoft.com/office/drawing/2014/main" id="{9DFF81AD-83FF-0B84-9993-04DCC617027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57593" y="5651225"/>
            <a:ext cx="304393" cy="304393"/>
          </a:xfrm>
          <a:prstGeom prst="rect">
            <a:avLst/>
          </a:prstGeom>
        </p:spPr>
      </p:pic>
      <p:pic>
        <p:nvPicPr>
          <p:cNvPr id="1108" name="Graphic 1107" descr="Satellite with solid fill">
            <a:extLst>
              <a:ext uri="{FF2B5EF4-FFF2-40B4-BE49-F238E27FC236}">
                <a16:creationId xmlns:a16="http://schemas.microsoft.com/office/drawing/2014/main" id="{034470FC-8A12-3C1F-4CA8-3B335EE668D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66419" y="6021944"/>
            <a:ext cx="304393" cy="304393"/>
          </a:xfrm>
          <a:prstGeom prst="rect">
            <a:avLst/>
          </a:prstGeom>
        </p:spPr>
      </p:pic>
      <p:cxnSp>
        <p:nvCxnSpPr>
          <p:cNvPr id="1109" name="Straight Arrow Connector 1108">
            <a:extLst>
              <a:ext uri="{FF2B5EF4-FFF2-40B4-BE49-F238E27FC236}">
                <a16:creationId xmlns:a16="http://schemas.microsoft.com/office/drawing/2014/main" id="{CE5B4FF2-DCC1-9206-70B8-2D59A93F9B1A}"/>
              </a:ext>
            </a:extLst>
          </p:cNvPr>
          <p:cNvCxnSpPr>
            <a:cxnSpLocks/>
          </p:cNvCxnSpPr>
          <p:nvPr/>
        </p:nvCxnSpPr>
        <p:spPr>
          <a:xfrm flipH="1">
            <a:off x="10009392" y="5457139"/>
            <a:ext cx="305503" cy="0"/>
          </a:xfrm>
          <a:prstGeom prst="straightConnector1">
            <a:avLst/>
          </a:prstGeom>
          <a:ln>
            <a:solidFill>
              <a:srgbClr val="00B05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2" name="Straight Arrow Connector 1111">
            <a:extLst>
              <a:ext uri="{FF2B5EF4-FFF2-40B4-BE49-F238E27FC236}">
                <a16:creationId xmlns:a16="http://schemas.microsoft.com/office/drawing/2014/main" id="{4B78FCD8-7243-7A0E-FC75-3641965A8EC3}"/>
              </a:ext>
            </a:extLst>
          </p:cNvPr>
          <p:cNvCxnSpPr>
            <a:cxnSpLocks/>
          </p:cNvCxnSpPr>
          <p:nvPr/>
        </p:nvCxnSpPr>
        <p:spPr>
          <a:xfrm flipV="1">
            <a:off x="10016592" y="5703801"/>
            <a:ext cx="298303" cy="14597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5" name="Straight Arrow Connector 1114">
            <a:extLst>
              <a:ext uri="{FF2B5EF4-FFF2-40B4-BE49-F238E27FC236}">
                <a16:creationId xmlns:a16="http://schemas.microsoft.com/office/drawing/2014/main" id="{E862C646-22B4-F591-C63A-6F0339E53D49}"/>
              </a:ext>
            </a:extLst>
          </p:cNvPr>
          <p:cNvCxnSpPr>
            <a:cxnSpLocks/>
          </p:cNvCxnSpPr>
          <p:nvPr/>
        </p:nvCxnSpPr>
        <p:spPr>
          <a:xfrm flipH="1">
            <a:off x="10022084" y="5974887"/>
            <a:ext cx="413180" cy="7313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2" name="TextBox 1121">
            <a:extLst>
              <a:ext uri="{FF2B5EF4-FFF2-40B4-BE49-F238E27FC236}">
                <a16:creationId xmlns:a16="http://schemas.microsoft.com/office/drawing/2014/main" id="{30B84578-3A90-C57D-01A1-C08344422AEA}"/>
              </a:ext>
            </a:extLst>
          </p:cNvPr>
          <p:cNvSpPr txBox="1"/>
          <p:nvPr/>
        </p:nvSpPr>
        <p:spPr>
          <a:xfrm>
            <a:off x="9312988" y="4906229"/>
            <a:ext cx="9727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00000"/>
                </a:solidFill>
              </a:rPr>
              <a:t>Figures</a:t>
            </a:r>
          </a:p>
        </p:txBody>
      </p:sp>
    </p:spTree>
    <p:extLst>
      <p:ext uri="{BB962C8B-B14F-4D97-AF65-F5344CB8AC3E}">
        <p14:creationId xmlns:p14="http://schemas.microsoft.com/office/powerpoint/2010/main" val="27000914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B17F2-AECE-83EA-31A5-9C69D1FB9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75D89-5FD6-97AF-E365-530FEA0800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/>
              <a:t>Complete Architecture Overview</a:t>
            </a:r>
          </a:p>
        </p:txBody>
      </p:sp>
    </p:spTree>
    <p:extLst>
      <p:ext uri="{BB962C8B-B14F-4D97-AF65-F5344CB8AC3E}">
        <p14:creationId xmlns:p14="http://schemas.microsoft.com/office/powerpoint/2010/main" val="10660779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F7290-6419-EC2F-EA62-B5F556681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FAC67B-6971-9720-334F-2FDB353D9F9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66701" y="952500"/>
            <a:ext cx="11621982" cy="5181599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/>
              <a:t>Uses laser beams to transmit data through air/space</a:t>
            </a:r>
          </a:p>
          <a:p>
            <a:pPr lvl="1">
              <a:buFontTx/>
              <a:buChar char="-"/>
            </a:pPr>
            <a:r>
              <a:rPr lang="en-US"/>
              <a:t>Essentially a wireless fiber optic that does not need physical cables between transmitters and receivers.</a:t>
            </a:r>
          </a:p>
          <a:p>
            <a:pPr>
              <a:buFontTx/>
              <a:buChar char="-"/>
            </a:pPr>
            <a:r>
              <a:rPr lang="en-US"/>
              <a:t>Advantages (in comparison with Radio Frequency (RF)):</a:t>
            </a:r>
          </a:p>
          <a:p>
            <a:pPr lvl="1">
              <a:buFontTx/>
              <a:buChar char="-"/>
            </a:pPr>
            <a:r>
              <a:rPr lang="en-US"/>
              <a:t>Offer extremely high bandwidth – potentially terabits per second</a:t>
            </a:r>
          </a:p>
          <a:p>
            <a:pPr lvl="1">
              <a:buFontTx/>
              <a:buChar char="-"/>
            </a:pPr>
            <a:r>
              <a:rPr lang="en-US"/>
              <a:t>Immune to electromagnetic interference – which challenges radio frequencies</a:t>
            </a:r>
          </a:p>
          <a:p>
            <a:pPr lvl="1">
              <a:buFontTx/>
              <a:buChar char="-"/>
            </a:pPr>
            <a:r>
              <a:rPr lang="en-US"/>
              <a:t>No frequency licenses – which challenges radio frequencies (bandwidth utilization)</a:t>
            </a:r>
          </a:p>
          <a:p>
            <a:pPr lvl="1">
              <a:buFontTx/>
              <a:buChar char="-"/>
            </a:pPr>
            <a:r>
              <a:rPr lang="en-US"/>
              <a:t>Requires less power for signal</a:t>
            </a:r>
          </a:p>
          <a:p>
            <a:pPr>
              <a:buFontTx/>
              <a:buChar char="-"/>
            </a:pPr>
            <a:r>
              <a:rPr lang="en-US"/>
              <a:t>Disadvantage:</a:t>
            </a:r>
          </a:p>
          <a:p>
            <a:pPr lvl="1">
              <a:buFontTx/>
              <a:buChar char="-"/>
            </a:pPr>
            <a:r>
              <a:rPr lang="en-US"/>
              <a:t>Requires precise alignment between transmitter and receiver which makes it sensitive to swaying and vibrations.</a:t>
            </a:r>
          </a:p>
          <a:p>
            <a:pPr lvl="1">
              <a:buFontTx/>
              <a:buChar char="-"/>
            </a:pPr>
            <a:endParaRPr lang="en-US"/>
          </a:p>
          <a:p>
            <a:pPr marL="457200" lvl="1" indent="0">
              <a:buNone/>
            </a:pPr>
            <a:endParaRPr lang="en-US"/>
          </a:p>
        </p:txBody>
      </p:sp>
      <p:sp>
        <p:nvSpPr>
          <p:cNvPr id="3079" name="Slide Number Placeholder 2">
            <a:extLst>
              <a:ext uri="{FF2B5EF4-FFF2-40B4-BE49-F238E27FC236}">
                <a16:creationId xmlns:a16="http://schemas.microsoft.com/office/drawing/2014/main" id="{ACA9C378-5EC6-97DA-A16D-464A8706636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218545" y="6248487"/>
            <a:ext cx="123272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876332E-97D2-CC49-9E46-E6E0DDE407EB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641F1D-D90B-48A1-5EAA-2A5CD0A5A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317" y="244386"/>
            <a:ext cx="11585366" cy="524541"/>
          </a:xfrm>
        </p:spPr>
        <p:txBody>
          <a:bodyPr anchor="ctr">
            <a:normAutofit/>
          </a:bodyPr>
          <a:lstStyle/>
          <a:p>
            <a:r>
              <a:rPr lang="en-US"/>
              <a:t>Free Space Optical (FSO) Communication </a:t>
            </a:r>
          </a:p>
        </p:txBody>
      </p:sp>
    </p:spTree>
    <p:extLst>
      <p:ext uri="{BB962C8B-B14F-4D97-AF65-F5344CB8AC3E}">
        <p14:creationId xmlns:p14="http://schemas.microsoft.com/office/powerpoint/2010/main" val="25194125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649A0-5D72-BD1C-19D4-B98C2442D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AAE0FA1-33C2-5373-0FCF-F4ECAA21B54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66701" y="952500"/>
            <a:ext cx="11341719" cy="5181599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/>
              <a:t>Gravitationally stable positions where spacecraft can maintain fixed positions relative to two celestial bodies.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Natural positioning eliminates need for complex orbital mechanics while providing optimal coverage geometry.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They are natural “parking spaces” in Space however are susceptible to slight movement – they are not perfectly still however they do not follow planetary orbits</a:t>
            </a:r>
          </a:p>
        </p:txBody>
      </p:sp>
      <p:sp>
        <p:nvSpPr>
          <p:cNvPr id="3079" name="Slide Number Placeholder 2">
            <a:extLst>
              <a:ext uri="{FF2B5EF4-FFF2-40B4-BE49-F238E27FC236}">
                <a16:creationId xmlns:a16="http://schemas.microsoft.com/office/drawing/2014/main" id="{F535DF8B-B318-8698-CA20-0734AC0912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218545" y="6248487"/>
            <a:ext cx="123272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876332E-97D2-CC49-9E46-E6E0DDE407EB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777123-C3B2-370C-B920-763EBE250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317" y="244386"/>
            <a:ext cx="11585366" cy="524541"/>
          </a:xfrm>
        </p:spPr>
        <p:txBody>
          <a:bodyPr anchor="ctr">
            <a:normAutofit/>
          </a:bodyPr>
          <a:lstStyle/>
          <a:p>
            <a:r>
              <a:rPr lang="en-US"/>
              <a:t>Lagrange Points (Simplified)</a:t>
            </a:r>
          </a:p>
        </p:txBody>
      </p:sp>
    </p:spTree>
    <p:extLst>
      <p:ext uri="{BB962C8B-B14F-4D97-AF65-F5344CB8AC3E}">
        <p14:creationId xmlns:p14="http://schemas.microsoft.com/office/powerpoint/2010/main" val="26856396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31B94-4C31-0AE5-289D-2C6C77E3A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9D1705B-7AA5-531E-2682-E7E3A7DE2C7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66701" y="952500"/>
            <a:ext cx="11375172" cy="5181599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/>
              <a:t>Centralized software applications that act as the "brain" of a software-defined network, maintaining a global view of the entire network topology and making intelligent routing decisions by programming forwarding rules </a:t>
            </a:r>
          </a:p>
          <a:p>
            <a:pPr>
              <a:buFontTx/>
              <a:buChar char="-"/>
            </a:pPr>
            <a:r>
              <a:rPr lang="en-US"/>
              <a:t>Advantages:</a:t>
            </a:r>
          </a:p>
          <a:p>
            <a:pPr lvl="1">
              <a:buFontTx/>
              <a:buChar char="-"/>
            </a:pPr>
            <a:endParaRPr lang="en-US"/>
          </a:p>
        </p:txBody>
      </p:sp>
      <p:sp>
        <p:nvSpPr>
          <p:cNvPr id="3079" name="Slide Number Placeholder 2">
            <a:extLst>
              <a:ext uri="{FF2B5EF4-FFF2-40B4-BE49-F238E27FC236}">
                <a16:creationId xmlns:a16="http://schemas.microsoft.com/office/drawing/2014/main" id="{6FD8BFFB-6A23-84D0-529E-DE357AA09A1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218545" y="6248487"/>
            <a:ext cx="123272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876332E-97D2-CC49-9E46-E6E0DDE407EB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EB9A90-1B1B-0B01-2525-84C5398F3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317" y="244386"/>
            <a:ext cx="11585366" cy="524541"/>
          </a:xfrm>
        </p:spPr>
        <p:txBody>
          <a:bodyPr anchor="ctr">
            <a:normAutofit/>
          </a:bodyPr>
          <a:lstStyle/>
          <a:p>
            <a:r>
              <a:rPr lang="en-US"/>
              <a:t>SDN Controllers</a:t>
            </a:r>
          </a:p>
        </p:txBody>
      </p:sp>
    </p:spTree>
    <p:extLst>
      <p:ext uri="{BB962C8B-B14F-4D97-AF65-F5344CB8AC3E}">
        <p14:creationId xmlns:p14="http://schemas.microsoft.com/office/powerpoint/2010/main" val="19913895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64B85-BAF8-D4EC-3383-2102C3C8D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983DB66-644E-1DD0-B2EB-41B44049DCE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66701" y="952500"/>
            <a:ext cx="11375172" cy="5181599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/>
              <a:t>Satellites that receive signals, amplify them, and then retransmits to another location</a:t>
            </a:r>
          </a:p>
          <a:p>
            <a:pPr>
              <a:buFontTx/>
              <a:buChar char="-"/>
            </a:pPr>
            <a:r>
              <a:rPr lang="en-US"/>
              <a:t>Conceptually similar to routers, as they act as intermediary nodes that receive, process, and forward communication signals to an extended network that is beyond reach of a direct connection path.</a:t>
            </a:r>
          </a:p>
        </p:txBody>
      </p:sp>
      <p:sp>
        <p:nvSpPr>
          <p:cNvPr id="3079" name="Slide Number Placeholder 2">
            <a:extLst>
              <a:ext uri="{FF2B5EF4-FFF2-40B4-BE49-F238E27FC236}">
                <a16:creationId xmlns:a16="http://schemas.microsoft.com/office/drawing/2014/main" id="{6B24FC45-A7CD-FBB1-6464-8D4F5F82BC2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218545" y="6248487"/>
            <a:ext cx="123272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876332E-97D2-CC49-9E46-E6E0DDE407EB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E164F-4110-8951-12F1-00126C46F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317" y="244386"/>
            <a:ext cx="11585366" cy="524541"/>
          </a:xfrm>
        </p:spPr>
        <p:txBody>
          <a:bodyPr anchor="ctr">
            <a:normAutofit/>
          </a:bodyPr>
          <a:lstStyle/>
          <a:p>
            <a:r>
              <a:rPr lang="en-US"/>
              <a:t>Satellite Relays</a:t>
            </a:r>
          </a:p>
        </p:txBody>
      </p:sp>
    </p:spTree>
    <p:extLst>
      <p:ext uri="{BB962C8B-B14F-4D97-AF65-F5344CB8AC3E}">
        <p14:creationId xmlns:p14="http://schemas.microsoft.com/office/powerpoint/2010/main" val="39866333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75A8D-4F28-6EFF-9D84-5FFB223AE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6FCD6E8-10D6-2E8D-6808-7902FBBF9E8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66701" y="952500"/>
            <a:ext cx="5715741" cy="518159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/>
              <a:t>What are Lagrange Points?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Gravitationally stable positions where spacecraft can maintain fixed positions relative to two celestial bodies.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There exists Lagrange Points in the following three systems: Earth-Moon, Earth-Sun, and Mars-Sun.</a:t>
            </a:r>
          </a:p>
          <a:p>
            <a:pPr marL="0" indent="0">
              <a:buNone/>
            </a:pPr>
            <a:r>
              <a:rPr lang="en-US" b="1"/>
              <a:t>Application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Natural positioning eliminates need for complex orbital mechanics while providing optimal coverage geometry.</a:t>
            </a:r>
          </a:p>
        </p:txBody>
      </p:sp>
      <p:sp>
        <p:nvSpPr>
          <p:cNvPr id="3079" name="Slide Number Placeholder 2">
            <a:extLst>
              <a:ext uri="{FF2B5EF4-FFF2-40B4-BE49-F238E27FC236}">
                <a16:creationId xmlns:a16="http://schemas.microsoft.com/office/drawing/2014/main" id="{453A4D4B-871F-0CCB-0BE4-7E8CE0325BD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218545" y="6248487"/>
            <a:ext cx="123272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876332E-97D2-CC49-9E46-E6E0DDE407EB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F76DAB-614F-2E5E-A795-5056196EE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317" y="244386"/>
            <a:ext cx="11585366" cy="524541"/>
          </a:xfrm>
        </p:spPr>
        <p:txBody>
          <a:bodyPr anchor="ctr">
            <a:normAutofit/>
          </a:bodyPr>
          <a:lstStyle/>
          <a:p>
            <a:r>
              <a:rPr lang="en-US"/>
              <a:t>Hierarchal Architecture</a:t>
            </a:r>
          </a:p>
        </p:txBody>
      </p:sp>
    </p:spTree>
    <p:extLst>
      <p:ext uri="{BB962C8B-B14F-4D97-AF65-F5344CB8AC3E}">
        <p14:creationId xmlns:p14="http://schemas.microsoft.com/office/powerpoint/2010/main" val="7919666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9DB0A-3090-3CC3-B218-D6B0B6201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B8C49A6-8B40-9C00-7161-11480B7D105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66701" y="952500"/>
            <a:ext cx="5715741" cy="518159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/>
              <a:t>What are Lagrange Points?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Gravitationally stable positions where spacecraft can maintain fixed positions relative to two celestial bodies.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There exists Lagrange Points in the following three systems: Earth-Moon, Earth-Sun, and Mars-Sun.</a:t>
            </a:r>
          </a:p>
          <a:p>
            <a:pPr marL="0" indent="0">
              <a:buNone/>
            </a:pPr>
            <a:r>
              <a:rPr lang="en-US" b="1"/>
              <a:t>Application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Natural positioning eliminates need for complex orbital mechanics while providing optimal coverage geometry.</a:t>
            </a:r>
          </a:p>
        </p:txBody>
      </p:sp>
      <p:sp>
        <p:nvSpPr>
          <p:cNvPr id="3079" name="Slide Number Placeholder 2">
            <a:extLst>
              <a:ext uri="{FF2B5EF4-FFF2-40B4-BE49-F238E27FC236}">
                <a16:creationId xmlns:a16="http://schemas.microsoft.com/office/drawing/2014/main" id="{186FEB1D-8CC4-7814-C23B-707E4BE2D82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218545" y="6248487"/>
            <a:ext cx="123272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876332E-97D2-CC49-9E46-E6E0DDE407EB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F0904A-8559-CAB1-9938-BA006E8B6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317" y="244386"/>
            <a:ext cx="11585366" cy="524541"/>
          </a:xfrm>
        </p:spPr>
        <p:txBody>
          <a:bodyPr anchor="ctr">
            <a:normAutofit/>
          </a:bodyPr>
          <a:lstStyle/>
          <a:p>
            <a:r>
              <a:rPr lang="en-US"/>
              <a:t>Quality of Service</a:t>
            </a:r>
          </a:p>
        </p:txBody>
      </p:sp>
    </p:spTree>
    <p:extLst>
      <p:ext uri="{BB962C8B-B14F-4D97-AF65-F5344CB8AC3E}">
        <p14:creationId xmlns:p14="http://schemas.microsoft.com/office/powerpoint/2010/main" val="19800286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32734-44F8-2C50-63AC-60B3CBFF0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DDD88700-787E-968A-DA9C-F57ACE7D6D9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218545" y="6248487"/>
            <a:ext cx="1232722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1876332E-97D2-CC49-9E46-E6E0DDE407EB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EF48291-9D19-EB0A-9C97-0A378F4C5D73}"/>
              </a:ext>
            </a:extLst>
          </p:cNvPr>
          <p:cNvSpPr/>
          <p:nvPr/>
        </p:nvSpPr>
        <p:spPr>
          <a:xfrm>
            <a:off x="2359812" y="1219963"/>
            <a:ext cx="8082116" cy="5277489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solidFill>
              <a:srgbClr val="000000">
                <a:alpha val="50000"/>
              </a:srgb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82FC89F-18DB-0915-4A8E-8090A8652828}"/>
              </a:ext>
            </a:extLst>
          </p:cNvPr>
          <p:cNvGrpSpPr/>
          <p:nvPr/>
        </p:nvGrpSpPr>
        <p:grpSpPr>
          <a:xfrm>
            <a:off x="5971931" y="3285811"/>
            <a:ext cx="1484672" cy="1147916"/>
            <a:chOff x="5801033" y="3168445"/>
            <a:chExt cx="890802" cy="698090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2DCB791B-547B-1EFB-1D3F-11666574FD52}"/>
                </a:ext>
              </a:extLst>
            </p:cNvPr>
            <p:cNvSpPr/>
            <p:nvPr/>
          </p:nvSpPr>
          <p:spPr>
            <a:xfrm>
              <a:off x="5801033" y="3168445"/>
              <a:ext cx="786580" cy="698090"/>
            </a:xfrm>
            <a:prstGeom prst="ellipse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58DB738D-8615-BB77-B42C-F0CE025A9B36}"/>
                </a:ext>
              </a:extLst>
            </p:cNvPr>
            <p:cNvSpPr txBox="1"/>
            <p:nvPr/>
          </p:nvSpPr>
          <p:spPr>
            <a:xfrm>
              <a:off x="5924918" y="3326898"/>
              <a:ext cx="766917" cy="3369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000">
                  <a:solidFill>
                    <a:srgbClr val="00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SUN</a:t>
              </a:r>
            </a:p>
          </p:txBody>
        </p:sp>
      </p:grpSp>
      <p:sp>
        <p:nvSpPr>
          <p:cNvPr id="10" name="Oval 9">
            <a:extLst>
              <a:ext uri="{FF2B5EF4-FFF2-40B4-BE49-F238E27FC236}">
                <a16:creationId xmlns:a16="http://schemas.microsoft.com/office/drawing/2014/main" id="{4CC8724B-F033-3FBA-4B99-7756CA8A7948}"/>
              </a:ext>
            </a:extLst>
          </p:cNvPr>
          <p:cNvSpPr/>
          <p:nvPr/>
        </p:nvSpPr>
        <p:spPr>
          <a:xfrm>
            <a:off x="10231341" y="3691161"/>
            <a:ext cx="457200" cy="46334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C5D35A-071E-DA87-DA9B-62E77E546B8A}"/>
              </a:ext>
            </a:extLst>
          </p:cNvPr>
          <p:cNvSpPr txBox="1"/>
          <p:nvPr/>
        </p:nvSpPr>
        <p:spPr>
          <a:xfrm>
            <a:off x="10192013" y="3760317"/>
            <a:ext cx="70300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Mars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B290636-284C-8044-D03D-91C487762328}"/>
              </a:ext>
            </a:extLst>
          </p:cNvPr>
          <p:cNvSpPr/>
          <p:nvPr/>
        </p:nvSpPr>
        <p:spPr>
          <a:xfrm>
            <a:off x="3743893" y="1859769"/>
            <a:ext cx="5805945" cy="4060722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solidFill>
              <a:srgbClr val="000000">
                <a:alpha val="50000"/>
              </a:srgb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6ACE565-4E4E-6DAC-E504-F9D2E8E33FFC}"/>
              </a:ext>
            </a:extLst>
          </p:cNvPr>
          <p:cNvSpPr/>
          <p:nvPr/>
        </p:nvSpPr>
        <p:spPr>
          <a:xfrm>
            <a:off x="3294697" y="3581709"/>
            <a:ext cx="703005" cy="68225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A771C0-01C5-DBD8-7AF7-20DD9157BC0E}"/>
              </a:ext>
            </a:extLst>
          </p:cNvPr>
          <p:cNvSpPr txBox="1"/>
          <p:nvPr/>
        </p:nvSpPr>
        <p:spPr>
          <a:xfrm>
            <a:off x="3346316" y="3761253"/>
            <a:ext cx="70300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Earth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86AB87A-E295-1712-FFB9-137C92F98133}"/>
              </a:ext>
            </a:extLst>
          </p:cNvPr>
          <p:cNvSpPr/>
          <p:nvPr/>
        </p:nvSpPr>
        <p:spPr>
          <a:xfrm>
            <a:off x="4327081" y="3769736"/>
            <a:ext cx="147484" cy="156156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A84F571-D1E4-0F7D-CCC2-CAFA05217A7D}"/>
              </a:ext>
            </a:extLst>
          </p:cNvPr>
          <p:cNvSpPr/>
          <p:nvPr/>
        </p:nvSpPr>
        <p:spPr>
          <a:xfrm>
            <a:off x="4068183" y="4362132"/>
            <a:ext cx="145027" cy="14318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7B6E364-CB45-7330-E5F9-0453AA2434B5}"/>
              </a:ext>
            </a:extLst>
          </p:cNvPr>
          <p:cNvSpPr/>
          <p:nvPr/>
        </p:nvSpPr>
        <p:spPr>
          <a:xfrm>
            <a:off x="2767057" y="3852299"/>
            <a:ext cx="145027" cy="14318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A05FC99-51AC-B8DD-CDFB-11ECF033EE1B}"/>
              </a:ext>
            </a:extLst>
          </p:cNvPr>
          <p:cNvSpPr/>
          <p:nvPr/>
        </p:nvSpPr>
        <p:spPr>
          <a:xfrm>
            <a:off x="4068182" y="3321531"/>
            <a:ext cx="145027" cy="14318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3B2F739-2BE6-BC12-5BEE-51E18EB17112}"/>
              </a:ext>
            </a:extLst>
          </p:cNvPr>
          <p:cNvSpPr/>
          <p:nvPr/>
        </p:nvSpPr>
        <p:spPr>
          <a:xfrm>
            <a:off x="9435740" y="3794657"/>
            <a:ext cx="145027" cy="14318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B7B3588-71AC-15AB-8E2D-147DDC333894}"/>
              </a:ext>
            </a:extLst>
          </p:cNvPr>
          <p:cNvSpPr/>
          <p:nvPr/>
        </p:nvSpPr>
        <p:spPr>
          <a:xfrm>
            <a:off x="4449975" y="2334567"/>
            <a:ext cx="145027" cy="14318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C4C3ECF-A349-9B59-C0AD-BE342AEE843E}"/>
              </a:ext>
            </a:extLst>
          </p:cNvPr>
          <p:cNvSpPr/>
          <p:nvPr/>
        </p:nvSpPr>
        <p:spPr>
          <a:xfrm>
            <a:off x="4454484" y="5241780"/>
            <a:ext cx="145027" cy="14318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D01CD21-042E-F248-859E-EC588CB84EF2}"/>
              </a:ext>
            </a:extLst>
          </p:cNvPr>
          <p:cNvSpPr/>
          <p:nvPr/>
        </p:nvSpPr>
        <p:spPr>
          <a:xfrm>
            <a:off x="5020057" y="3784120"/>
            <a:ext cx="145027" cy="14318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9E81292-3788-8166-7A0E-0191EE908B4A}"/>
              </a:ext>
            </a:extLst>
          </p:cNvPr>
          <p:cNvSpPr/>
          <p:nvPr/>
        </p:nvSpPr>
        <p:spPr>
          <a:xfrm>
            <a:off x="2284018" y="3855715"/>
            <a:ext cx="145027" cy="14318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814D7F8-C302-696B-C68F-DDAD87CCDCE9}"/>
              </a:ext>
            </a:extLst>
          </p:cNvPr>
          <p:cNvSpPr/>
          <p:nvPr/>
        </p:nvSpPr>
        <p:spPr>
          <a:xfrm>
            <a:off x="8623561" y="1613776"/>
            <a:ext cx="145027" cy="143189"/>
          </a:xfrm>
          <a:prstGeom prst="rect">
            <a:avLst/>
          </a:prstGeom>
          <a:solidFill>
            <a:srgbClr val="D95555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CD9AB39-A46B-6CF7-01CC-CFC1C8C5DA15}"/>
              </a:ext>
            </a:extLst>
          </p:cNvPr>
          <p:cNvSpPr/>
          <p:nvPr/>
        </p:nvSpPr>
        <p:spPr>
          <a:xfrm>
            <a:off x="8623561" y="5925473"/>
            <a:ext cx="145027" cy="143189"/>
          </a:xfrm>
          <a:prstGeom prst="rect">
            <a:avLst/>
          </a:prstGeom>
          <a:solidFill>
            <a:srgbClr val="D95555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DEEB176-F056-A254-41B8-CEF84506B4C2}"/>
              </a:ext>
            </a:extLst>
          </p:cNvPr>
          <p:cNvSpPr/>
          <p:nvPr/>
        </p:nvSpPr>
        <p:spPr>
          <a:xfrm>
            <a:off x="10949510" y="3818536"/>
            <a:ext cx="145027" cy="143189"/>
          </a:xfrm>
          <a:prstGeom prst="rect">
            <a:avLst/>
          </a:prstGeom>
          <a:solidFill>
            <a:srgbClr val="D95555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57F5E62-9BBD-D6A6-79AB-02CCE4ACB9C2}"/>
              </a:ext>
            </a:extLst>
          </p:cNvPr>
          <p:cNvSpPr/>
          <p:nvPr/>
        </p:nvSpPr>
        <p:spPr>
          <a:xfrm>
            <a:off x="9872886" y="3821674"/>
            <a:ext cx="145027" cy="143189"/>
          </a:xfrm>
          <a:prstGeom prst="rect">
            <a:avLst/>
          </a:prstGeom>
          <a:solidFill>
            <a:srgbClr val="D95555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E381E4E6-82BD-7660-B734-5A33C3C9BABC}"/>
              </a:ext>
            </a:extLst>
          </p:cNvPr>
          <p:cNvSpPr/>
          <p:nvPr/>
        </p:nvSpPr>
        <p:spPr>
          <a:xfrm>
            <a:off x="3220614" y="3514614"/>
            <a:ext cx="844336" cy="816438"/>
          </a:xfrm>
          <a:prstGeom prst="ellipse">
            <a:avLst/>
          </a:prstGeom>
          <a:solidFill>
            <a:schemeClr val="tx2">
              <a:lumMod val="60000"/>
              <a:lumOff val="40000"/>
              <a:alpha val="0"/>
            </a:schemeClr>
          </a:solidFill>
          <a:ln w="34925">
            <a:solidFill>
              <a:schemeClr val="tx2">
                <a:lumMod val="40000"/>
                <a:lumOff val="6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8A2F7C6C-AA2A-4FEF-547A-A5D23B97C980}"/>
              </a:ext>
            </a:extLst>
          </p:cNvPr>
          <p:cNvSpPr/>
          <p:nvPr/>
        </p:nvSpPr>
        <p:spPr>
          <a:xfrm>
            <a:off x="10157185" y="3634639"/>
            <a:ext cx="600161" cy="582506"/>
          </a:xfrm>
          <a:prstGeom prst="ellipse">
            <a:avLst/>
          </a:prstGeom>
          <a:solidFill>
            <a:schemeClr val="tx2">
              <a:lumMod val="60000"/>
              <a:lumOff val="40000"/>
              <a:alpha val="0"/>
            </a:schemeClr>
          </a:solidFill>
          <a:ln w="34925">
            <a:solidFill>
              <a:srgbClr val="D18F8F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873C2170-C2F6-C7A7-76EB-E10449819497}"/>
              </a:ext>
            </a:extLst>
          </p:cNvPr>
          <p:cNvCxnSpPr>
            <a:stCxn id="30" idx="3"/>
          </p:cNvCxnSpPr>
          <p:nvPr/>
        </p:nvCxnSpPr>
        <p:spPr>
          <a:xfrm>
            <a:off x="4595002" y="2406162"/>
            <a:ext cx="5277884" cy="1412374"/>
          </a:xfrm>
          <a:prstGeom prst="line">
            <a:avLst/>
          </a:prstGeom>
          <a:ln w="3810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0980F903-D671-852F-A9FA-2E9AA45DC681}"/>
              </a:ext>
            </a:extLst>
          </p:cNvPr>
          <p:cNvCxnSpPr>
            <a:cxnSpLocks/>
            <a:stCxn id="28" idx="1"/>
            <a:endCxn id="47" idx="0"/>
          </p:cNvCxnSpPr>
          <p:nvPr/>
        </p:nvCxnSpPr>
        <p:spPr>
          <a:xfrm flipH="1">
            <a:off x="3642782" y="3393126"/>
            <a:ext cx="425400" cy="121488"/>
          </a:xfrm>
          <a:prstGeom prst="line">
            <a:avLst/>
          </a:prstGeom>
          <a:ln w="25400" cap="flat" cmpd="sng" algn="ctr">
            <a:solidFill>
              <a:schemeClr val="accent2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EE1358F1-7D27-B56B-8307-69F222D50346}"/>
              </a:ext>
            </a:extLst>
          </p:cNvPr>
          <p:cNvCxnSpPr>
            <a:cxnSpLocks/>
          </p:cNvCxnSpPr>
          <p:nvPr/>
        </p:nvCxnSpPr>
        <p:spPr>
          <a:xfrm flipV="1">
            <a:off x="3697818" y="2472896"/>
            <a:ext cx="795341" cy="1003732"/>
          </a:xfrm>
          <a:prstGeom prst="line">
            <a:avLst/>
          </a:prstGeom>
          <a:ln w="254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242A1758-BB13-A05E-DB44-C2B7917DE2CE}"/>
              </a:ext>
            </a:extLst>
          </p:cNvPr>
          <p:cNvCxnSpPr>
            <a:stCxn id="38" idx="3"/>
            <a:endCxn id="48" idx="1"/>
          </p:cNvCxnSpPr>
          <p:nvPr/>
        </p:nvCxnSpPr>
        <p:spPr>
          <a:xfrm flipV="1">
            <a:off x="10017913" y="3719945"/>
            <a:ext cx="227164" cy="173324"/>
          </a:xfrm>
          <a:prstGeom prst="line">
            <a:avLst/>
          </a:prstGeom>
          <a:ln w="2540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90825366-6D9C-999D-7155-FB847BA60A0B}"/>
              </a:ext>
            </a:extLst>
          </p:cNvPr>
          <p:cNvSpPr txBox="1"/>
          <p:nvPr/>
        </p:nvSpPr>
        <p:spPr>
          <a:xfrm>
            <a:off x="4926615" y="3486880"/>
            <a:ext cx="4965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A8F8288-E945-7C46-F71A-A156E5154083}"/>
              </a:ext>
            </a:extLst>
          </p:cNvPr>
          <p:cNvSpPr txBox="1"/>
          <p:nvPr/>
        </p:nvSpPr>
        <p:spPr>
          <a:xfrm>
            <a:off x="2156713" y="3537272"/>
            <a:ext cx="496562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L2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41A89C7-B69E-DBA1-612A-6F411BD3BE44}"/>
              </a:ext>
            </a:extLst>
          </p:cNvPr>
          <p:cNvSpPr txBox="1"/>
          <p:nvPr/>
        </p:nvSpPr>
        <p:spPr>
          <a:xfrm>
            <a:off x="4333944" y="2017660"/>
            <a:ext cx="496562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F60E94F-8044-EE9B-7384-252078EF419A}"/>
              </a:ext>
            </a:extLst>
          </p:cNvPr>
          <p:cNvSpPr txBox="1"/>
          <p:nvPr/>
        </p:nvSpPr>
        <p:spPr>
          <a:xfrm>
            <a:off x="4333944" y="4917580"/>
            <a:ext cx="393308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L5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E68BE41-DE90-A8EF-E441-76198E46483C}"/>
              </a:ext>
            </a:extLst>
          </p:cNvPr>
          <p:cNvSpPr/>
          <p:nvPr/>
        </p:nvSpPr>
        <p:spPr>
          <a:xfrm>
            <a:off x="641198" y="1121487"/>
            <a:ext cx="145027" cy="14318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D1CC62B-229F-0880-9C4B-5616FB4EAFA3}"/>
              </a:ext>
            </a:extLst>
          </p:cNvPr>
          <p:cNvSpPr txBox="1"/>
          <p:nvPr/>
        </p:nvSpPr>
        <p:spPr>
          <a:xfrm>
            <a:off x="786224" y="1056741"/>
            <a:ext cx="33441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Earth Relays at Earth-Sun Lagrange Points</a:t>
            </a:r>
          </a:p>
        </p:txBody>
      </p:sp>
      <p:sp>
        <p:nvSpPr>
          <p:cNvPr id="69" name="Title 1">
            <a:extLst>
              <a:ext uri="{FF2B5EF4-FFF2-40B4-BE49-F238E27FC236}">
                <a16:creationId xmlns:a16="http://schemas.microsoft.com/office/drawing/2014/main" id="{9DE13310-3AC1-DB0E-ACCD-C13E5E8F5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457" y="-130739"/>
            <a:ext cx="11585986" cy="1143389"/>
          </a:xfrm>
        </p:spPr>
        <p:txBody>
          <a:bodyPr/>
          <a:lstStyle/>
          <a:p>
            <a:pPr algn="ctr"/>
            <a:r>
              <a:rPr lang="en-US"/>
              <a:t>Proposed FSO Interplanetary Architecture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5034FF34-8892-AC3A-C410-1FE6335D8424}"/>
              </a:ext>
            </a:extLst>
          </p:cNvPr>
          <p:cNvSpPr/>
          <p:nvPr/>
        </p:nvSpPr>
        <p:spPr>
          <a:xfrm>
            <a:off x="641197" y="1345648"/>
            <a:ext cx="145027" cy="14318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47BDBDDC-9E44-09C2-C84A-A40B021048DE}"/>
              </a:ext>
            </a:extLst>
          </p:cNvPr>
          <p:cNvSpPr/>
          <p:nvPr/>
        </p:nvSpPr>
        <p:spPr>
          <a:xfrm flipH="1" flipV="1">
            <a:off x="651561" y="1588127"/>
            <a:ext cx="124297" cy="115415"/>
          </a:xfrm>
          <a:prstGeom prst="rect">
            <a:avLst/>
          </a:prstGeom>
          <a:solidFill>
            <a:srgbClr val="D95555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58771BE-A8F5-3DA7-F8CF-81F3EEBB835B}"/>
              </a:ext>
            </a:extLst>
          </p:cNvPr>
          <p:cNvSpPr txBox="1"/>
          <p:nvPr/>
        </p:nvSpPr>
        <p:spPr>
          <a:xfrm>
            <a:off x="775858" y="1284628"/>
            <a:ext cx="33441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Controllers at Earth-Moon Lagrange Points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00AC79A-CB1E-9E8D-664E-C1FD63456749}"/>
              </a:ext>
            </a:extLst>
          </p:cNvPr>
          <p:cNvSpPr txBox="1"/>
          <p:nvPr/>
        </p:nvSpPr>
        <p:spPr>
          <a:xfrm>
            <a:off x="775858" y="1512390"/>
            <a:ext cx="33441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Mars Relays at Mars-Sun Lagrange Points</a:t>
            </a:r>
          </a:p>
        </p:txBody>
      </p: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7AA6AFE0-AFB5-FD18-FF1D-006A7A03EF4F}"/>
              </a:ext>
            </a:extLst>
          </p:cNvPr>
          <p:cNvCxnSpPr>
            <a:cxnSpLocks/>
          </p:cNvCxnSpPr>
          <p:nvPr/>
        </p:nvCxnSpPr>
        <p:spPr>
          <a:xfrm>
            <a:off x="564774" y="1879981"/>
            <a:ext cx="422168" cy="0"/>
          </a:xfrm>
          <a:prstGeom prst="line">
            <a:avLst/>
          </a:prstGeom>
          <a:ln w="3175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AF4D7328-3BCC-4D44-E7BC-04E82181B325}"/>
              </a:ext>
            </a:extLst>
          </p:cNvPr>
          <p:cNvCxnSpPr>
            <a:cxnSpLocks/>
          </p:cNvCxnSpPr>
          <p:nvPr/>
        </p:nvCxnSpPr>
        <p:spPr>
          <a:xfrm>
            <a:off x="564774" y="2039176"/>
            <a:ext cx="422168" cy="0"/>
          </a:xfrm>
          <a:prstGeom prst="line">
            <a:avLst/>
          </a:prstGeom>
          <a:ln w="31750">
            <a:solidFill>
              <a:srgbClr val="D9555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2E7C9EFF-AB99-BFE4-BE83-A4F4A3685B55}"/>
              </a:ext>
            </a:extLst>
          </p:cNvPr>
          <p:cNvSpPr txBox="1"/>
          <p:nvPr/>
        </p:nvSpPr>
        <p:spPr>
          <a:xfrm>
            <a:off x="909600" y="1707011"/>
            <a:ext cx="33441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Earth GEO Satellites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5380BFB6-48C3-73A9-7A23-433957466B08}"/>
              </a:ext>
            </a:extLst>
          </p:cNvPr>
          <p:cNvSpPr txBox="1"/>
          <p:nvPr/>
        </p:nvSpPr>
        <p:spPr>
          <a:xfrm>
            <a:off x="914306" y="1902825"/>
            <a:ext cx="33441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Mars Satellites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70F0D023-0993-0FA1-018A-C4F897966483}"/>
              </a:ext>
            </a:extLst>
          </p:cNvPr>
          <p:cNvSpPr txBox="1"/>
          <p:nvPr/>
        </p:nvSpPr>
        <p:spPr>
          <a:xfrm>
            <a:off x="9681600" y="3981758"/>
            <a:ext cx="4965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rgbClr val="D9555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L1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102722A7-A935-7A71-C49D-4511EFD809CB}"/>
              </a:ext>
            </a:extLst>
          </p:cNvPr>
          <p:cNvSpPr txBox="1"/>
          <p:nvPr/>
        </p:nvSpPr>
        <p:spPr>
          <a:xfrm>
            <a:off x="11148754" y="3736241"/>
            <a:ext cx="4965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rgbClr val="D9555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L2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E692CBEA-3A7E-4899-719D-AC9133737120}"/>
              </a:ext>
            </a:extLst>
          </p:cNvPr>
          <p:cNvSpPr txBox="1"/>
          <p:nvPr/>
        </p:nvSpPr>
        <p:spPr>
          <a:xfrm>
            <a:off x="8838146" y="1399227"/>
            <a:ext cx="4965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rgbClr val="D9555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L4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256EA386-AC08-C9A8-35F2-776B74A00FE7}"/>
              </a:ext>
            </a:extLst>
          </p:cNvPr>
          <p:cNvSpPr txBox="1"/>
          <p:nvPr/>
        </p:nvSpPr>
        <p:spPr>
          <a:xfrm>
            <a:off x="8831185" y="5973915"/>
            <a:ext cx="4965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rgbClr val="D9555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L5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C449D58C-1F75-2BAB-5B04-E104168F77AD}"/>
              </a:ext>
            </a:extLst>
          </p:cNvPr>
          <p:cNvSpPr txBox="1"/>
          <p:nvPr/>
        </p:nvSpPr>
        <p:spPr>
          <a:xfrm>
            <a:off x="4194361" y="3124979"/>
            <a:ext cx="4965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rgbClr val="00B0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L4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9A939F1E-B124-9BC4-9427-976E0036F58B}"/>
              </a:ext>
            </a:extLst>
          </p:cNvPr>
          <p:cNvSpPr txBox="1"/>
          <p:nvPr/>
        </p:nvSpPr>
        <p:spPr>
          <a:xfrm>
            <a:off x="4184192" y="4407059"/>
            <a:ext cx="4965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rgbClr val="00B0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L5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A0635AFE-08CC-21EC-0B56-D5B9438950EE}"/>
              </a:ext>
            </a:extLst>
          </p:cNvPr>
          <p:cNvSpPr txBox="1"/>
          <p:nvPr/>
        </p:nvSpPr>
        <p:spPr>
          <a:xfrm>
            <a:off x="2625156" y="3537272"/>
            <a:ext cx="4965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rgbClr val="00B0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L3</a:t>
            </a:r>
          </a:p>
        </p:txBody>
      </p:sp>
    </p:spTree>
    <p:extLst>
      <p:ext uri="{BB962C8B-B14F-4D97-AF65-F5344CB8AC3E}">
        <p14:creationId xmlns:p14="http://schemas.microsoft.com/office/powerpoint/2010/main" val="23436771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39B26-E547-A66E-C1ED-5C0C97324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7BFD1-12FC-24DF-B1A9-19A1EA75C9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/>
              <a:t>Theoretical Background</a:t>
            </a:r>
          </a:p>
        </p:txBody>
      </p:sp>
    </p:spTree>
    <p:extLst>
      <p:ext uri="{BB962C8B-B14F-4D97-AF65-F5344CB8AC3E}">
        <p14:creationId xmlns:p14="http://schemas.microsoft.com/office/powerpoint/2010/main" val="30220293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BBAEE-CA39-EA2B-3E6F-D52673F48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8F90341-906F-19EA-D9F7-C497A311982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66701" y="952500"/>
            <a:ext cx="5715741" cy="518159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/>
              <a:t>What are Lagrange Points?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Gravitationally stable positions where spacecraft can maintain fixed positions relative to two celestial bodies.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There exists Lagrange Points in the following three systems: Earth-Moon, Earth-Sun, and Mars-Sun.</a:t>
            </a:r>
          </a:p>
          <a:p>
            <a:pPr marL="0" indent="0">
              <a:buNone/>
            </a:pPr>
            <a:r>
              <a:rPr lang="en-US" b="1"/>
              <a:t>Application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Natural positioning eliminates need for complex orbital mechanics while providing optimal coverage geometry.</a:t>
            </a:r>
          </a:p>
        </p:txBody>
      </p:sp>
      <p:sp>
        <p:nvSpPr>
          <p:cNvPr id="3079" name="Slide Number Placeholder 2">
            <a:extLst>
              <a:ext uri="{FF2B5EF4-FFF2-40B4-BE49-F238E27FC236}">
                <a16:creationId xmlns:a16="http://schemas.microsoft.com/office/drawing/2014/main" id="{D8EE6DF4-110E-6D44-D040-B54E4D63DBF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218545" y="6248487"/>
            <a:ext cx="123272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876332E-97D2-CC49-9E46-E6E0DDE407EB}" type="slidenum">
              <a:rPr lang="en-US" smtClean="0"/>
              <a:pPr>
                <a:spcAft>
                  <a:spcPts val="600"/>
                </a:spcAft>
              </a:pPr>
              <a:t>16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BBA547-2565-3515-2E65-DA504227C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317" y="244386"/>
            <a:ext cx="11585366" cy="524541"/>
          </a:xfrm>
        </p:spPr>
        <p:txBody>
          <a:bodyPr anchor="ctr">
            <a:normAutofit/>
          </a:bodyPr>
          <a:lstStyle/>
          <a:p>
            <a:r>
              <a:rPr lang="en-US"/>
              <a:t>Lagrange Points</a:t>
            </a:r>
          </a:p>
        </p:txBody>
      </p:sp>
      <p:pic>
        <p:nvPicPr>
          <p:cNvPr id="3074" name="Picture 2" descr="Space 201: Thinking About the Space Domain | The Heritage Foundation">
            <a:extLst>
              <a:ext uri="{FF2B5EF4-FFF2-40B4-BE49-F238E27FC236}">
                <a16:creationId xmlns:a16="http://schemas.microsoft.com/office/drawing/2014/main" id="{4C59C37C-A281-5B21-5F67-D13EA3E17C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28" t="-2" r="1402" b="8351"/>
          <a:stretch/>
        </p:blipFill>
        <p:spPr bwMode="auto">
          <a:xfrm>
            <a:off x="6525549" y="952500"/>
            <a:ext cx="5363134" cy="4749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30039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2751E-5F0E-C029-1FAF-CA2054792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890F30A-7590-0603-E4DD-C0846D3191C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66701" y="952500"/>
            <a:ext cx="5715741" cy="518159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/>
              <a:t>What are Lagrange Points?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Gravitationally stable positions where spacecraft can maintain fixed positions relative to two celestial bodies.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There exists Lagrange Points in the following three systems: Earth-Moon, Earth-Sun, and Mars-Sun.</a:t>
            </a:r>
          </a:p>
          <a:p>
            <a:pPr marL="0" indent="0">
              <a:buNone/>
            </a:pPr>
            <a:r>
              <a:rPr lang="en-US" b="1"/>
              <a:t>Application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Natural positioning eliminates need for complex orbital mechanics while providing optimal coverage geometry.</a:t>
            </a:r>
          </a:p>
        </p:txBody>
      </p:sp>
      <p:sp>
        <p:nvSpPr>
          <p:cNvPr id="3079" name="Slide Number Placeholder 2">
            <a:extLst>
              <a:ext uri="{FF2B5EF4-FFF2-40B4-BE49-F238E27FC236}">
                <a16:creationId xmlns:a16="http://schemas.microsoft.com/office/drawing/2014/main" id="{AAC918AE-85FE-EF84-FCA9-E4D81625F2B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218545" y="6248487"/>
            <a:ext cx="123272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876332E-97D2-CC49-9E46-E6E0DDE407EB}" type="slidenum">
              <a:rPr lang="en-US" smtClean="0"/>
              <a:pPr>
                <a:spcAft>
                  <a:spcPts val="600"/>
                </a:spcAft>
              </a:pPr>
              <a:t>17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797377-21FE-F93A-E396-401AEEA95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317" y="244386"/>
            <a:ext cx="11585366" cy="524541"/>
          </a:xfrm>
        </p:spPr>
        <p:txBody>
          <a:bodyPr anchor="ctr">
            <a:normAutofit/>
          </a:bodyPr>
          <a:lstStyle/>
          <a:p>
            <a:r>
              <a:rPr lang="en-US"/>
              <a:t>Lagrange Point Station Keeping</a:t>
            </a:r>
          </a:p>
        </p:txBody>
      </p:sp>
      <p:pic>
        <p:nvPicPr>
          <p:cNvPr id="3074" name="Picture 2" descr="Space 201: Thinking About the Space Domain | The Heritage Foundation">
            <a:extLst>
              <a:ext uri="{FF2B5EF4-FFF2-40B4-BE49-F238E27FC236}">
                <a16:creationId xmlns:a16="http://schemas.microsoft.com/office/drawing/2014/main" id="{1EFA6D1D-B88A-AAF9-12B8-AAE14BC30F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28" t="-2" r="1402" b="8351"/>
          <a:stretch/>
        </p:blipFill>
        <p:spPr bwMode="auto">
          <a:xfrm>
            <a:off x="6525549" y="952500"/>
            <a:ext cx="5363134" cy="4749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28391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61533-2DB3-C85B-F536-A8085C5EC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EFEB13A-AB65-9DD0-E157-646095C5941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66701" y="952500"/>
            <a:ext cx="5715741" cy="518159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/>
              <a:t>What are Lagrange Points?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Gravitationally stable positions where spacecraft can maintain fixed positions relative to two celestial bodies.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There exists Lagrange Points in the following three systems: Earth-Moon, Earth-Sun, and Mars-Sun.</a:t>
            </a:r>
          </a:p>
          <a:p>
            <a:pPr marL="0" indent="0">
              <a:buNone/>
            </a:pPr>
            <a:r>
              <a:rPr lang="en-US" b="1"/>
              <a:t>Application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Natural positioning eliminates need for complex orbital mechanics while providing optimal coverage geometry.</a:t>
            </a:r>
          </a:p>
        </p:txBody>
      </p:sp>
      <p:sp>
        <p:nvSpPr>
          <p:cNvPr id="3079" name="Slide Number Placeholder 2">
            <a:extLst>
              <a:ext uri="{FF2B5EF4-FFF2-40B4-BE49-F238E27FC236}">
                <a16:creationId xmlns:a16="http://schemas.microsoft.com/office/drawing/2014/main" id="{78E90632-105C-F833-288C-988B665301F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218545" y="6248487"/>
            <a:ext cx="123272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876332E-97D2-CC49-9E46-E6E0DDE407EB}" type="slidenum">
              <a:rPr lang="en-US" smtClean="0"/>
              <a:pPr>
                <a:spcAft>
                  <a:spcPts val="600"/>
                </a:spcAft>
              </a:pPr>
              <a:t>18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681314-57E7-A44C-D627-9F7F6A7C2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317" y="244386"/>
            <a:ext cx="11585366" cy="524541"/>
          </a:xfrm>
        </p:spPr>
        <p:txBody>
          <a:bodyPr anchor="ctr">
            <a:normAutofit/>
          </a:bodyPr>
          <a:lstStyle/>
          <a:p>
            <a:r>
              <a:rPr lang="en-US"/>
              <a:t>J2 Perturbation Acceleration</a:t>
            </a:r>
          </a:p>
        </p:txBody>
      </p:sp>
      <p:pic>
        <p:nvPicPr>
          <p:cNvPr id="3074" name="Picture 2" descr="Space 201: Thinking About the Space Domain | The Heritage Foundation">
            <a:extLst>
              <a:ext uri="{FF2B5EF4-FFF2-40B4-BE49-F238E27FC236}">
                <a16:creationId xmlns:a16="http://schemas.microsoft.com/office/drawing/2014/main" id="{9ED15552-4275-D655-9489-8773B0126E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28" t="-2" r="1402" b="8351"/>
          <a:stretch/>
        </p:blipFill>
        <p:spPr bwMode="auto">
          <a:xfrm>
            <a:off x="6525549" y="952500"/>
            <a:ext cx="5363134" cy="4749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93639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17A08-893B-4B65-9E5A-4BC195F71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69304D7-3D60-9C4F-A6F4-BEC3BB8C4C2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66701" y="952500"/>
            <a:ext cx="5715741" cy="518159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/>
              <a:t>What are Lagrange Points?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Gravitationally stable positions where spacecraft can maintain fixed positions relative to two celestial bodies.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There exists Lagrange Points in the following three systems: Earth-Moon, Earth-Sun, and Mars-Sun.</a:t>
            </a:r>
          </a:p>
          <a:p>
            <a:pPr marL="0" indent="0">
              <a:buNone/>
            </a:pPr>
            <a:r>
              <a:rPr lang="en-US" b="1"/>
              <a:t>Application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Natural positioning eliminates need for complex orbital mechanics while providing optimal coverage geometry.</a:t>
            </a:r>
          </a:p>
        </p:txBody>
      </p:sp>
      <p:sp>
        <p:nvSpPr>
          <p:cNvPr id="3079" name="Slide Number Placeholder 2">
            <a:extLst>
              <a:ext uri="{FF2B5EF4-FFF2-40B4-BE49-F238E27FC236}">
                <a16:creationId xmlns:a16="http://schemas.microsoft.com/office/drawing/2014/main" id="{44971528-1DBE-BD53-FCBC-9ECAAA75FF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218545" y="6248487"/>
            <a:ext cx="123272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876332E-97D2-CC49-9E46-E6E0DDE407EB}" type="slidenum">
              <a:rPr lang="en-US" smtClean="0"/>
              <a:pPr>
                <a:spcAft>
                  <a:spcPts val="600"/>
                </a:spcAft>
              </a:pPr>
              <a:t>19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23982F-1A34-4F4C-A39F-D4674E59C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317" y="244386"/>
            <a:ext cx="11585366" cy="524541"/>
          </a:xfrm>
        </p:spPr>
        <p:txBody>
          <a:bodyPr anchor="ctr">
            <a:normAutofit/>
          </a:bodyPr>
          <a:lstStyle/>
          <a:p>
            <a:r>
              <a:rPr lang="en-US"/>
              <a:t>Solar Radiation Pressure</a:t>
            </a:r>
          </a:p>
        </p:txBody>
      </p:sp>
      <p:pic>
        <p:nvPicPr>
          <p:cNvPr id="3074" name="Picture 2" descr="Space 201: Thinking About the Space Domain | The Heritage Foundation">
            <a:extLst>
              <a:ext uri="{FF2B5EF4-FFF2-40B4-BE49-F238E27FC236}">
                <a16:creationId xmlns:a16="http://schemas.microsoft.com/office/drawing/2014/main" id="{039964AA-1E0C-DDD0-22B5-59C445B031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28" t="-2" r="1402" b="8351"/>
          <a:stretch/>
        </p:blipFill>
        <p:spPr bwMode="auto">
          <a:xfrm>
            <a:off x="6525549" y="952500"/>
            <a:ext cx="5363134" cy="4749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43331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98677-4C5C-FA81-F41D-703ECE8BE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18873EA-9021-3161-1836-1F33234B49A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66701" y="952500"/>
            <a:ext cx="5715741" cy="518159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/>
              <a:t>What are Lagrange Points?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Gravitationally stable positions where spacecraft can maintain fixed positions relative to two celestial bodies.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There exists Lagrange Points in the following three systems: Earth-Moon, Earth-Sun, and Mars-Sun.</a:t>
            </a:r>
          </a:p>
          <a:p>
            <a:pPr marL="0" indent="0">
              <a:buNone/>
            </a:pPr>
            <a:r>
              <a:rPr lang="en-US" b="1"/>
              <a:t>Application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Natural positioning eliminates need for complex orbital mechanics while providing optimal coverage geometry.</a:t>
            </a:r>
          </a:p>
        </p:txBody>
      </p:sp>
      <p:sp>
        <p:nvSpPr>
          <p:cNvPr id="3079" name="Slide Number Placeholder 2">
            <a:extLst>
              <a:ext uri="{FF2B5EF4-FFF2-40B4-BE49-F238E27FC236}">
                <a16:creationId xmlns:a16="http://schemas.microsoft.com/office/drawing/2014/main" id="{3C96535E-77E6-DC89-F47B-C6D5256E17E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218545" y="6248487"/>
            <a:ext cx="123272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876332E-97D2-CC49-9E46-E6E0DDE407EB}" type="slidenum">
              <a:rPr lang="en-US" smtClean="0"/>
              <a:pPr>
                <a:spcAft>
                  <a:spcPts val="600"/>
                </a:spcAft>
              </a:pPr>
              <a:t>20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477D21-1CE0-1EA5-A02F-4116AB930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317" y="244386"/>
            <a:ext cx="11585366" cy="524541"/>
          </a:xfrm>
        </p:spPr>
        <p:txBody>
          <a:bodyPr anchor="ctr">
            <a:normAutofit/>
          </a:bodyPr>
          <a:lstStyle/>
          <a:p>
            <a:r>
              <a:rPr lang="en-US"/>
              <a:t>FSO Link Budget</a:t>
            </a:r>
          </a:p>
        </p:txBody>
      </p:sp>
      <p:pic>
        <p:nvPicPr>
          <p:cNvPr id="3074" name="Picture 2" descr="Space 201: Thinking About the Space Domain | The Heritage Foundation">
            <a:extLst>
              <a:ext uri="{FF2B5EF4-FFF2-40B4-BE49-F238E27FC236}">
                <a16:creationId xmlns:a16="http://schemas.microsoft.com/office/drawing/2014/main" id="{CB5E6699-2C6B-F013-A8B8-054E8B817C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28" t="-2" r="1402" b="8351"/>
          <a:stretch/>
        </p:blipFill>
        <p:spPr bwMode="auto">
          <a:xfrm>
            <a:off x="6525549" y="952500"/>
            <a:ext cx="5363134" cy="4749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7052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31F0A-690E-720A-D6C3-1DFC76069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F7A855E-FC63-7F6D-9D76-F9F52E63966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66701" y="952500"/>
            <a:ext cx="5715741" cy="518159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/>
              <a:t>What are Lagrange Points?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Gravitationally stable positions where spacecraft can maintain fixed positions relative to two celestial bodies.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There exists Lagrange Points in the following three systems: Earth-Moon, Earth-Sun, and Mars-Sun.</a:t>
            </a:r>
          </a:p>
          <a:p>
            <a:pPr marL="0" indent="0">
              <a:buNone/>
            </a:pPr>
            <a:r>
              <a:rPr lang="en-US" b="1"/>
              <a:t>Application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Natural positioning eliminates need for complex orbital mechanics while providing optimal coverage geometry.</a:t>
            </a:r>
          </a:p>
        </p:txBody>
      </p:sp>
      <p:sp>
        <p:nvSpPr>
          <p:cNvPr id="3079" name="Slide Number Placeholder 2">
            <a:extLst>
              <a:ext uri="{FF2B5EF4-FFF2-40B4-BE49-F238E27FC236}">
                <a16:creationId xmlns:a16="http://schemas.microsoft.com/office/drawing/2014/main" id="{4AB9D86E-57CE-B3EB-C4AF-5DE291F1D9C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218545" y="6248487"/>
            <a:ext cx="123272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876332E-97D2-CC49-9E46-E6E0DDE407EB}" type="slidenum">
              <a:rPr lang="en-US" smtClean="0"/>
              <a:pPr>
                <a:spcAft>
                  <a:spcPts val="600"/>
                </a:spcAft>
              </a:pPr>
              <a:t>21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B3D690-080D-FD15-6D0E-301B19D73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317" y="244386"/>
            <a:ext cx="11585366" cy="524541"/>
          </a:xfrm>
        </p:spPr>
        <p:txBody>
          <a:bodyPr anchor="ctr">
            <a:normAutofit/>
          </a:bodyPr>
          <a:lstStyle/>
          <a:p>
            <a:r>
              <a:rPr lang="en-US"/>
              <a:t>Free-Space Path Loss</a:t>
            </a:r>
          </a:p>
        </p:txBody>
      </p:sp>
      <p:pic>
        <p:nvPicPr>
          <p:cNvPr id="3074" name="Picture 2" descr="Space 201: Thinking About the Space Domain | The Heritage Foundation">
            <a:extLst>
              <a:ext uri="{FF2B5EF4-FFF2-40B4-BE49-F238E27FC236}">
                <a16:creationId xmlns:a16="http://schemas.microsoft.com/office/drawing/2014/main" id="{3A88914F-C985-FE98-AB3C-A0D32A0726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28" t="-2" r="1402" b="8351"/>
          <a:stretch/>
        </p:blipFill>
        <p:spPr bwMode="auto">
          <a:xfrm>
            <a:off x="6525549" y="952500"/>
            <a:ext cx="5363134" cy="4749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87243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B3C98-2E20-F93A-A216-FC70C3672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7753C24-7C85-BED1-E18F-CBDDB065D27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66701" y="952500"/>
            <a:ext cx="5715741" cy="518159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/>
              <a:t>What are Lagrange Points?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Gravitationally stable positions where spacecraft can maintain fixed positions relative to two celestial bodies.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There exists Lagrange Points in the following three systems: Earth-Moon, Earth-Sun, and Mars-Sun.</a:t>
            </a:r>
          </a:p>
          <a:p>
            <a:pPr marL="0" indent="0">
              <a:buNone/>
            </a:pPr>
            <a:r>
              <a:rPr lang="en-US" b="1"/>
              <a:t>Application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Natural positioning eliminates need for complex orbital mechanics while providing optimal coverage geometry.</a:t>
            </a:r>
          </a:p>
        </p:txBody>
      </p:sp>
      <p:sp>
        <p:nvSpPr>
          <p:cNvPr id="3079" name="Slide Number Placeholder 2">
            <a:extLst>
              <a:ext uri="{FF2B5EF4-FFF2-40B4-BE49-F238E27FC236}">
                <a16:creationId xmlns:a16="http://schemas.microsoft.com/office/drawing/2014/main" id="{671DC19E-2F5C-2D0C-9B5A-4920F24CF63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218545" y="6248487"/>
            <a:ext cx="123272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876332E-97D2-CC49-9E46-E6E0DDE407EB}" type="slidenum">
              <a:rPr lang="en-US" smtClean="0"/>
              <a:pPr>
                <a:spcAft>
                  <a:spcPts val="600"/>
                </a:spcAft>
              </a:pPr>
              <a:t>22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D057FD-598F-CA3A-681B-69DC00C91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317" y="244386"/>
            <a:ext cx="11585366" cy="524541"/>
          </a:xfrm>
        </p:spPr>
        <p:txBody>
          <a:bodyPr anchor="ctr">
            <a:normAutofit/>
          </a:bodyPr>
          <a:lstStyle/>
          <a:p>
            <a:r>
              <a:rPr lang="en-US"/>
              <a:t>Geometric Spreading Loss</a:t>
            </a:r>
          </a:p>
        </p:txBody>
      </p:sp>
      <p:pic>
        <p:nvPicPr>
          <p:cNvPr id="3074" name="Picture 2" descr="Space 201: Thinking About the Space Domain | The Heritage Foundation">
            <a:extLst>
              <a:ext uri="{FF2B5EF4-FFF2-40B4-BE49-F238E27FC236}">
                <a16:creationId xmlns:a16="http://schemas.microsoft.com/office/drawing/2014/main" id="{859ED4FF-CBC4-FB06-1CCE-2406BE6701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28" t="-2" r="1402" b="8351"/>
          <a:stretch/>
        </p:blipFill>
        <p:spPr bwMode="auto">
          <a:xfrm>
            <a:off x="6525549" y="952500"/>
            <a:ext cx="5363134" cy="4749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64510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B99F5-700B-9A27-CE2F-571EB5E9B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68D121A-4608-95A7-8230-BA87F4B5C9D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66701" y="952500"/>
            <a:ext cx="5715741" cy="518159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/>
              <a:t>What are Lagrange Points?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Gravitationally stable positions where spacecraft can maintain fixed positions relative to two celestial bodies.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There exists Lagrange Points in the following three systems: Earth-Moon, Earth-Sun, and Mars-Sun.</a:t>
            </a:r>
          </a:p>
          <a:p>
            <a:pPr marL="0" indent="0">
              <a:buNone/>
            </a:pPr>
            <a:r>
              <a:rPr lang="en-US" b="1"/>
              <a:t>Application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Natural positioning eliminates need for complex orbital mechanics while providing optimal coverage geometry.</a:t>
            </a:r>
          </a:p>
        </p:txBody>
      </p:sp>
      <p:sp>
        <p:nvSpPr>
          <p:cNvPr id="3079" name="Slide Number Placeholder 2">
            <a:extLst>
              <a:ext uri="{FF2B5EF4-FFF2-40B4-BE49-F238E27FC236}">
                <a16:creationId xmlns:a16="http://schemas.microsoft.com/office/drawing/2014/main" id="{16B7417A-D459-02BA-DAEC-810A2BA3CA6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218545" y="6248487"/>
            <a:ext cx="123272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876332E-97D2-CC49-9E46-E6E0DDE407EB}" type="slidenum">
              <a:rPr lang="en-US" smtClean="0"/>
              <a:pPr>
                <a:spcAft>
                  <a:spcPts val="600"/>
                </a:spcAft>
              </a:pPr>
              <a:t>23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DD2F25-FA29-1065-C221-B3E794C15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317" y="244386"/>
            <a:ext cx="11585366" cy="524541"/>
          </a:xfrm>
        </p:spPr>
        <p:txBody>
          <a:bodyPr anchor="ctr">
            <a:normAutofit/>
          </a:bodyPr>
          <a:lstStyle/>
          <a:p>
            <a:r>
              <a:rPr lang="en-US"/>
              <a:t>Pointing Loss Model</a:t>
            </a:r>
          </a:p>
        </p:txBody>
      </p:sp>
      <p:pic>
        <p:nvPicPr>
          <p:cNvPr id="3074" name="Picture 2" descr="Space 201: Thinking About the Space Domain | The Heritage Foundation">
            <a:extLst>
              <a:ext uri="{FF2B5EF4-FFF2-40B4-BE49-F238E27FC236}">
                <a16:creationId xmlns:a16="http://schemas.microsoft.com/office/drawing/2014/main" id="{704BEDB9-F4B1-9C24-36F3-2F9C8D2DDB0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28" t="-2" r="1402" b="8351"/>
          <a:stretch/>
        </p:blipFill>
        <p:spPr bwMode="auto">
          <a:xfrm>
            <a:off x="6525549" y="952500"/>
            <a:ext cx="5363134" cy="4749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06226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A7056-EB29-0109-88A3-4A27E6A16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7FB0C44-9E2D-1136-708A-1EA6B2AB9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66701" y="952500"/>
            <a:ext cx="5715741" cy="518159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/>
              <a:t>What are Lagrange Points?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Gravitationally stable positions where spacecraft can maintain fixed positions relative to two celestial bodies.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There exists Lagrange Points in the following three systems: Earth-Moon, Earth-Sun, and Mars-Sun.</a:t>
            </a:r>
          </a:p>
          <a:p>
            <a:pPr marL="0" indent="0">
              <a:buNone/>
            </a:pPr>
            <a:r>
              <a:rPr lang="en-US" b="1"/>
              <a:t>Application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Natural positioning eliminates need for complex orbital mechanics while providing optimal coverage geometry.</a:t>
            </a:r>
          </a:p>
        </p:txBody>
      </p:sp>
      <p:sp>
        <p:nvSpPr>
          <p:cNvPr id="3079" name="Slide Number Placeholder 2">
            <a:extLst>
              <a:ext uri="{FF2B5EF4-FFF2-40B4-BE49-F238E27FC236}">
                <a16:creationId xmlns:a16="http://schemas.microsoft.com/office/drawing/2014/main" id="{F77F854F-CF02-D120-5A1B-66824ABF0E9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218545" y="6248487"/>
            <a:ext cx="123272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876332E-97D2-CC49-9E46-E6E0DDE407EB}" type="slidenum">
              <a:rPr lang="en-US" smtClean="0"/>
              <a:pPr>
                <a:spcAft>
                  <a:spcPts val="600"/>
                </a:spcAft>
              </a:pPr>
              <a:t>24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49D688-8291-FA22-7243-B857CB6AE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317" y="244386"/>
            <a:ext cx="11585366" cy="524541"/>
          </a:xfrm>
        </p:spPr>
        <p:txBody>
          <a:bodyPr anchor="ctr">
            <a:normAutofit/>
          </a:bodyPr>
          <a:lstStyle/>
          <a:p>
            <a:r>
              <a:rPr lang="en-US"/>
              <a:t>Modulation and Detection Theory</a:t>
            </a:r>
          </a:p>
        </p:txBody>
      </p:sp>
      <p:pic>
        <p:nvPicPr>
          <p:cNvPr id="3074" name="Picture 2" descr="Space 201: Thinking About the Space Domain | The Heritage Foundation">
            <a:extLst>
              <a:ext uri="{FF2B5EF4-FFF2-40B4-BE49-F238E27FC236}">
                <a16:creationId xmlns:a16="http://schemas.microsoft.com/office/drawing/2014/main" id="{A938FF58-33FB-FE42-3DA1-EF845264271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28" t="-2" r="1402" b="8351"/>
          <a:stretch/>
        </p:blipFill>
        <p:spPr bwMode="auto">
          <a:xfrm>
            <a:off x="6525549" y="952500"/>
            <a:ext cx="5363134" cy="4749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76904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C5D74-8CEA-C9DC-2FE5-6CFC2BF56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C076ECC-9802-059A-ADD5-8F729A6EE67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66701" y="952500"/>
            <a:ext cx="5715741" cy="518159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/>
              <a:t>What are Lagrange Points?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Gravitationally stable positions where spacecraft can maintain fixed positions relative to two celestial bodies.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There exists Lagrange Points in the following three systems: Earth-Moon, Earth-Sun, and Mars-Sun.</a:t>
            </a:r>
          </a:p>
          <a:p>
            <a:pPr marL="0" indent="0">
              <a:buNone/>
            </a:pPr>
            <a:r>
              <a:rPr lang="en-US" b="1"/>
              <a:t>Application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Natural positioning eliminates need for complex orbital mechanics while providing optimal coverage geometry.</a:t>
            </a:r>
          </a:p>
        </p:txBody>
      </p:sp>
      <p:sp>
        <p:nvSpPr>
          <p:cNvPr id="3079" name="Slide Number Placeholder 2">
            <a:extLst>
              <a:ext uri="{FF2B5EF4-FFF2-40B4-BE49-F238E27FC236}">
                <a16:creationId xmlns:a16="http://schemas.microsoft.com/office/drawing/2014/main" id="{2E89D017-CCD8-B192-BCF2-51CA5FD730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218545" y="6248487"/>
            <a:ext cx="123272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876332E-97D2-CC49-9E46-E6E0DDE407EB}" type="slidenum">
              <a:rPr lang="en-US" smtClean="0"/>
              <a:pPr>
                <a:spcAft>
                  <a:spcPts val="600"/>
                </a:spcAft>
              </a:pPr>
              <a:t>25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BD17F0-F900-7FC1-5B09-93A46A9F8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317" y="244386"/>
            <a:ext cx="11585366" cy="524541"/>
          </a:xfrm>
        </p:spPr>
        <p:txBody>
          <a:bodyPr anchor="ctr">
            <a:normAutofit/>
          </a:bodyPr>
          <a:lstStyle/>
          <a:p>
            <a:r>
              <a:rPr lang="en-US"/>
              <a:t>On-Off Keying (OOK) Performance</a:t>
            </a:r>
          </a:p>
        </p:txBody>
      </p:sp>
      <p:pic>
        <p:nvPicPr>
          <p:cNvPr id="3074" name="Picture 2" descr="Space 201: Thinking About the Space Domain | The Heritage Foundation">
            <a:extLst>
              <a:ext uri="{FF2B5EF4-FFF2-40B4-BE49-F238E27FC236}">
                <a16:creationId xmlns:a16="http://schemas.microsoft.com/office/drawing/2014/main" id="{61634687-8695-4894-8CFD-143CBFBD08E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28" t="-2" r="1402" b="8351"/>
          <a:stretch/>
        </p:blipFill>
        <p:spPr bwMode="auto">
          <a:xfrm>
            <a:off x="6525549" y="952500"/>
            <a:ext cx="5363134" cy="4749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03424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23431-DA98-5951-2896-2A6FB07BB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5640BB2-F0DB-6738-62DD-03A2B4DC030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66701" y="952500"/>
            <a:ext cx="5715741" cy="518159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/>
              <a:t>What are Lagrange Points?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Gravitationally stable positions where spacecraft can maintain fixed positions relative to two celestial bodies.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There exists Lagrange Points in the following three systems: Earth-Moon, Earth-Sun, and Mars-Sun.</a:t>
            </a:r>
          </a:p>
          <a:p>
            <a:pPr marL="0" indent="0">
              <a:buNone/>
            </a:pPr>
            <a:r>
              <a:rPr lang="en-US" b="1"/>
              <a:t>Application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Natural positioning eliminates need for complex orbital mechanics while providing optimal coverage geometry.</a:t>
            </a:r>
          </a:p>
        </p:txBody>
      </p:sp>
      <p:sp>
        <p:nvSpPr>
          <p:cNvPr id="3079" name="Slide Number Placeholder 2">
            <a:extLst>
              <a:ext uri="{FF2B5EF4-FFF2-40B4-BE49-F238E27FC236}">
                <a16:creationId xmlns:a16="http://schemas.microsoft.com/office/drawing/2014/main" id="{E8A64666-6291-6B5B-C596-BE15A10847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218545" y="6248487"/>
            <a:ext cx="123272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876332E-97D2-CC49-9E46-E6E0DDE407EB}" type="slidenum">
              <a:rPr lang="en-US" smtClean="0"/>
              <a:pPr>
                <a:spcAft>
                  <a:spcPts val="600"/>
                </a:spcAft>
              </a:pPr>
              <a:t>26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41D633-3BB3-41E8-4F3B-A722BE3C8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317" y="244386"/>
            <a:ext cx="11585366" cy="524541"/>
          </a:xfrm>
        </p:spPr>
        <p:txBody>
          <a:bodyPr anchor="ctr">
            <a:normAutofit/>
          </a:bodyPr>
          <a:lstStyle/>
          <a:p>
            <a:r>
              <a:rPr lang="en-US"/>
              <a:t>Pulse Position Modulation (PPM))</a:t>
            </a:r>
          </a:p>
        </p:txBody>
      </p:sp>
      <p:pic>
        <p:nvPicPr>
          <p:cNvPr id="3074" name="Picture 2" descr="Space 201: Thinking About the Space Domain | The Heritage Foundation">
            <a:extLst>
              <a:ext uri="{FF2B5EF4-FFF2-40B4-BE49-F238E27FC236}">
                <a16:creationId xmlns:a16="http://schemas.microsoft.com/office/drawing/2014/main" id="{37940883-3C46-3B7C-57CE-B12C999CDF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28" t="-2" r="1402" b="8351"/>
          <a:stretch/>
        </p:blipFill>
        <p:spPr bwMode="auto">
          <a:xfrm>
            <a:off x="6525549" y="952500"/>
            <a:ext cx="5363134" cy="4749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4780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B4491-93A3-4F4F-48A7-2551035CE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03BCA91-4383-CEEB-6F31-DDBE6A9F488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66701" y="952500"/>
            <a:ext cx="5715741" cy="518159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/>
              <a:t>What are Lagrange Points?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Gravitationally stable positions where spacecraft can maintain fixed positions relative to two celestial bodies.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There exists Lagrange Points in the following three systems: Earth-Moon, Earth-Sun, and Mars-Sun.</a:t>
            </a:r>
          </a:p>
          <a:p>
            <a:pPr marL="0" indent="0">
              <a:buNone/>
            </a:pPr>
            <a:r>
              <a:rPr lang="en-US" b="1"/>
              <a:t>Application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Natural positioning eliminates need for complex orbital mechanics while providing optimal coverage geometry.</a:t>
            </a:r>
          </a:p>
        </p:txBody>
      </p:sp>
      <p:sp>
        <p:nvSpPr>
          <p:cNvPr id="3079" name="Slide Number Placeholder 2">
            <a:extLst>
              <a:ext uri="{FF2B5EF4-FFF2-40B4-BE49-F238E27FC236}">
                <a16:creationId xmlns:a16="http://schemas.microsoft.com/office/drawing/2014/main" id="{67A539B5-0FBE-D60E-F079-BC37A70B3E4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218545" y="6248487"/>
            <a:ext cx="123272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876332E-97D2-CC49-9E46-E6E0DDE407EB}" type="slidenum">
              <a:rPr lang="en-US" smtClean="0"/>
              <a:pPr>
                <a:spcAft>
                  <a:spcPts val="600"/>
                </a:spcAft>
              </a:pPr>
              <a:t>27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BF9309-170A-D45D-C4B6-C83C7FC3A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317" y="244386"/>
            <a:ext cx="11585366" cy="524541"/>
          </a:xfrm>
        </p:spPr>
        <p:txBody>
          <a:bodyPr anchor="ctr">
            <a:normAutofit/>
          </a:bodyPr>
          <a:lstStyle/>
          <a:p>
            <a:r>
              <a:rPr lang="en-US"/>
              <a:t>Photon-Counting Channel Capacity</a:t>
            </a:r>
          </a:p>
        </p:txBody>
      </p:sp>
      <p:pic>
        <p:nvPicPr>
          <p:cNvPr id="3074" name="Picture 2" descr="Space 201: Thinking About the Space Domain | The Heritage Foundation">
            <a:extLst>
              <a:ext uri="{FF2B5EF4-FFF2-40B4-BE49-F238E27FC236}">
                <a16:creationId xmlns:a16="http://schemas.microsoft.com/office/drawing/2014/main" id="{5AFF9854-DF83-42B4-78B8-3A9A4E83562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28" t="-2" r="1402" b="8351"/>
          <a:stretch/>
        </p:blipFill>
        <p:spPr bwMode="auto">
          <a:xfrm>
            <a:off x="6525549" y="952500"/>
            <a:ext cx="5363134" cy="4749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59355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4D3FF-F715-36F3-A271-175DFC916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E972F3A-35B4-738F-86DD-BC5DAD04DC2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66701" y="952500"/>
            <a:ext cx="5715741" cy="518159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/>
              <a:t>What are Lagrange Points?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Gravitationally stable positions where spacecraft can maintain fixed positions relative to two celestial bodies.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There exists Lagrange Points in the following three systems: Earth-Moon, Earth-Sun, and Mars-Sun.</a:t>
            </a:r>
          </a:p>
          <a:p>
            <a:pPr marL="0" indent="0">
              <a:buNone/>
            </a:pPr>
            <a:r>
              <a:rPr lang="en-US" b="1"/>
              <a:t>Application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Natural positioning eliminates need for complex orbital mechanics while providing optimal coverage geometry.</a:t>
            </a:r>
          </a:p>
        </p:txBody>
      </p:sp>
      <p:sp>
        <p:nvSpPr>
          <p:cNvPr id="3079" name="Slide Number Placeholder 2">
            <a:extLst>
              <a:ext uri="{FF2B5EF4-FFF2-40B4-BE49-F238E27FC236}">
                <a16:creationId xmlns:a16="http://schemas.microsoft.com/office/drawing/2014/main" id="{C5FD148C-6E69-4978-2968-6339C61888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218545" y="6248487"/>
            <a:ext cx="123272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876332E-97D2-CC49-9E46-E6E0DDE407EB}" type="slidenum">
              <a:rPr lang="en-US" smtClean="0"/>
              <a:pPr>
                <a:spcAft>
                  <a:spcPts val="600"/>
                </a:spcAft>
              </a:pPr>
              <a:t>28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BC8671-3C83-6E2F-5E51-F1E3F0821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317" y="244386"/>
            <a:ext cx="11585366" cy="524541"/>
          </a:xfrm>
        </p:spPr>
        <p:txBody>
          <a:bodyPr anchor="ctr">
            <a:normAutofit/>
          </a:bodyPr>
          <a:lstStyle/>
          <a:p>
            <a:r>
              <a:rPr lang="en-US"/>
              <a:t>Network Optimization Mathematics</a:t>
            </a:r>
          </a:p>
        </p:txBody>
      </p:sp>
      <p:pic>
        <p:nvPicPr>
          <p:cNvPr id="3074" name="Picture 2" descr="Space 201: Thinking About the Space Domain | The Heritage Foundation">
            <a:extLst>
              <a:ext uri="{FF2B5EF4-FFF2-40B4-BE49-F238E27FC236}">
                <a16:creationId xmlns:a16="http://schemas.microsoft.com/office/drawing/2014/main" id="{E1D57FF3-DBB9-90D9-6788-CD9ED93153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28" t="-2" r="1402" b="8351"/>
          <a:stretch/>
        </p:blipFill>
        <p:spPr bwMode="auto">
          <a:xfrm>
            <a:off x="6525549" y="952500"/>
            <a:ext cx="5363134" cy="4749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18928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A8212-41F5-CBB6-4AAD-2023E1712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E6EF48-7397-7AE8-BDD7-E92AD920CCD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66701" y="952500"/>
            <a:ext cx="5715741" cy="518159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/>
              <a:t>What are Lagrange Points?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Gravitationally stable positions where spacecraft can maintain fixed positions relative to two celestial bodies.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There exists Lagrange Points in the following three systems: Earth-Moon, Earth-Sun, and Mars-Sun.</a:t>
            </a:r>
          </a:p>
          <a:p>
            <a:pPr marL="0" indent="0">
              <a:buNone/>
            </a:pPr>
            <a:r>
              <a:rPr lang="en-US" b="1"/>
              <a:t>Application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Natural positioning eliminates need for complex orbital mechanics while providing optimal coverage geometry.</a:t>
            </a:r>
          </a:p>
        </p:txBody>
      </p:sp>
      <p:sp>
        <p:nvSpPr>
          <p:cNvPr id="3079" name="Slide Number Placeholder 2">
            <a:extLst>
              <a:ext uri="{FF2B5EF4-FFF2-40B4-BE49-F238E27FC236}">
                <a16:creationId xmlns:a16="http://schemas.microsoft.com/office/drawing/2014/main" id="{204CFC53-4C00-41E3-ACAF-A0E12383E05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218545" y="6248487"/>
            <a:ext cx="123272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876332E-97D2-CC49-9E46-E6E0DDE407EB}" type="slidenum">
              <a:rPr lang="en-US" smtClean="0"/>
              <a:pPr>
                <a:spcAft>
                  <a:spcPts val="600"/>
                </a:spcAft>
              </a:pPr>
              <a:t>29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4BC1FB-14BE-3154-B4E9-39C5D750F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317" y="244386"/>
            <a:ext cx="11585366" cy="524541"/>
          </a:xfrm>
        </p:spPr>
        <p:txBody>
          <a:bodyPr anchor="ctr">
            <a:normAutofit/>
          </a:bodyPr>
          <a:lstStyle/>
          <a:p>
            <a:r>
              <a:rPr lang="en-US"/>
              <a:t>Traffic Schedule Optimization</a:t>
            </a:r>
          </a:p>
        </p:txBody>
      </p:sp>
      <p:pic>
        <p:nvPicPr>
          <p:cNvPr id="3074" name="Picture 2" descr="Space 201: Thinking About the Space Domain | The Heritage Foundation">
            <a:extLst>
              <a:ext uri="{FF2B5EF4-FFF2-40B4-BE49-F238E27FC236}">
                <a16:creationId xmlns:a16="http://schemas.microsoft.com/office/drawing/2014/main" id="{BD29C850-BFDE-63BF-99CE-D1497EE4EF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28" t="-2" r="1402" b="8351"/>
          <a:stretch/>
        </p:blipFill>
        <p:spPr bwMode="auto">
          <a:xfrm>
            <a:off x="6525549" y="952500"/>
            <a:ext cx="5363134" cy="4749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22881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21E5E-E7EA-2114-CE84-E402E1178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89CF12C-E7BE-9AC5-04DB-21BBBA62435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66701" y="952500"/>
            <a:ext cx="5715741" cy="518159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/>
              <a:t>What are Lagrange Points?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Gravitationally stable positions where spacecraft can maintain fixed positions relative to two celestial bodies.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There exists Lagrange Points in the following three systems: Earth-Moon, Earth-Sun, and Mars-Sun.</a:t>
            </a:r>
          </a:p>
          <a:p>
            <a:pPr marL="0" indent="0">
              <a:buNone/>
            </a:pPr>
            <a:r>
              <a:rPr lang="en-US" b="1"/>
              <a:t>Application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Natural positioning eliminates need for complex orbital mechanics while providing optimal coverage geometry.</a:t>
            </a:r>
          </a:p>
        </p:txBody>
      </p:sp>
      <p:sp>
        <p:nvSpPr>
          <p:cNvPr id="3079" name="Slide Number Placeholder 2">
            <a:extLst>
              <a:ext uri="{FF2B5EF4-FFF2-40B4-BE49-F238E27FC236}">
                <a16:creationId xmlns:a16="http://schemas.microsoft.com/office/drawing/2014/main" id="{FBFBE656-3911-C44A-E08C-45510D31C1E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218545" y="6248487"/>
            <a:ext cx="123272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876332E-97D2-CC49-9E46-E6E0DDE407EB}" type="slidenum">
              <a:rPr lang="en-US" smtClean="0"/>
              <a:pPr>
                <a:spcAft>
                  <a:spcPts val="600"/>
                </a:spcAft>
              </a:pPr>
              <a:t>30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7E372F-115E-C36E-8A1E-E1FB01906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317" y="244386"/>
            <a:ext cx="11585366" cy="524541"/>
          </a:xfrm>
        </p:spPr>
        <p:txBody>
          <a:bodyPr anchor="ctr">
            <a:normAutofit/>
          </a:bodyPr>
          <a:lstStyle/>
          <a:p>
            <a:r>
              <a:rPr lang="en-US"/>
              <a:t>Third-Body Perturbations</a:t>
            </a:r>
          </a:p>
        </p:txBody>
      </p:sp>
      <p:pic>
        <p:nvPicPr>
          <p:cNvPr id="3074" name="Picture 2" descr="Space 201: Thinking About the Space Domain | The Heritage Foundation">
            <a:extLst>
              <a:ext uri="{FF2B5EF4-FFF2-40B4-BE49-F238E27FC236}">
                <a16:creationId xmlns:a16="http://schemas.microsoft.com/office/drawing/2014/main" id="{66019007-AE40-FAED-9DA5-A362CE36942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28" t="-2" r="1402" b="8351"/>
          <a:stretch/>
        </p:blipFill>
        <p:spPr bwMode="auto">
          <a:xfrm>
            <a:off x="6525549" y="952500"/>
            <a:ext cx="5363134" cy="4749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93661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C3108-A3D9-AFF4-2831-7C49AA889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D1C69ED-A06E-AFEA-34C5-CF7D201A260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66701" y="952500"/>
            <a:ext cx="5715741" cy="518159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/>
              <a:t>What are Lagrange Points?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Gravitationally stable positions where spacecraft can maintain fixed positions relative to two celestial bodies.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There exists Lagrange Points in the following three systems: Earth-Moon, Earth-Sun, and Mars-Sun.</a:t>
            </a:r>
          </a:p>
          <a:p>
            <a:pPr marL="0" indent="0">
              <a:buNone/>
            </a:pPr>
            <a:r>
              <a:rPr lang="en-US" b="1"/>
              <a:t>Application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Natural positioning eliminates need for complex orbital mechanics while providing optimal coverage geometry.</a:t>
            </a:r>
          </a:p>
        </p:txBody>
      </p:sp>
      <p:sp>
        <p:nvSpPr>
          <p:cNvPr id="3079" name="Slide Number Placeholder 2">
            <a:extLst>
              <a:ext uri="{FF2B5EF4-FFF2-40B4-BE49-F238E27FC236}">
                <a16:creationId xmlns:a16="http://schemas.microsoft.com/office/drawing/2014/main" id="{40B9ECC5-059F-FC4B-AAC4-9286F1A2013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218545" y="6248487"/>
            <a:ext cx="123272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876332E-97D2-CC49-9E46-E6E0DDE407EB}" type="slidenum">
              <a:rPr lang="en-US" smtClean="0"/>
              <a:pPr>
                <a:spcAft>
                  <a:spcPts val="600"/>
                </a:spcAft>
              </a:pPr>
              <a:t>31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D3E8E5-941F-8941-624D-C4525639C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317" y="244386"/>
            <a:ext cx="11585366" cy="524541"/>
          </a:xfrm>
        </p:spPr>
        <p:txBody>
          <a:bodyPr anchor="ctr">
            <a:normAutofit/>
          </a:bodyPr>
          <a:lstStyle/>
          <a:p>
            <a:r>
              <a:rPr lang="en-US"/>
              <a:t>Relativistic Corrections</a:t>
            </a:r>
          </a:p>
        </p:txBody>
      </p:sp>
      <p:pic>
        <p:nvPicPr>
          <p:cNvPr id="3074" name="Picture 2" descr="Space 201: Thinking About the Space Domain | The Heritage Foundation">
            <a:extLst>
              <a:ext uri="{FF2B5EF4-FFF2-40B4-BE49-F238E27FC236}">
                <a16:creationId xmlns:a16="http://schemas.microsoft.com/office/drawing/2014/main" id="{CA88B03A-6F54-1896-DD23-0136EE31CAC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28" t="-2" r="1402" b="8351"/>
          <a:stretch/>
        </p:blipFill>
        <p:spPr bwMode="auto">
          <a:xfrm>
            <a:off x="6525549" y="952500"/>
            <a:ext cx="5363134" cy="4749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78094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4F8AB-246E-B0DF-9B03-858E22B90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72125FA-244D-5F5D-BEC6-F337DB6CB7A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66701" y="952500"/>
            <a:ext cx="5715741" cy="518159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/>
              <a:t>What are Lagrange Points?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Gravitationally stable positions where spacecraft can maintain fixed positions relative to two celestial bodies.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There exists Lagrange Points in the following three systems: Earth-Moon, Earth-Sun, and Mars-Sun.</a:t>
            </a:r>
          </a:p>
          <a:p>
            <a:pPr marL="0" indent="0">
              <a:buNone/>
            </a:pPr>
            <a:r>
              <a:rPr lang="en-US" b="1"/>
              <a:t>Application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Natural positioning eliminates need for complex orbital mechanics while providing optimal coverage geometry.</a:t>
            </a:r>
          </a:p>
        </p:txBody>
      </p:sp>
      <p:sp>
        <p:nvSpPr>
          <p:cNvPr id="3079" name="Slide Number Placeholder 2">
            <a:extLst>
              <a:ext uri="{FF2B5EF4-FFF2-40B4-BE49-F238E27FC236}">
                <a16:creationId xmlns:a16="http://schemas.microsoft.com/office/drawing/2014/main" id="{DD0CCF32-284F-56B0-2288-1663998220D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218545" y="6248487"/>
            <a:ext cx="123272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876332E-97D2-CC49-9E46-E6E0DDE407EB}" type="slidenum">
              <a:rPr lang="en-US" smtClean="0"/>
              <a:pPr>
                <a:spcAft>
                  <a:spcPts val="600"/>
                </a:spcAft>
              </a:pPr>
              <a:t>32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21A84E-EC6D-3019-C5DB-ED50EE06E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317" y="244386"/>
            <a:ext cx="11585366" cy="524541"/>
          </a:xfrm>
        </p:spPr>
        <p:txBody>
          <a:bodyPr anchor="ctr">
            <a:normAutofit/>
          </a:bodyPr>
          <a:lstStyle/>
          <a:p>
            <a:r>
              <a:rPr lang="en-US"/>
              <a:t>Eclipse Shadow Function</a:t>
            </a:r>
          </a:p>
        </p:txBody>
      </p:sp>
      <p:pic>
        <p:nvPicPr>
          <p:cNvPr id="3074" name="Picture 2" descr="Space 201: Thinking About the Space Domain | The Heritage Foundation">
            <a:extLst>
              <a:ext uri="{FF2B5EF4-FFF2-40B4-BE49-F238E27FC236}">
                <a16:creationId xmlns:a16="http://schemas.microsoft.com/office/drawing/2014/main" id="{768EEF8D-B72C-297E-33E3-10B66B9056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28" t="-2" r="1402" b="8351"/>
          <a:stretch/>
        </p:blipFill>
        <p:spPr bwMode="auto">
          <a:xfrm>
            <a:off x="6525549" y="952500"/>
            <a:ext cx="5363134" cy="4749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85589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B53F5-9095-C8BC-CA28-7E0927A74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AFE36-1F2B-5205-6D52-204BB8E855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/>
              <a:t>Complete Model Overview</a:t>
            </a:r>
          </a:p>
        </p:txBody>
      </p:sp>
    </p:spTree>
    <p:extLst>
      <p:ext uri="{BB962C8B-B14F-4D97-AF65-F5344CB8AC3E}">
        <p14:creationId xmlns:p14="http://schemas.microsoft.com/office/powerpoint/2010/main" val="6683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9A9D5-6631-8077-93A8-B5A941C39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EBB3F94-7451-E0F5-78F2-B95A5290903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66701" y="952500"/>
            <a:ext cx="5715741" cy="518159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/>
              <a:t>What are Lagrange Points?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Gravitationally stable positions where spacecraft can maintain fixed positions relative to two celestial bodies.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There exists Lagrange Points in the following three systems: Earth-Moon, Earth-Sun, and Mars-Sun.</a:t>
            </a:r>
          </a:p>
          <a:p>
            <a:pPr marL="0" indent="0">
              <a:buNone/>
            </a:pPr>
            <a:r>
              <a:rPr lang="en-US" b="1"/>
              <a:t>Application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Natural positioning eliminates need for complex orbital mechanics while providing optimal coverage geometry.</a:t>
            </a:r>
          </a:p>
        </p:txBody>
      </p:sp>
      <p:sp>
        <p:nvSpPr>
          <p:cNvPr id="3079" name="Slide Number Placeholder 2">
            <a:extLst>
              <a:ext uri="{FF2B5EF4-FFF2-40B4-BE49-F238E27FC236}">
                <a16:creationId xmlns:a16="http://schemas.microsoft.com/office/drawing/2014/main" id="{A69C58A3-C35C-5CAF-67E8-577CC65C0F5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218545" y="6248487"/>
            <a:ext cx="123272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876332E-97D2-CC49-9E46-E6E0DDE407EB}" type="slidenum">
              <a:rPr lang="en-US" smtClean="0"/>
              <a:pPr>
                <a:spcAft>
                  <a:spcPts val="600"/>
                </a:spcAft>
              </a:pPr>
              <a:t>34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F8EA43-BAAA-90A7-E840-319BE5272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317" y="244386"/>
            <a:ext cx="11585366" cy="524541"/>
          </a:xfrm>
        </p:spPr>
        <p:txBody>
          <a:bodyPr anchor="ctr">
            <a:normAutofit/>
          </a:bodyPr>
          <a:lstStyle/>
          <a:p>
            <a:r>
              <a:rPr lang="en-US"/>
              <a:t>Environment - libraries</a:t>
            </a:r>
          </a:p>
        </p:txBody>
      </p:sp>
      <p:pic>
        <p:nvPicPr>
          <p:cNvPr id="3074" name="Picture 2" descr="Space 201: Thinking About the Space Domain | The Heritage Foundation">
            <a:extLst>
              <a:ext uri="{FF2B5EF4-FFF2-40B4-BE49-F238E27FC236}">
                <a16:creationId xmlns:a16="http://schemas.microsoft.com/office/drawing/2014/main" id="{CC324844-7C3E-C2FD-C470-88719D2598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28" t="-2" r="1402" b="8351"/>
          <a:stretch/>
        </p:blipFill>
        <p:spPr bwMode="auto">
          <a:xfrm>
            <a:off x="6525549" y="952500"/>
            <a:ext cx="5363134" cy="4749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21080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4245D-8E75-D949-497A-3ED0DF19E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C5B6FAE-05FA-1B33-EF78-CC88C4F624D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66701" y="952500"/>
            <a:ext cx="5715741" cy="518159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/>
              <a:t>What are Lagrange Points?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Gravitationally stable positions where spacecraft can maintain fixed positions relative to two celestial bodies.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There exists Lagrange Points in the following three systems: Earth-Moon, Earth-Sun, and Mars-Sun.</a:t>
            </a:r>
          </a:p>
          <a:p>
            <a:pPr marL="0" indent="0">
              <a:buNone/>
            </a:pPr>
            <a:r>
              <a:rPr lang="en-US" b="1"/>
              <a:t>Application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Natural positioning eliminates need for complex orbital mechanics while providing optimal coverage geometry.</a:t>
            </a:r>
          </a:p>
        </p:txBody>
      </p:sp>
      <p:sp>
        <p:nvSpPr>
          <p:cNvPr id="3079" name="Slide Number Placeholder 2">
            <a:extLst>
              <a:ext uri="{FF2B5EF4-FFF2-40B4-BE49-F238E27FC236}">
                <a16:creationId xmlns:a16="http://schemas.microsoft.com/office/drawing/2014/main" id="{BA67459F-D831-06C5-FCDA-555DDDF08A8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218545" y="6248487"/>
            <a:ext cx="123272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876332E-97D2-CC49-9E46-E6E0DDE407EB}" type="slidenum">
              <a:rPr lang="en-US" smtClean="0"/>
              <a:pPr>
                <a:spcAft>
                  <a:spcPts val="600"/>
                </a:spcAft>
              </a:pPr>
              <a:t>35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CFE56A-B811-DD7D-D690-E798861DD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317" y="244386"/>
            <a:ext cx="11585366" cy="524541"/>
          </a:xfrm>
        </p:spPr>
        <p:txBody>
          <a:bodyPr anchor="ctr">
            <a:normAutofit/>
          </a:bodyPr>
          <a:lstStyle/>
          <a:p>
            <a:r>
              <a:rPr lang="en-US"/>
              <a:t>Constants</a:t>
            </a:r>
          </a:p>
        </p:txBody>
      </p:sp>
      <p:pic>
        <p:nvPicPr>
          <p:cNvPr id="3074" name="Picture 2" descr="Space 201: Thinking About the Space Domain | The Heritage Foundation">
            <a:extLst>
              <a:ext uri="{FF2B5EF4-FFF2-40B4-BE49-F238E27FC236}">
                <a16:creationId xmlns:a16="http://schemas.microsoft.com/office/drawing/2014/main" id="{8DFE68D7-D601-988E-0FF1-2CA1BEF8B4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28" t="-2" r="1402" b="8351"/>
          <a:stretch/>
        </p:blipFill>
        <p:spPr bwMode="auto">
          <a:xfrm>
            <a:off x="6525549" y="952500"/>
            <a:ext cx="5363134" cy="4749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420878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AE973-C014-EA13-5E29-62BA31466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C8760D-E395-EE66-6E81-EAFC7AA5750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66701" y="952500"/>
            <a:ext cx="5715741" cy="518159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/>
              <a:t>What are Lagrange Points?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Gravitationally stable positions where spacecraft can maintain fixed positions relative to two celestial bodies.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There exists Lagrange Points in the following three systems: Earth-Moon, Earth-Sun, and Mars-Sun.</a:t>
            </a:r>
          </a:p>
          <a:p>
            <a:pPr marL="0" indent="0">
              <a:buNone/>
            </a:pPr>
            <a:r>
              <a:rPr lang="en-US" b="1"/>
              <a:t>Application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Natural positioning eliminates need for complex orbital mechanics while providing optimal coverage geometry.</a:t>
            </a:r>
          </a:p>
        </p:txBody>
      </p:sp>
      <p:sp>
        <p:nvSpPr>
          <p:cNvPr id="3079" name="Slide Number Placeholder 2">
            <a:extLst>
              <a:ext uri="{FF2B5EF4-FFF2-40B4-BE49-F238E27FC236}">
                <a16:creationId xmlns:a16="http://schemas.microsoft.com/office/drawing/2014/main" id="{7BD5040B-4297-A868-8576-B73A1090C5E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218545" y="6248487"/>
            <a:ext cx="123272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876332E-97D2-CC49-9E46-E6E0DDE407EB}" type="slidenum">
              <a:rPr lang="en-US" smtClean="0"/>
              <a:pPr>
                <a:spcAft>
                  <a:spcPts val="600"/>
                </a:spcAft>
              </a:pPr>
              <a:t>36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02E000-F46B-D3F4-0CF4-49587D437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317" y="244386"/>
            <a:ext cx="11585366" cy="524541"/>
          </a:xfrm>
        </p:spPr>
        <p:txBody>
          <a:bodyPr anchor="ctr">
            <a:normAutofit/>
          </a:bodyPr>
          <a:lstStyle/>
          <a:p>
            <a:r>
              <a:rPr lang="en-US"/>
              <a:t>FSO Terminal Configuration</a:t>
            </a:r>
          </a:p>
        </p:txBody>
      </p:sp>
      <p:pic>
        <p:nvPicPr>
          <p:cNvPr id="3074" name="Picture 2" descr="Space 201: Thinking About the Space Domain | The Heritage Foundation">
            <a:extLst>
              <a:ext uri="{FF2B5EF4-FFF2-40B4-BE49-F238E27FC236}">
                <a16:creationId xmlns:a16="http://schemas.microsoft.com/office/drawing/2014/main" id="{E4A209C1-4DA0-9C8C-4C19-20604D7F061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28" t="-2" r="1402" b="8351"/>
          <a:stretch/>
        </p:blipFill>
        <p:spPr bwMode="auto">
          <a:xfrm>
            <a:off x="6525549" y="952500"/>
            <a:ext cx="5363134" cy="4749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630898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24847-BF61-9D08-FCB2-D74EA6816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ADA57B8-5752-AD4E-FFF9-323607599B1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66701" y="952500"/>
            <a:ext cx="5715741" cy="518159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/>
              <a:t>What are Lagrange Points?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Gravitationally stable positions where spacecraft can maintain fixed positions relative to two celestial bodies.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There exists Lagrange Points in the following three systems: Earth-Moon, Earth-Sun, and Mars-Sun.</a:t>
            </a:r>
          </a:p>
          <a:p>
            <a:pPr marL="0" indent="0">
              <a:buNone/>
            </a:pPr>
            <a:r>
              <a:rPr lang="en-US" b="1"/>
              <a:t>Application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Natural positioning eliminates need for complex orbital mechanics while providing optimal coverage geometry.</a:t>
            </a:r>
          </a:p>
        </p:txBody>
      </p:sp>
      <p:sp>
        <p:nvSpPr>
          <p:cNvPr id="3079" name="Slide Number Placeholder 2">
            <a:extLst>
              <a:ext uri="{FF2B5EF4-FFF2-40B4-BE49-F238E27FC236}">
                <a16:creationId xmlns:a16="http://schemas.microsoft.com/office/drawing/2014/main" id="{7614BBC1-E54A-01CF-F616-93FB43B3E1C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218545" y="6248487"/>
            <a:ext cx="123272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876332E-97D2-CC49-9E46-E6E0DDE407EB}" type="slidenum">
              <a:rPr lang="en-US" smtClean="0"/>
              <a:pPr>
                <a:spcAft>
                  <a:spcPts val="600"/>
                </a:spcAft>
              </a:pPr>
              <a:t>37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644FEB-F34C-CED5-A45D-191CBBE7C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317" y="244386"/>
            <a:ext cx="11585366" cy="524541"/>
          </a:xfrm>
        </p:spPr>
        <p:txBody>
          <a:bodyPr anchor="ctr">
            <a:normAutofit/>
          </a:bodyPr>
          <a:lstStyle/>
          <a:p>
            <a:r>
              <a:rPr lang="en-US"/>
              <a:t>Link Quality and Performance Parameters</a:t>
            </a:r>
          </a:p>
        </p:txBody>
      </p:sp>
      <p:pic>
        <p:nvPicPr>
          <p:cNvPr id="3074" name="Picture 2" descr="Space 201: Thinking About the Space Domain | The Heritage Foundation">
            <a:extLst>
              <a:ext uri="{FF2B5EF4-FFF2-40B4-BE49-F238E27FC236}">
                <a16:creationId xmlns:a16="http://schemas.microsoft.com/office/drawing/2014/main" id="{196F20F0-3BF6-99AE-1C9A-90B6B03088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28" t="-2" r="1402" b="8351"/>
          <a:stretch/>
        </p:blipFill>
        <p:spPr bwMode="auto">
          <a:xfrm>
            <a:off x="6525549" y="952500"/>
            <a:ext cx="5363134" cy="4749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466309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22208-9F85-9F5B-1E11-40C213CF8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6DC3995-4B9C-2198-63B2-C8A9ACE9793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66701" y="952500"/>
            <a:ext cx="5715741" cy="518159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/>
              <a:t>What are Lagrange Points?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Gravitationally stable positions where spacecraft can maintain fixed positions relative to two celestial bodies.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There exists Lagrange Points in the following three systems: Earth-Moon, Earth-Sun, and Mars-Sun.</a:t>
            </a:r>
          </a:p>
          <a:p>
            <a:pPr marL="0" indent="0">
              <a:buNone/>
            </a:pPr>
            <a:r>
              <a:rPr lang="en-US" b="1"/>
              <a:t>Application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Natural positioning eliminates need for complex orbital mechanics while providing optimal coverage geometry.</a:t>
            </a:r>
          </a:p>
        </p:txBody>
      </p:sp>
      <p:sp>
        <p:nvSpPr>
          <p:cNvPr id="3079" name="Slide Number Placeholder 2">
            <a:extLst>
              <a:ext uri="{FF2B5EF4-FFF2-40B4-BE49-F238E27FC236}">
                <a16:creationId xmlns:a16="http://schemas.microsoft.com/office/drawing/2014/main" id="{83610A31-5A1B-0653-3AEB-7F1B39D5ED3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218545" y="6248487"/>
            <a:ext cx="123272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876332E-97D2-CC49-9E46-E6E0DDE407EB}" type="slidenum">
              <a:rPr lang="en-US" smtClean="0"/>
              <a:pPr>
                <a:spcAft>
                  <a:spcPts val="600"/>
                </a:spcAft>
              </a:pPr>
              <a:t>38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793149-5B01-2FA9-3AFA-75C27C3D5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317" y="244386"/>
            <a:ext cx="11585366" cy="524541"/>
          </a:xfrm>
        </p:spPr>
        <p:txBody>
          <a:bodyPr anchor="ctr">
            <a:normAutofit/>
          </a:bodyPr>
          <a:lstStyle/>
          <a:p>
            <a:r>
              <a:rPr lang="en-US"/>
              <a:t>Traffic Management </a:t>
            </a:r>
            <a:r>
              <a:rPr lang="en-US" err="1"/>
              <a:t>Paramters</a:t>
            </a:r>
            <a:endParaRPr lang="en-US"/>
          </a:p>
        </p:txBody>
      </p:sp>
      <p:pic>
        <p:nvPicPr>
          <p:cNvPr id="3074" name="Picture 2" descr="Space 201: Thinking About the Space Domain | The Heritage Foundation">
            <a:extLst>
              <a:ext uri="{FF2B5EF4-FFF2-40B4-BE49-F238E27FC236}">
                <a16:creationId xmlns:a16="http://schemas.microsoft.com/office/drawing/2014/main" id="{F7607FA1-191C-3E6C-91EF-A440BBCD53D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28" t="-2" r="1402" b="8351"/>
          <a:stretch/>
        </p:blipFill>
        <p:spPr bwMode="auto">
          <a:xfrm>
            <a:off x="6525549" y="952500"/>
            <a:ext cx="5363134" cy="4749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413402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EA20E-757F-5CB6-7BBC-1A71D0FDD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99E96EC-3DB6-2632-4621-9A6240477F9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66701" y="952500"/>
            <a:ext cx="5715741" cy="518159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/>
              <a:t>What are Lagrange Points?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Gravitationally stable positions where spacecraft can maintain fixed positions relative to two celestial bodies.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There exists Lagrange Points in the following three systems: Earth-Moon, Earth-Sun, and Mars-Sun.</a:t>
            </a:r>
          </a:p>
          <a:p>
            <a:pPr marL="0" indent="0">
              <a:buNone/>
            </a:pPr>
            <a:r>
              <a:rPr lang="en-US" b="1"/>
              <a:t>Application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Natural positioning eliminates need for complex orbital mechanics while providing optimal coverage geometry.</a:t>
            </a:r>
          </a:p>
        </p:txBody>
      </p:sp>
      <p:sp>
        <p:nvSpPr>
          <p:cNvPr id="3079" name="Slide Number Placeholder 2">
            <a:extLst>
              <a:ext uri="{FF2B5EF4-FFF2-40B4-BE49-F238E27FC236}">
                <a16:creationId xmlns:a16="http://schemas.microsoft.com/office/drawing/2014/main" id="{45FB3389-D537-F0C3-B2C9-618964CA94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218545" y="6248487"/>
            <a:ext cx="123272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876332E-97D2-CC49-9E46-E6E0DDE407EB}" type="slidenum">
              <a:rPr lang="en-US" smtClean="0"/>
              <a:pPr>
                <a:spcAft>
                  <a:spcPts val="600"/>
                </a:spcAft>
              </a:pPr>
              <a:t>39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EC6B41-CB76-EB12-518D-FC52EB296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317" y="244386"/>
            <a:ext cx="11585366" cy="524541"/>
          </a:xfrm>
        </p:spPr>
        <p:txBody>
          <a:bodyPr anchor="ctr">
            <a:normAutofit/>
          </a:bodyPr>
          <a:lstStyle/>
          <a:p>
            <a:r>
              <a:rPr lang="en-US"/>
              <a:t>Navigation-Assisted Coordination Protocol</a:t>
            </a:r>
          </a:p>
        </p:txBody>
      </p:sp>
      <p:pic>
        <p:nvPicPr>
          <p:cNvPr id="3074" name="Picture 2" descr="Space 201: Thinking About the Space Domain | The Heritage Foundation">
            <a:extLst>
              <a:ext uri="{FF2B5EF4-FFF2-40B4-BE49-F238E27FC236}">
                <a16:creationId xmlns:a16="http://schemas.microsoft.com/office/drawing/2014/main" id="{A4EF726F-C9FC-813F-11CA-F98D22F2D0F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28" t="-2" r="1402" b="8351"/>
          <a:stretch/>
        </p:blipFill>
        <p:spPr bwMode="auto">
          <a:xfrm>
            <a:off x="6525549" y="952500"/>
            <a:ext cx="5363134" cy="4749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605602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DB27C-B6E2-9187-3FE7-65B563636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E2D2EC-62A7-539E-8AF0-9C17DFE6E2C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66701" y="952500"/>
            <a:ext cx="5715741" cy="518159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/>
              <a:t>What are Lagrange Points?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Gravitationally stable positions where spacecraft can maintain fixed positions relative to two celestial bodies.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There exists Lagrange Points in the following three systems: Earth-Moon, Earth-Sun, and Mars-Sun.</a:t>
            </a:r>
          </a:p>
          <a:p>
            <a:pPr marL="0" indent="0">
              <a:buNone/>
            </a:pPr>
            <a:r>
              <a:rPr lang="en-US" b="1"/>
              <a:t>Application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Natural positioning eliminates need for complex orbital mechanics while providing optimal coverage geometry.</a:t>
            </a:r>
          </a:p>
        </p:txBody>
      </p:sp>
      <p:sp>
        <p:nvSpPr>
          <p:cNvPr id="3079" name="Slide Number Placeholder 2">
            <a:extLst>
              <a:ext uri="{FF2B5EF4-FFF2-40B4-BE49-F238E27FC236}">
                <a16:creationId xmlns:a16="http://schemas.microsoft.com/office/drawing/2014/main" id="{20DD0BBD-3B5F-0811-440E-01548FCCE5F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218545" y="6248487"/>
            <a:ext cx="123272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876332E-97D2-CC49-9E46-E6E0DDE407EB}" type="slidenum">
              <a:rPr lang="en-US" smtClean="0"/>
              <a:pPr>
                <a:spcAft>
                  <a:spcPts val="600"/>
                </a:spcAft>
              </a:pPr>
              <a:t>40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11FD42-F1CD-E86D-C6BC-A5E423318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317" y="244386"/>
            <a:ext cx="11585366" cy="524541"/>
          </a:xfrm>
        </p:spPr>
        <p:txBody>
          <a:bodyPr anchor="ctr">
            <a:normAutofit/>
          </a:bodyPr>
          <a:lstStyle/>
          <a:p>
            <a:r>
              <a:rPr lang="en-US"/>
              <a:t>Navigation-Assisted Coordination Update</a:t>
            </a:r>
          </a:p>
        </p:txBody>
      </p:sp>
      <p:pic>
        <p:nvPicPr>
          <p:cNvPr id="3074" name="Picture 2" descr="Space 201: Thinking About the Space Domain | The Heritage Foundation">
            <a:extLst>
              <a:ext uri="{FF2B5EF4-FFF2-40B4-BE49-F238E27FC236}">
                <a16:creationId xmlns:a16="http://schemas.microsoft.com/office/drawing/2014/main" id="{6C016933-1FB4-5EEA-DB09-58DCF19FF47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28" t="-2" r="1402" b="8351"/>
          <a:stretch/>
        </p:blipFill>
        <p:spPr bwMode="auto">
          <a:xfrm>
            <a:off x="6525549" y="952500"/>
            <a:ext cx="5363134" cy="4749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156439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192B3-6CBB-2B1D-E32E-350840380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C33D7EA-BAA9-DB4D-8DF3-750006A71FF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66701" y="952500"/>
            <a:ext cx="5715741" cy="518159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/>
              <a:t>What are Lagrange Points?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Gravitationally stable positions where spacecraft can maintain fixed positions relative to two celestial bodies.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There exists Lagrange Points in the following three systems: Earth-Moon, Earth-Sun, and Mars-Sun.</a:t>
            </a:r>
          </a:p>
          <a:p>
            <a:pPr marL="0" indent="0">
              <a:buNone/>
            </a:pPr>
            <a:r>
              <a:rPr lang="en-US" b="1"/>
              <a:t>Application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Natural positioning eliminates need for complex orbital mechanics while providing optimal coverage geometry.</a:t>
            </a:r>
          </a:p>
        </p:txBody>
      </p:sp>
      <p:sp>
        <p:nvSpPr>
          <p:cNvPr id="3079" name="Slide Number Placeholder 2">
            <a:extLst>
              <a:ext uri="{FF2B5EF4-FFF2-40B4-BE49-F238E27FC236}">
                <a16:creationId xmlns:a16="http://schemas.microsoft.com/office/drawing/2014/main" id="{68F266C7-C049-F701-12F6-BF162D849F4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218545" y="6248487"/>
            <a:ext cx="123272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876332E-97D2-CC49-9E46-E6E0DDE407EB}" type="slidenum">
              <a:rPr lang="en-US" smtClean="0"/>
              <a:pPr>
                <a:spcAft>
                  <a:spcPts val="600"/>
                </a:spcAft>
              </a:pPr>
              <a:t>41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CF8700-0A11-10BB-76C6-A9296B7C4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317" y="244386"/>
            <a:ext cx="11585366" cy="524541"/>
          </a:xfrm>
        </p:spPr>
        <p:txBody>
          <a:bodyPr anchor="ctr">
            <a:normAutofit/>
          </a:bodyPr>
          <a:lstStyle/>
          <a:p>
            <a:r>
              <a:rPr lang="en-US"/>
              <a:t>Navigation-Assisted Coordination Optimal Relay Selection</a:t>
            </a:r>
          </a:p>
        </p:txBody>
      </p:sp>
      <p:pic>
        <p:nvPicPr>
          <p:cNvPr id="3074" name="Picture 2" descr="Space 201: Thinking About the Space Domain | The Heritage Foundation">
            <a:extLst>
              <a:ext uri="{FF2B5EF4-FFF2-40B4-BE49-F238E27FC236}">
                <a16:creationId xmlns:a16="http://schemas.microsoft.com/office/drawing/2014/main" id="{E54FE918-674C-95CF-4395-D60F6A1B60D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28" t="-2" r="1402" b="8351"/>
          <a:stretch/>
        </p:blipFill>
        <p:spPr bwMode="auto">
          <a:xfrm>
            <a:off x="6525549" y="952500"/>
            <a:ext cx="5363134" cy="4749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449296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6D1F2-B3BF-7087-7482-F3DFB01B7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46E932-BCDE-0981-07D4-83C363AD3E9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66701" y="952500"/>
            <a:ext cx="5715741" cy="518159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/>
              <a:t>What are Lagrange Points?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Gravitationally stable positions where spacecraft can maintain fixed positions relative to two celestial bodies.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There exists Lagrange Points in the following three systems: Earth-Moon, Earth-Sun, and Mars-Sun.</a:t>
            </a:r>
          </a:p>
          <a:p>
            <a:pPr marL="0" indent="0">
              <a:buNone/>
            </a:pPr>
            <a:r>
              <a:rPr lang="en-US" b="1"/>
              <a:t>Application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Natural positioning eliminates need for complex orbital mechanics while providing optimal coverage geometry.</a:t>
            </a:r>
          </a:p>
        </p:txBody>
      </p:sp>
      <p:sp>
        <p:nvSpPr>
          <p:cNvPr id="3079" name="Slide Number Placeholder 2">
            <a:extLst>
              <a:ext uri="{FF2B5EF4-FFF2-40B4-BE49-F238E27FC236}">
                <a16:creationId xmlns:a16="http://schemas.microsoft.com/office/drawing/2014/main" id="{CB1CB482-539C-30A0-1BDB-C9CC62196DC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218545" y="6248487"/>
            <a:ext cx="123272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876332E-97D2-CC49-9E46-E6E0DDE407EB}" type="slidenum">
              <a:rPr lang="en-US" smtClean="0"/>
              <a:pPr>
                <a:spcAft>
                  <a:spcPts val="600"/>
                </a:spcAft>
              </a:pPr>
              <a:t>42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D5FA60-F482-4DF0-B46B-DE826850C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317" y="244386"/>
            <a:ext cx="11585366" cy="524541"/>
          </a:xfrm>
        </p:spPr>
        <p:txBody>
          <a:bodyPr anchor="ctr">
            <a:normAutofit/>
          </a:bodyPr>
          <a:lstStyle/>
          <a:p>
            <a:r>
              <a:rPr lang="en-US"/>
              <a:t>Traffic Coordination</a:t>
            </a:r>
          </a:p>
        </p:txBody>
      </p:sp>
      <p:pic>
        <p:nvPicPr>
          <p:cNvPr id="3074" name="Picture 2" descr="Space 201: Thinking About the Space Domain | The Heritage Foundation">
            <a:extLst>
              <a:ext uri="{FF2B5EF4-FFF2-40B4-BE49-F238E27FC236}">
                <a16:creationId xmlns:a16="http://schemas.microsoft.com/office/drawing/2014/main" id="{E6B04413-0170-611A-69CD-72CF436E799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28" t="-2" r="1402" b="8351"/>
          <a:stretch/>
        </p:blipFill>
        <p:spPr bwMode="auto">
          <a:xfrm>
            <a:off x="6525549" y="952500"/>
            <a:ext cx="5363134" cy="4749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9329057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D6BE4-BA29-0A67-3CE8-38A42C4B3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FC39CD1-E902-B5EE-74CE-6A9C852AAFC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66701" y="952500"/>
            <a:ext cx="5715741" cy="518159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/>
              <a:t>What are Lagrange Points?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Gravitationally stable positions where spacecraft can maintain fixed positions relative to two celestial bodies.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There exists Lagrange Points in the following three systems: Earth-Moon, Earth-Sun, and Mars-Sun.</a:t>
            </a:r>
          </a:p>
          <a:p>
            <a:pPr marL="0" indent="0">
              <a:buNone/>
            </a:pPr>
            <a:r>
              <a:rPr lang="en-US" b="1"/>
              <a:t>Application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Natural positioning eliminates need for complex orbital mechanics while providing optimal coverage geometry.</a:t>
            </a:r>
          </a:p>
        </p:txBody>
      </p:sp>
      <p:sp>
        <p:nvSpPr>
          <p:cNvPr id="3079" name="Slide Number Placeholder 2">
            <a:extLst>
              <a:ext uri="{FF2B5EF4-FFF2-40B4-BE49-F238E27FC236}">
                <a16:creationId xmlns:a16="http://schemas.microsoft.com/office/drawing/2014/main" id="{CE3AF04A-3D4D-B65F-9B82-6FA2F7A61CA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218545" y="6248487"/>
            <a:ext cx="123272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876332E-97D2-CC49-9E46-E6E0DDE407EB}" type="slidenum">
              <a:rPr lang="en-US" smtClean="0"/>
              <a:pPr>
                <a:spcAft>
                  <a:spcPts val="600"/>
                </a:spcAft>
              </a:pPr>
              <a:t>43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21AF84-9B23-3B1E-6D55-22A48AE02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317" y="244386"/>
            <a:ext cx="11585366" cy="524541"/>
          </a:xfrm>
        </p:spPr>
        <p:txBody>
          <a:bodyPr anchor="ctr">
            <a:normAutofit/>
          </a:bodyPr>
          <a:lstStyle/>
          <a:p>
            <a:r>
              <a:rPr lang="en-US"/>
              <a:t>Validation Test</a:t>
            </a:r>
          </a:p>
        </p:txBody>
      </p:sp>
      <p:pic>
        <p:nvPicPr>
          <p:cNvPr id="3074" name="Picture 2" descr="Space 201: Thinking About the Space Domain | The Heritage Foundation">
            <a:extLst>
              <a:ext uri="{FF2B5EF4-FFF2-40B4-BE49-F238E27FC236}">
                <a16:creationId xmlns:a16="http://schemas.microsoft.com/office/drawing/2014/main" id="{D012AA6E-C19D-9224-05BB-A1296CAC94D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28" t="-2" r="1402" b="8351"/>
          <a:stretch/>
        </p:blipFill>
        <p:spPr bwMode="auto">
          <a:xfrm>
            <a:off x="6525549" y="952500"/>
            <a:ext cx="5363134" cy="4749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676985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5AE46-7926-83AF-A2F9-FC50381F0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9E5FB8A-5C02-5DFE-1CAA-2713BAA7F0C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66701" y="952500"/>
            <a:ext cx="5715741" cy="518159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/>
              <a:t>What are Lagrange Points?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Gravitationally stable positions where spacecraft can maintain fixed positions relative to two celestial bodies.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There exists Lagrange Points in the following three systems: Earth-Moon, Earth-Sun, and Mars-Sun.</a:t>
            </a:r>
          </a:p>
          <a:p>
            <a:pPr marL="0" indent="0">
              <a:buNone/>
            </a:pPr>
            <a:r>
              <a:rPr lang="en-US" b="1"/>
              <a:t>Application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Natural positioning eliminates need for complex orbital mechanics while providing optimal coverage geometry.</a:t>
            </a:r>
          </a:p>
        </p:txBody>
      </p:sp>
      <p:sp>
        <p:nvSpPr>
          <p:cNvPr id="3079" name="Slide Number Placeholder 2">
            <a:extLst>
              <a:ext uri="{FF2B5EF4-FFF2-40B4-BE49-F238E27FC236}">
                <a16:creationId xmlns:a16="http://schemas.microsoft.com/office/drawing/2014/main" id="{00A50AA9-6961-C0FD-2938-C8E0E9FE020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218545" y="6248487"/>
            <a:ext cx="123272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876332E-97D2-CC49-9E46-E6E0DDE407EB}" type="slidenum">
              <a:rPr lang="en-US" smtClean="0"/>
              <a:pPr>
                <a:spcAft>
                  <a:spcPts val="600"/>
                </a:spcAft>
              </a:pPr>
              <a:t>44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388770-FFED-946F-2FB2-021CF0DE2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317" y="244386"/>
            <a:ext cx="11585366" cy="524541"/>
          </a:xfrm>
        </p:spPr>
        <p:txBody>
          <a:bodyPr anchor="ctr">
            <a:normAutofit/>
          </a:bodyPr>
          <a:lstStyle/>
          <a:p>
            <a:r>
              <a:rPr lang="en-US"/>
              <a:t>Validation Test</a:t>
            </a:r>
          </a:p>
        </p:txBody>
      </p:sp>
      <p:pic>
        <p:nvPicPr>
          <p:cNvPr id="3074" name="Picture 2" descr="Space 201: Thinking About the Space Domain | The Heritage Foundation">
            <a:extLst>
              <a:ext uri="{FF2B5EF4-FFF2-40B4-BE49-F238E27FC236}">
                <a16:creationId xmlns:a16="http://schemas.microsoft.com/office/drawing/2014/main" id="{CA0CF3F4-DA4E-CF48-3F0F-CD080AFC68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28" t="-2" r="1402" b="8351"/>
          <a:stretch/>
        </p:blipFill>
        <p:spPr bwMode="auto">
          <a:xfrm>
            <a:off x="6525549" y="952500"/>
            <a:ext cx="5363134" cy="4749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200841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F4E2E-1F4F-455A-34BA-F0F4774D1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2730232-BE00-F7F6-1A53-7B864650EF0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66701" y="952500"/>
            <a:ext cx="5715741" cy="518159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/>
              <a:t>What are Lagrange Points?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Gravitationally stable positions where spacecraft can maintain fixed positions relative to two celestial bodies.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There exists Lagrange Points in the following three systems: Earth-Moon, Earth-Sun, and Mars-Sun.</a:t>
            </a:r>
          </a:p>
          <a:p>
            <a:pPr marL="0" indent="0">
              <a:buNone/>
            </a:pPr>
            <a:r>
              <a:rPr lang="en-US" b="1"/>
              <a:t>Application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Natural positioning eliminates need for complex orbital mechanics while providing optimal coverage geometry.</a:t>
            </a:r>
          </a:p>
        </p:txBody>
      </p:sp>
      <p:sp>
        <p:nvSpPr>
          <p:cNvPr id="3079" name="Slide Number Placeholder 2">
            <a:extLst>
              <a:ext uri="{FF2B5EF4-FFF2-40B4-BE49-F238E27FC236}">
                <a16:creationId xmlns:a16="http://schemas.microsoft.com/office/drawing/2014/main" id="{892DFA6E-A9F1-B228-76DB-A0E6DB0E793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218545" y="6248487"/>
            <a:ext cx="123272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876332E-97D2-CC49-9E46-E6E0DDE407EB}" type="slidenum">
              <a:rPr lang="en-US" smtClean="0"/>
              <a:pPr>
                <a:spcAft>
                  <a:spcPts val="600"/>
                </a:spcAft>
              </a:pPr>
              <a:t>45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98C105-EE0B-07B4-E3ED-616963958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317" y="244386"/>
            <a:ext cx="11585366" cy="524541"/>
          </a:xfrm>
        </p:spPr>
        <p:txBody>
          <a:bodyPr anchor="ctr">
            <a:normAutofit/>
          </a:bodyPr>
          <a:lstStyle/>
          <a:p>
            <a:r>
              <a:rPr lang="en-US"/>
              <a:t>Validation Test</a:t>
            </a:r>
          </a:p>
        </p:txBody>
      </p:sp>
      <p:pic>
        <p:nvPicPr>
          <p:cNvPr id="3074" name="Picture 2" descr="Space 201: Thinking About the Space Domain | The Heritage Foundation">
            <a:extLst>
              <a:ext uri="{FF2B5EF4-FFF2-40B4-BE49-F238E27FC236}">
                <a16:creationId xmlns:a16="http://schemas.microsoft.com/office/drawing/2014/main" id="{436DD032-6210-168D-B3FB-C5224DB8CC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28" t="-2" r="1402" b="8351"/>
          <a:stretch/>
        </p:blipFill>
        <p:spPr bwMode="auto">
          <a:xfrm>
            <a:off x="6525549" y="952500"/>
            <a:ext cx="5363134" cy="4749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977385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4BB0A-3CA4-C9A0-1197-28C6406A7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F72B6A8-5778-2B70-8ABD-3F54516A26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66701" y="952500"/>
            <a:ext cx="5715741" cy="518159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/>
              <a:t>What are Lagrange Points?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Gravitationally stable positions where spacecraft can maintain fixed positions relative to two celestial bodies.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There exists Lagrange Points in the following three systems: Earth-Moon, Earth-Sun, and Mars-Sun.</a:t>
            </a:r>
          </a:p>
          <a:p>
            <a:pPr marL="0" indent="0">
              <a:buNone/>
            </a:pPr>
            <a:r>
              <a:rPr lang="en-US" b="1"/>
              <a:t>Application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Natural positioning eliminates need for complex orbital mechanics while providing optimal coverage geometry.</a:t>
            </a:r>
          </a:p>
        </p:txBody>
      </p:sp>
      <p:sp>
        <p:nvSpPr>
          <p:cNvPr id="3079" name="Slide Number Placeholder 2">
            <a:extLst>
              <a:ext uri="{FF2B5EF4-FFF2-40B4-BE49-F238E27FC236}">
                <a16:creationId xmlns:a16="http://schemas.microsoft.com/office/drawing/2014/main" id="{86D3E46E-B27C-2293-4778-D9AD80BFE16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218545" y="6248487"/>
            <a:ext cx="123272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876332E-97D2-CC49-9E46-E6E0DDE407EB}" type="slidenum">
              <a:rPr lang="en-US" smtClean="0"/>
              <a:pPr>
                <a:spcAft>
                  <a:spcPts val="600"/>
                </a:spcAft>
              </a:pPr>
              <a:t>46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373C0E-00DF-8D57-D851-B01548401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317" y="244386"/>
            <a:ext cx="11585366" cy="524541"/>
          </a:xfrm>
        </p:spPr>
        <p:txBody>
          <a:bodyPr anchor="ctr">
            <a:normAutofit/>
          </a:bodyPr>
          <a:lstStyle/>
          <a:p>
            <a:r>
              <a:rPr lang="en-US"/>
              <a:t>Validation Test</a:t>
            </a:r>
          </a:p>
        </p:txBody>
      </p:sp>
      <p:pic>
        <p:nvPicPr>
          <p:cNvPr id="3074" name="Picture 2" descr="Space 201: Thinking About the Space Domain | The Heritage Foundation">
            <a:extLst>
              <a:ext uri="{FF2B5EF4-FFF2-40B4-BE49-F238E27FC236}">
                <a16:creationId xmlns:a16="http://schemas.microsoft.com/office/drawing/2014/main" id="{6ECBE2A4-A229-7EC9-0D83-96053AEDB5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28" t="-2" r="1402" b="8351"/>
          <a:stretch/>
        </p:blipFill>
        <p:spPr bwMode="auto">
          <a:xfrm>
            <a:off x="6525549" y="952500"/>
            <a:ext cx="5363134" cy="4749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907463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44C80-3162-6723-D207-4EC35FB7B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1F7ED-30A7-4827-BAC3-7FC14105C9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/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420377297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B5E37-F698-7758-31A1-58980994E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C64FE43-90F9-84AB-DC59-B09C5893157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66701" y="952500"/>
            <a:ext cx="5715741" cy="518159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/>
              <a:t>What are Lagrange Points?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Gravitationally stable positions where spacecraft can maintain fixed positions relative to two celestial bodies.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There exists Lagrange Points in the following three systems: Earth-Moon, Earth-Sun, and Mars-Sun.</a:t>
            </a:r>
          </a:p>
          <a:p>
            <a:pPr marL="0" indent="0">
              <a:buNone/>
            </a:pPr>
            <a:r>
              <a:rPr lang="en-US" b="1"/>
              <a:t>Application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Natural positioning eliminates need for complex orbital mechanics while providing optimal coverage geometry.</a:t>
            </a:r>
          </a:p>
        </p:txBody>
      </p:sp>
      <p:sp>
        <p:nvSpPr>
          <p:cNvPr id="3079" name="Slide Number Placeholder 2">
            <a:extLst>
              <a:ext uri="{FF2B5EF4-FFF2-40B4-BE49-F238E27FC236}">
                <a16:creationId xmlns:a16="http://schemas.microsoft.com/office/drawing/2014/main" id="{CB7F0655-7535-05A4-A88B-1E4F1989513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218545" y="6248487"/>
            <a:ext cx="123272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876332E-97D2-CC49-9E46-E6E0DDE407EB}" type="slidenum">
              <a:rPr lang="en-US" smtClean="0"/>
              <a:pPr>
                <a:spcAft>
                  <a:spcPts val="600"/>
                </a:spcAft>
              </a:pPr>
              <a:t>48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8B5611-5AA0-08AB-298E-62ED5F2C4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317" y="244386"/>
            <a:ext cx="11585366" cy="524541"/>
          </a:xfrm>
        </p:spPr>
        <p:txBody>
          <a:bodyPr anchor="ctr">
            <a:normAutofit/>
          </a:bodyPr>
          <a:lstStyle/>
          <a:p>
            <a:r>
              <a:rPr lang="en-US"/>
              <a:t>Graph</a:t>
            </a:r>
          </a:p>
        </p:txBody>
      </p:sp>
      <p:pic>
        <p:nvPicPr>
          <p:cNvPr id="3074" name="Picture 2" descr="Space 201: Thinking About the Space Domain | The Heritage Foundation">
            <a:extLst>
              <a:ext uri="{FF2B5EF4-FFF2-40B4-BE49-F238E27FC236}">
                <a16:creationId xmlns:a16="http://schemas.microsoft.com/office/drawing/2014/main" id="{66352761-61A2-28DE-1DF2-7EBB29DF7E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28" t="-2" r="1402" b="8351"/>
          <a:stretch/>
        </p:blipFill>
        <p:spPr bwMode="auto">
          <a:xfrm>
            <a:off x="6525549" y="952500"/>
            <a:ext cx="5363134" cy="4749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011821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644BD-756E-3465-F25C-3CDEA0539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38292B6-A6B9-4F7D-78C6-F9964C2BD5F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66701" y="952500"/>
            <a:ext cx="5715741" cy="518159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/>
              <a:t>What are Lagrange Points?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Gravitationally stable positions where spacecraft can maintain fixed positions relative to two celestial bodies.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There exists Lagrange Points in the following three systems: Earth-Moon, Earth-Sun, and Mars-Sun.</a:t>
            </a:r>
          </a:p>
          <a:p>
            <a:pPr marL="0" indent="0">
              <a:buNone/>
            </a:pPr>
            <a:r>
              <a:rPr lang="en-US" b="1"/>
              <a:t>Application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Natural positioning eliminates need for complex orbital mechanics while providing optimal coverage geometry.</a:t>
            </a:r>
          </a:p>
        </p:txBody>
      </p:sp>
      <p:sp>
        <p:nvSpPr>
          <p:cNvPr id="3079" name="Slide Number Placeholder 2">
            <a:extLst>
              <a:ext uri="{FF2B5EF4-FFF2-40B4-BE49-F238E27FC236}">
                <a16:creationId xmlns:a16="http://schemas.microsoft.com/office/drawing/2014/main" id="{6B59E5A8-3155-4D78-26EA-3112AC78DA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218545" y="6248487"/>
            <a:ext cx="123272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876332E-97D2-CC49-9E46-E6E0DDE407EB}" type="slidenum">
              <a:rPr lang="en-US" smtClean="0"/>
              <a:pPr>
                <a:spcAft>
                  <a:spcPts val="600"/>
                </a:spcAft>
              </a:pPr>
              <a:t>49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9E6AAA-706F-2E6A-44AE-2C500B9B4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317" y="244386"/>
            <a:ext cx="11585366" cy="524541"/>
          </a:xfrm>
        </p:spPr>
        <p:txBody>
          <a:bodyPr anchor="ctr">
            <a:normAutofit/>
          </a:bodyPr>
          <a:lstStyle/>
          <a:p>
            <a:r>
              <a:rPr lang="en-US"/>
              <a:t>Graph</a:t>
            </a:r>
          </a:p>
        </p:txBody>
      </p:sp>
      <p:pic>
        <p:nvPicPr>
          <p:cNvPr id="3074" name="Picture 2" descr="Space 201: Thinking About the Space Domain | The Heritage Foundation">
            <a:extLst>
              <a:ext uri="{FF2B5EF4-FFF2-40B4-BE49-F238E27FC236}">
                <a16:creationId xmlns:a16="http://schemas.microsoft.com/office/drawing/2014/main" id="{89060F87-8C59-CBC8-8AAA-334A0F8206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28" t="-2" r="1402" b="8351"/>
          <a:stretch/>
        </p:blipFill>
        <p:spPr bwMode="auto">
          <a:xfrm>
            <a:off x="6525549" y="952500"/>
            <a:ext cx="5363134" cy="4749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687444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383E6-CFC9-FAD3-602C-8421EA39F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18E1C5C-EE43-BA8A-26BD-E43ADD355CC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66701" y="952500"/>
            <a:ext cx="5715741" cy="518159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/>
              <a:t>What are Lagrange Points?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Gravitationally stable positions where spacecraft can maintain fixed positions relative to two celestial bodies.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There exists Lagrange Points in the following three systems: Earth-Moon, Earth-Sun, and Mars-Sun.</a:t>
            </a:r>
          </a:p>
          <a:p>
            <a:pPr marL="0" indent="0">
              <a:buNone/>
            </a:pPr>
            <a:r>
              <a:rPr lang="en-US" b="1"/>
              <a:t>Application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Natural positioning eliminates need for complex orbital mechanics while providing optimal coverage geometry.</a:t>
            </a:r>
          </a:p>
        </p:txBody>
      </p:sp>
      <p:sp>
        <p:nvSpPr>
          <p:cNvPr id="3079" name="Slide Number Placeholder 2">
            <a:extLst>
              <a:ext uri="{FF2B5EF4-FFF2-40B4-BE49-F238E27FC236}">
                <a16:creationId xmlns:a16="http://schemas.microsoft.com/office/drawing/2014/main" id="{F9FD1080-AB02-1A2E-93E0-FB38671BB06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218545" y="6248487"/>
            <a:ext cx="123272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876332E-97D2-CC49-9E46-E6E0DDE407EB}" type="slidenum">
              <a:rPr lang="en-US" smtClean="0"/>
              <a:pPr>
                <a:spcAft>
                  <a:spcPts val="600"/>
                </a:spcAft>
              </a:pPr>
              <a:t>50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584AE6-8152-7ADD-3E58-177030A6F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317" y="244386"/>
            <a:ext cx="11585366" cy="524541"/>
          </a:xfrm>
        </p:spPr>
        <p:txBody>
          <a:bodyPr anchor="ctr">
            <a:normAutofit/>
          </a:bodyPr>
          <a:lstStyle/>
          <a:p>
            <a:r>
              <a:rPr lang="en-US"/>
              <a:t>Graph</a:t>
            </a:r>
          </a:p>
        </p:txBody>
      </p:sp>
      <p:pic>
        <p:nvPicPr>
          <p:cNvPr id="3074" name="Picture 2" descr="Space 201: Thinking About the Space Domain | The Heritage Foundation">
            <a:extLst>
              <a:ext uri="{FF2B5EF4-FFF2-40B4-BE49-F238E27FC236}">
                <a16:creationId xmlns:a16="http://schemas.microsoft.com/office/drawing/2014/main" id="{20ACC85C-E8D4-2513-DADB-8816FFBF89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28" t="-2" r="1402" b="8351"/>
          <a:stretch/>
        </p:blipFill>
        <p:spPr bwMode="auto">
          <a:xfrm>
            <a:off x="6525549" y="952500"/>
            <a:ext cx="5363134" cy="4749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033402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7BCD1-4B81-B42E-A86F-D6355E267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9A2CC44-7898-D3F2-9CC1-CF78011361A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66701" y="952500"/>
            <a:ext cx="5715741" cy="518159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/>
              <a:t>What are Lagrange Points?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Gravitationally stable positions where spacecraft can maintain fixed positions relative to two celestial bodies.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There exists Lagrange Points in the following three systems: Earth-Moon, Earth-Sun, and Mars-Sun.</a:t>
            </a:r>
          </a:p>
          <a:p>
            <a:pPr marL="0" indent="0">
              <a:buNone/>
            </a:pPr>
            <a:r>
              <a:rPr lang="en-US" b="1"/>
              <a:t>Application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Natural positioning eliminates need for complex orbital mechanics while providing optimal coverage geometry.</a:t>
            </a:r>
          </a:p>
        </p:txBody>
      </p:sp>
      <p:sp>
        <p:nvSpPr>
          <p:cNvPr id="3079" name="Slide Number Placeholder 2">
            <a:extLst>
              <a:ext uri="{FF2B5EF4-FFF2-40B4-BE49-F238E27FC236}">
                <a16:creationId xmlns:a16="http://schemas.microsoft.com/office/drawing/2014/main" id="{49FF880D-5460-469A-B48B-AF9C18ABA2A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218545" y="6248487"/>
            <a:ext cx="123272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876332E-97D2-CC49-9E46-E6E0DDE407EB}" type="slidenum">
              <a:rPr lang="en-US" smtClean="0"/>
              <a:pPr>
                <a:spcAft>
                  <a:spcPts val="600"/>
                </a:spcAft>
              </a:pPr>
              <a:t>51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F2EAF5-1478-BBD7-1FAE-4007D38D6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317" y="244386"/>
            <a:ext cx="11585366" cy="524541"/>
          </a:xfrm>
        </p:spPr>
        <p:txBody>
          <a:bodyPr anchor="ctr">
            <a:normAutofit/>
          </a:bodyPr>
          <a:lstStyle/>
          <a:p>
            <a:r>
              <a:rPr lang="en-US"/>
              <a:t>Graph</a:t>
            </a:r>
          </a:p>
        </p:txBody>
      </p:sp>
      <p:pic>
        <p:nvPicPr>
          <p:cNvPr id="3074" name="Picture 2" descr="Space 201: Thinking About the Space Domain | The Heritage Foundation">
            <a:extLst>
              <a:ext uri="{FF2B5EF4-FFF2-40B4-BE49-F238E27FC236}">
                <a16:creationId xmlns:a16="http://schemas.microsoft.com/office/drawing/2014/main" id="{3DE0111D-4135-25BE-06DD-E30C4ED597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28" t="-2" r="1402" b="8351"/>
          <a:stretch/>
        </p:blipFill>
        <p:spPr bwMode="auto">
          <a:xfrm>
            <a:off x="6525549" y="952500"/>
            <a:ext cx="5363134" cy="4749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781669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D1343-3DEA-9F5E-AB1C-01B19F2FAF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Thank You!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078735-6A80-5AE2-1F9B-4E65836AD0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2650" y="3009438"/>
            <a:ext cx="10379075" cy="1989137"/>
          </a:xfrm>
        </p:spPr>
        <p:txBody>
          <a:bodyPr/>
          <a:lstStyle/>
          <a:p>
            <a:r>
              <a:rPr lang="en-US"/>
              <a:t>Nicholas Zayfman</a:t>
            </a:r>
          </a:p>
          <a:p>
            <a:r>
              <a:rPr lang="en-US"/>
              <a:t>nzayfma1@jh.edu</a:t>
            </a:r>
          </a:p>
          <a:p>
            <a:r>
              <a:rPr lang="en-US"/>
              <a:t>(917)-775-1175</a:t>
            </a:r>
          </a:p>
        </p:txBody>
      </p:sp>
    </p:spTree>
    <p:extLst>
      <p:ext uri="{BB962C8B-B14F-4D97-AF65-F5344CB8AC3E}">
        <p14:creationId xmlns:p14="http://schemas.microsoft.com/office/powerpoint/2010/main" val="44286892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90899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rgbClr val="002C71"/>
      </a:dk1>
      <a:lt1>
        <a:srgbClr val="FFFFFF"/>
      </a:lt1>
      <a:dk2>
        <a:srgbClr val="002C71"/>
      </a:dk2>
      <a:lt2>
        <a:srgbClr val="FFFFFF"/>
      </a:lt2>
      <a:accent1>
        <a:srgbClr val="4E97E0"/>
      </a:accent1>
      <a:accent2>
        <a:srgbClr val="0071CE"/>
      </a:accent2>
      <a:accent3>
        <a:srgbClr val="A35C98"/>
      </a:accent3>
      <a:accent4>
        <a:srgbClr val="008767"/>
      </a:accent4>
      <a:accent5>
        <a:srgbClr val="F1C300"/>
      </a:accent5>
      <a:accent6>
        <a:srgbClr val="275E3C"/>
      </a:accent6>
      <a:hlink>
        <a:srgbClr val="0071CE"/>
      </a:hlink>
      <a:folHlink>
        <a:srgbClr val="A0A0A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JHU-Presentation Template_Sp25" id="{AF63D3DC-0851-C541-912F-B4045ACA5DAB}" vid="{B1FE3E55-E1F1-2640-8FBF-697F96CA525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JHU-Presentation Template_Sp25</Template>
  <TotalTime>0</TotalTime>
  <Words>2538</Words>
  <Application>Microsoft Office PowerPoint</Application>
  <PresentationFormat>Widescreen</PresentationFormat>
  <Paragraphs>382</Paragraphs>
  <Slides>53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61" baseType="lpstr">
      <vt:lpstr>Aptos</vt:lpstr>
      <vt:lpstr>Arial</vt:lpstr>
      <vt:lpstr>Calibri</vt:lpstr>
      <vt:lpstr>Cambria Math</vt:lpstr>
      <vt:lpstr>Georgia</vt:lpstr>
      <vt:lpstr>System Font Regular</vt:lpstr>
      <vt:lpstr>Tahoma</vt:lpstr>
      <vt:lpstr>Office Theme</vt:lpstr>
      <vt:lpstr>Autonomous Free Space Optical Architecture for Interplanetary Communication Networks</vt:lpstr>
      <vt:lpstr>Overview of the Presentation</vt:lpstr>
      <vt:lpstr>PowerPoint Presentation</vt:lpstr>
      <vt:lpstr>PowerPoint Presentation</vt:lpstr>
      <vt:lpstr>PowerPoint Presentation</vt:lpstr>
      <vt:lpstr>PowerPoint Presentation</vt:lpstr>
      <vt:lpstr>Complete Architecture Overview</vt:lpstr>
      <vt:lpstr>Free Space Optical (FSO) Communication </vt:lpstr>
      <vt:lpstr>Lagrange Points (Simplified)</vt:lpstr>
      <vt:lpstr>SDN Controllers</vt:lpstr>
      <vt:lpstr>Satellite Relays</vt:lpstr>
      <vt:lpstr>Hierarchal Architecture</vt:lpstr>
      <vt:lpstr>Quality of Service</vt:lpstr>
      <vt:lpstr>Proposed FSO Interplanetary Architecture</vt:lpstr>
      <vt:lpstr>Theoretical Background</vt:lpstr>
      <vt:lpstr>Lagrange Points</vt:lpstr>
      <vt:lpstr>Lagrange Point Station Keeping</vt:lpstr>
      <vt:lpstr>J2 Perturbation Acceleration</vt:lpstr>
      <vt:lpstr>Solar Radiation Pressure</vt:lpstr>
      <vt:lpstr>FSO Link Budget</vt:lpstr>
      <vt:lpstr>Free-Space Path Loss</vt:lpstr>
      <vt:lpstr>Geometric Spreading Loss</vt:lpstr>
      <vt:lpstr>Pointing Loss Model</vt:lpstr>
      <vt:lpstr>Modulation and Detection Theory</vt:lpstr>
      <vt:lpstr>On-Off Keying (OOK) Performance</vt:lpstr>
      <vt:lpstr>Pulse Position Modulation (PPM))</vt:lpstr>
      <vt:lpstr>Photon-Counting Channel Capacity</vt:lpstr>
      <vt:lpstr>Network Optimization Mathematics</vt:lpstr>
      <vt:lpstr>Traffic Schedule Optimization</vt:lpstr>
      <vt:lpstr>Third-Body Perturbations</vt:lpstr>
      <vt:lpstr>Relativistic Corrections</vt:lpstr>
      <vt:lpstr>Eclipse Shadow Function</vt:lpstr>
      <vt:lpstr>Complete Model Overview</vt:lpstr>
      <vt:lpstr>Environment - libraries</vt:lpstr>
      <vt:lpstr>Constants</vt:lpstr>
      <vt:lpstr>FSO Terminal Configuration</vt:lpstr>
      <vt:lpstr>Link Quality and Performance Parameters</vt:lpstr>
      <vt:lpstr>Traffic Management Paramters</vt:lpstr>
      <vt:lpstr>Navigation-Assisted Coordination Protocol</vt:lpstr>
      <vt:lpstr>Navigation-Assisted Coordination Update</vt:lpstr>
      <vt:lpstr>Navigation-Assisted Coordination Optimal Relay Selection</vt:lpstr>
      <vt:lpstr>Traffic Coordination</vt:lpstr>
      <vt:lpstr>Validation Test</vt:lpstr>
      <vt:lpstr>Validation Test</vt:lpstr>
      <vt:lpstr>Validation Test</vt:lpstr>
      <vt:lpstr>Validation Test</vt:lpstr>
      <vt:lpstr>Results</vt:lpstr>
      <vt:lpstr>Graph</vt:lpstr>
      <vt:lpstr>Graph</vt:lpstr>
      <vt:lpstr>Graph</vt:lpstr>
      <vt:lpstr>Graph</vt:lpstr>
      <vt:lpstr>Thank You!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Nicholas Zayfman</dc:creator>
  <cp:lastModifiedBy>Nicholas Zayfman</cp:lastModifiedBy>
  <cp:revision>1</cp:revision>
  <dcterms:created xsi:type="dcterms:W3CDTF">2025-05-31T19:20:49Z</dcterms:created>
  <dcterms:modified xsi:type="dcterms:W3CDTF">2025-09-18T17:41:04Z</dcterms:modified>
</cp:coreProperties>
</file>